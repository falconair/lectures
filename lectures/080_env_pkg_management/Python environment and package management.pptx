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9" r:id="rId3"/>
    <p:sldId id="290" r:id="rId4"/>
    <p:sldId id="291" r:id="rId5"/>
    <p:sldId id="292" r:id="rId6"/>
    <p:sldId id="302" r:id="rId7"/>
    <p:sldId id="293" r:id="rId8"/>
    <p:sldId id="294" r:id="rId9"/>
    <p:sldId id="295" r:id="rId10"/>
    <p:sldId id="296" r:id="rId11"/>
    <p:sldId id="298" r:id="rId12"/>
    <p:sldId id="297" r:id="rId13"/>
    <p:sldId id="300" r:id="rId14"/>
    <p:sldId id="301" r:id="rId15"/>
    <p:sldId id="303" r:id="rId16"/>
    <p:sldId id="304" r:id="rId17"/>
    <p:sldId id="306" r:id="rId18"/>
    <p:sldId id="286" r:id="rId19"/>
    <p:sldId id="307" r:id="rId20"/>
    <p:sldId id="308" r:id="rId21"/>
    <p:sldId id="263" r:id="rId22"/>
    <p:sldId id="257" r:id="rId23"/>
    <p:sldId id="258" r:id="rId24"/>
    <p:sldId id="259" r:id="rId25"/>
    <p:sldId id="261" r:id="rId26"/>
    <p:sldId id="268" r:id="rId27"/>
    <p:sldId id="264" r:id="rId28"/>
    <p:sldId id="262" r:id="rId29"/>
    <p:sldId id="265" r:id="rId30"/>
    <p:sldId id="266" r:id="rId31"/>
    <p:sldId id="273" r:id="rId32"/>
    <p:sldId id="267" r:id="rId33"/>
    <p:sldId id="309" r:id="rId34"/>
    <p:sldId id="274" r:id="rId35"/>
    <p:sldId id="269" r:id="rId36"/>
    <p:sldId id="275" r:id="rId37"/>
    <p:sldId id="276" r:id="rId38"/>
    <p:sldId id="270" r:id="rId39"/>
    <p:sldId id="277" r:id="rId40"/>
    <p:sldId id="278" r:id="rId41"/>
    <p:sldId id="271" r:id="rId42"/>
    <p:sldId id="279" r:id="rId43"/>
    <p:sldId id="280" r:id="rId44"/>
    <p:sldId id="285" r:id="rId45"/>
    <p:sldId id="284" r:id="rId46"/>
    <p:sldId id="287" r:id="rId47"/>
    <p:sldId id="288" r:id="rId48"/>
    <p:sldId id="305" r:id="rId49"/>
    <p:sldId id="260" r:id="rId50"/>
    <p:sldId id="281" r:id="rId51"/>
    <p:sldId id="272"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4573F"/>
    <a:srgbClr val="236356"/>
    <a:srgbClr val="E4F5FF"/>
    <a:srgbClr val="FFC000"/>
    <a:srgbClr val="FDF8EC"/>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593" autoAdjust="0"/>
    <p:restoredTop sz="94660"/>
  </p:normalViewPr>
  <p:slideViewPr>
    <p:cSldViewPr snapToGrid="0">
      <p:cViewPr varScale="1">
        <p:scale>
          <a:sx n="119" d="100"/>
          <a:sy n="119" d="100"/>
        </p:scale>
        <p:origin x="232" y="3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ahbaz Chaudhary" userId="fef21e47db54da50" providerId="LiveId" clId="{C15ECEE5-C388-4A60-B2AC-11301F40A6E8}"/>
    <pc:docChg chg="undo custSel addSld delSld modSld sldOrd">
      <pc:chgData name="Shahbaz Chaudhary" userId="fef21e47db54da50" providerId="LiveId" clId="{C15ECEE5-C388-4A60-B2AC-11301F40A6E8}" dt="2024-02-24T03:28:52.394" v="10179" actId="2696"/>
      <pc:docMkLst>
        <pc:docMk/>
      </pc:docMkLst>
      <pc:sldChg chg="modSp mod">
        <pc:chgData name="Shahbaz Chaudhary" userId="fef21e47db54da50" providerId="LiveId" clId="{C15ECEE5-C388-4A60-B2AC-11301F40A6E8}" dt="2024-02-19T20:41:31.911" v="5" actId="20577"/>
        <pc:sldMkLst>
          <pc:docMk/>
          <pc:sldMk cId="445803403" sldId="263"/>
        </pc:sldMkLst>
      </pc:sldChg>
      <pc:sldChg chg="modSp mod">
        <pc:chgData name="Shahbaz Chaudhary" userId="fef21e47db54da50" providerId="LiveId" clId="{C15ECEE5-C388-4A60-B2AC-11301F40A6E8}" dt="2024-02-19T20:54:14.969" v="63" actId="1035"/>
        <pc:sldMkLst>
          <pc:docMk/>
          <pc:sldMk cId="2498650543" sldId="265"/>
        </pc:sldMkLst>
      </pc:sldChg>
      <pc:sldChg chg="modSp mod ord">
        <pc:chgData name="Shahbaz Chaudhary" userId="fef21e47db54da50" providerId="LiveId" clId="{C15ECEE5-C388-4A60-B2AC-11301F40A6E8}" dt="2024-02-19T21:48:15.239" v="498"/>
        <pc:sldMkLst>
          <pc:docMk/>
          <pc:sldMk cId="1022394894" sldId="267"/>
        </pc:sldMkLst>
      </pc:sldChg>
      <pc:sldChg chg="modSp mod">
        <pc:chgData name="Shahbaz Chaudhary" userId="fef21e47db54da50" providerId="LiveId" clId="{C15ECEE5-C388-4A60-B2AC-11301F40A6E8}" dt="2024-02-19T21:40:55.018" v="260" actId="20577"/>
        <pc:sldMkLst>
          <pc:docMk/>
          <pc:sldMk cId="4285996834" sldId="268"/>
        </pc:sldMkLst>
      </pc:sldChg>
      <pc:sldChg chg="addSp modSp mod">
        <pc:chgData name="Shahbaz Chaudhary" userId="fef21e47db54da50" providerId="LiveId" clId="{C15ECEE5-C388-4A60-B2AC-11301F40A6E8}" dt="2024-02-21T03:37:19.347" v="2753" actId="2085"/>
        <pc:sldMkLst>
          <pc:docMk/>
          <pc:sldMk cId="1820473947" sldId="271"/>
        </pc:sldMkLst>
      </pc:sldChg>
      <pc:sldChg chg="addSp modSp new mod">
        <pc:chgData name="Shahbaz Chaudhary" userId="fef21e47db54da50" providerId="LiveId" clId="{C15ECEE5-C388-4A60-B2AC-11301F40A6E8}" dt="2024-02-19T20:53:10.121" v="47" actId="20577"/>
        <pc:sldMkLst>
          <pc:docMk/>
          <pc:sldMk cId="790101199" sldId="272"/>
        </pc:sldMkLst>
      </pc:sldChg>
      <pc:sldChg chg="addSp delSp modSp new mod">
        <pc:chgData name="Shahbaz Chaudhary" userId="fef21e47db54da50" providerId="LiveId" clId="{C15ECEE5-C388-4A60-B2AC-11301F40A6E8}" dt="2024-02-19T21:56:11.029" v="557" actId="14100"/>
        <pc:sldMkLst>
          <pc:docMk/>
          <pc:sldMk cId="360629830" sldId="273"/>
        </pc:sldMkLst>
      </pc:sldChg>
      <pc:sldChg chg="addSp modSp new mod">
        <pc:chgData name="Shahbaz Chaudhary" userId="fef21e47db54da50" providerId="LiveId" clId="{C15ECEE5-C388-4A60-B2AC-11301F40A6E8}" dt="2024-02-21T18:20:55.133" v="4143" actId="20577"/>
        <pc:sldMkLst>
          <pc:docMk/>
          <pc:sldMk cId="2040755351" sldId="274"/>
        </pc:sldMkLst>
      </pc:sldChg>
      <pc:sldChg chg="modSp add mod ord">
        <pc:chgData name="Shahbaz Chaudhary" userId="fef21e47db54da50" providerId="LiveId" clId="{C15ECEE5-C388-4A60-B2AC-11301F40A6E8}" dt="2024-02-20T04:08:25.592" v="1293" actId="113"/>
        <pc:sldMkLst>
          <pc:docMk/>
          <pc:sldMk cId="3531256567" sldId="275"/>
        </pc:sldMkLst>
      </pc:sldChg>
      <pc:sldChg chg="addSp delSp modSp new mod ord">
        <pc:chgData name="Shahbaz Chaudhary" userId="fef21e47db54da50" providerId="LiveId" clId="{C15ECEE5-C388-4A60-B2AC-11301F40A6E8}" dt="2024-02-21T14:58:00.192" v="3932" actId="20577"/>
        <pc:sldMkLst>
          <pc:docMk/>
          <pc:sldMk cId="303932292" sldId="276"/>
        </pc:sldMkLst>
      </pc:sldChg>
      <pc:sldChg chg="addSp delSp modSp add mod">
        <pc:chgData name="Shahbaz Chaudhary" userId="fef21e47db54da50" providerId="LiveId" clId="{C15ECEE5-C388-4A60-B2AC-11301F40A6E8}" dt="2024-02-21T14:59:55.761" v="4007" actId="14100"/>
        <pc:sldMkLst>
          <pc:docMk/>
          <pc:sldMk cId="620010762" sldId="277"/>
        </pc:sldMkLst>
      </pc:sldChg>
      <pc:sldChg chg="addSp delSp modSp add mod">
        <pc:chgData name="Shahbaz Chaudhary" userId="fef21e47db54da50" providerId="LiveId" clId="{C15ECEE5-C388-4A60-B2AC-11301F40A6E8}" dt="2024-02-21T15:00:37.733" v="4015" actId="20577"/>
        <pc:sldMkLst>
          <pc:docMk/>
          <pc:sldMk cId="1683917936" sldId="278"/>
        </pc:sldMkLst>
      </pc:sldChg>
      <pc:sldChg chg="addSp modSp new mod">
        <pc:chgData name="Shahbaz Chaudhary" userId="fef21e47db54da50" providerId="LiveId" clId="{C15ECEE5-C388-4A60-B2AC-11301F40A6E8}" dt="2024-02-21T18:26:15.054" v="4148" actId="20577"/>
        <pc:sldMkLst>
          <pc:docMk/>
          <pc:sldMk cId="3032281583" sldId="279"/>
        </pc:sldMkLst>
      </pc:sldChg>
      <pc:sldChg chg="add del">
        <pc:chgData name="Shahbaz Chaudhary" userId="fef21e47db54da50" providerId="LiveId" clId="{C15ECEE5-C388-4A60-B2AC-11301F40A6E8}" dt="2024-02-20T05:01:50.284" v="1873" actId="2890"/>
        <pc:sldMkLst>
          <pc:docMk/>
          <pc:sldMk cId="4001819567" sldId="280"/>
        </pc:sldMkLst>
      </pc:sldChg>
      <pc:sldChg chg="addSp delSp modSp add mod">
        <pc:chgData name="Shahbaz Chaudhary" userId="fef21e47db54da50" providerId="LiveId" clId="{C15ECEE5-C388-4A60-B2AC-11301F40A6E8}" dt="2024-02-21T04:55:50.157" v="3119"/>
        <pc:sldMkLst>
          <pc:docMk/>
          <pc:sldMk cId="4182826658" sldId="280"/>
        </pc:sldMkLst>
      </pc:sldChg>
      <pc:sldChg chg="addSp modSp new mod">
        <pc:chgData name="Shahbaz Chaudhary" userId="fef21e47db54da50" providerId="LiveId" clId="{C15ECEE5-C388-4A60-B2AC-11301F40A6E8}" dt="2024-02-20T05:14:08.334" v="2422" actId="14100"/>
        <pc:sldMkLst>
          <pc:docMk/>
          <pc:sldMk cId="3729847042" sldId="281"/>
        </pc:sldMkLst>
      </pc:sldChg>
      <pc:sldChg chg="modSp new del mod">
        <pc:chgData name="Shahbaz Chaudhary" userId="fef21e47db54da50" providerId="LiveId" clId="{C15ECEE5-C388-4A60-B2AC-11301F40A6E8}" dt="2024-02-20T05:24:25.796" v="2461" actId="2696"/>
        <pc:sldMkLst>
          <pc:docMk/>
          <pc:sldMk cId="2826084103" sldId="282"/>
        </pc:sldMkLst>
      </pc:sldChg>
      <pc:sldChg chg="modSp new del mod ord">
        <pc:chgData name="Shahbaz Chaudhary" userId="fef21e47db54da50" providerId="LiveId" clId="{C15ECEE5-C388-4A60-B2AC-11301F40A6E8}" dt="2024-02-24T03:28:52.394" v="10179" actId="2696"/>
        <pc:sldMkLst>
          <pc:docMk/>
          <pc:sldMk cId="3446569778" sldId="283"/>
        </pc:sldMkLst>
      </pc:sldChg>
      <pc:sldChg chg="addSp delSp modSp add mod">
        <pc:chgData name="Shahbaz Chaudhary" userId="fef21e47db54da50" providerId="LiveId" clId="{C15ECEE5-C388-4A60-B2AC-11301F40A6E8}" dt="2024-02-21T15:03:50.675" v="4117" actId="14100"/>
        <pc:sldMkLst>
          <pc:docMk/>
          <pc:sldMk cId="648334358" sldId="284"/>
        </pc:sldMkLst>
      </pc:sldChg>
      <pc:sldChg chg="addSp delSp modSp add mod ord">
        <pc:chgData name="Shahbaz Chaudhary" userId="fef21e47db54da50" providerId="LiveId" clId="{C15ECEE5-C388-4A60-B2AC-11301F40A6E8}" dt="2024-02-21T18:28:41.699" v="4149" actId="478"/>
        <pc:sldMkLst>
          <pc:docMk/>
          <pc:sldMk cId="3702047589" sldId="285"/>
        </pc:sldMkLst>
      </pc:sldChg>
      <pc:sldChg chg="addSp delSp modSp add mod">
        <pc:chgData name="Shahbaz Chaudhary" userId="fef21e47db54da50" providerId="LiveId" clId="{C15ECEE5-C388-4A60-B2AC-11301F40A6E8}" dt="2024-02-23T03:55:16.675" v="9006" actId="207"/>
        <pc:sldMkLst>
          <pc:docMk/>
          <pc:sldMk cId="970838891" sldId="286"/>
        </pc:sldMkLst>
      </pc:sldChg>
      <pc:sldChg chg="addSp delSp modSp add mod">
        <pc:chgData name="Shahbaz Chaudhary" userId="fef21e47db54da50" providerId="LiveId" clId="{C15ECEE5-C388-4A60-B2AC-11301F40A6E8}" dt="2024-02-21T18:29:43.249" v="4150" actId="207"/>
        <pc:sldMkLst>
          <pc:docMk/>
          <pc:sldMk cId="2170564340" sldId="287"/>
        </pc:sldMkLst>
      </pc:sldChg>
      <pc:sldChg chg="add del">
        <pc:chgData name="Shahbaz Chaudhary" userId="fef21e47db54da50" providerId="LiveId" clId="{C15ECEE5-C388-4A60-B2AC-11301F40A6E8}" dt="2024-02-21T05:03:12.758" v="3228" actId="2696"/>
        <pc:sldMkLst>
          <pc:docMk/>
          <pc:sldMk cId="1731607516" sldId="288"/>
        </pc:sldMkLst>
      </pc:sldChg>
      <pc:sldChg chg="addSp delSp modSp add mod">
        <pc:chgData name="Shahbaz Chaudhary" userId="fef21e47db54da50" providerId="LiveId" clId="{C15ECEE5-C388-4A60-B2AC-11301F40A6E8}" dt="2024-02-21T05:22:17.788" v="3892" actId="1035"/>
        <pc:sldMkLst>
          <pc:docMk/>
          <pc:sldMk cId="3694012452" sldId="288"/>
        </pc:sldMkLst>
      </pc:sldChg>
      <pc:sldChg chg="modSp add mod ord">
        <pc:chgData name="Shahbaz Chaudhary" userId="fef21e47db54da50" providerId="LiveId" clId="{C15ECEE5-C388-4A60-B2AC-11301F40A6E8}" dt="2024-02-21T18:37:02.616" v="4188" actId="20577"/>
        <pc:sldMkLst>
          <pc:docMk/>
          <pc:sldMk cId="3679504655" sldId="289"/>
        </pc:sldMkLst>
      </pc:sldChg>
      <pc:sldChg chg="addSp modSp new mod">
        <pc:chgData name="Shahbaz Chaudhary" userId="fef21e47db54da50" providerId="LiveId" clId="{C15ECEE5-C388-4A60-B2AC-11301F40A6E8}" dt="2024-02-21T18:50:08.810" v="5319" actId="1076"/>
        <pc:sldMkLst>
          <pc:docMk/>
          <pc:sldMk cId="2497241796" sldId="290"/>
        </pc:sldMkLst>
      </pc:sldChg>
      <pc:sldChg chg="addSp delSp modSp add mod">
        <pc:chgData name="Shahbaz Chaudhary" userId="fef21e47db54da50" providerId="LiveId" clId="{C15ECEE5-C388-4A60-B2AC-11301F40A6E8}" dt="2024-02-21T18:52:37.195" v="5328" actId="14100"/>
        <pc:sldMkLst>
          <pc:docMk/>
          <pc:sldMk cId="1983410026" sldId="291"/>
        </pc:sldMkLst>
      </pc:sldChg>
      <pc:sldChg chg="addSp delSp modSp add mod">
        <pc:chgData name="Shahbaz Chaudhary" userId="fef21e47db54da50" providerId="LiveId" clId="{C15ECEE5-C388-4A60-B2AC-11301F40A6E8}" dt="2024-02-23T03:19:29.353" v="8145" actId="478"/>
        <pc:sldMkLst>
          <pc:docMk/>
          <pc:sldMk cId="4276570882" sldId="292"/>
        </pc:sldMkLst>
      </pc:sldChg>
      <pc:sldChg chg="addSp delSp modSp add mod">
        <pc:chgData name="Shahbaz Chaudhary" userId="fef21e47db54da50" providerId="LiveId" clId="{C15ECEE5-C388-4A60-B2AC-11301F40A6E8}" dt="2024-02-23T03:21:29.557" v="8359" actId="20577"/>
        <pc:sldMkLst>
          <pc:docMk/>
          <pc:sldMk cId="3336208690" sldId="293"/>
        </pc:sldMkLst>
      </pc:sldChg>
      <pc:sldChg chg="addSp delSp modSp add mod">
        <pc:chgData name="Shahbaz Chaudhary" userId="fef21e47db54da50" providerId="LiveId" clId="{C15ECEE5-C388-4A60-B2AC-11301F40A6E8}" dt="2024-02-23T03:21:38.251" v="8360"/>
        <pc:sldMkLst>
          <pc:docMk/>
          <pc:sldMk cId="3096362217" sldId="294"/>
        </pc:sldMkLst>
      </pc:sldChg>
      <pc:sldChg chg="addSp delSp modSp add mod">
        <pc:chgData name="Shahbaz Chaudhary" userId="fef21e47db54da50" providerId="LiveId" clId="{C15ECEE5-C388-4A60-B2AC-11301F40A6E8}" dt="2024-02-23T01:50:50.189" v="6183" actId="478"/>
        <pc:sldMkLst>
          <pc:docMk/>
          <pc:sldMk cId="2774312969" sldId="295"/>
        </pc:sldMkLst>
      </pc:sldChg>
      <pc:sldChg chg="addSp delSp modSp add mod">
        <pc:chgData name="Shahbaz Chaudhary" userId="fef21e47db54da50" providerId="LiveId" clId="{C15ECEE5-C388-4A60-B2AC-11301F40A6E8}" dt="2024-02-23T02:02:18.157" v="6495" actId="1035"/>
        <pc:sldMkLst>
          <pc:docMk/>
          <pc:sldMk cId="2468043768" sldId="296"/>
        </pc:sldMkLst>
      </pc:sldChg>
      <pc:sldChg chg="addSp delSp modSp add mod ord">
        <pc:chgData name="Shahbaz Chaudhary" userId="fef21e47db54da50" providerId="LiveId" clId="{C15ECEE5-C388-4A60-B2AC-11301F40A6E8}" dt="2024-02-23T02:53:03.227" v="7014" actId="20577"/>
        <pc:sldMkLst>
          <pc:docMk/>
          <pc:sldMk cId="2822000121" sldId="297"/>
        </pc:sldMkLst>
      </pc:sldChg>
      <pc:sldChg chg="delSp modSp add mod">
        <pc:chgData name="Shahbaz Chaudhary" userId="fef21e47db54da50" providerId="LiveId" clId="{C15ECEE5-C388-4A60-B2AC-11301F40A6E8}" dt="2024-02-23T02:01:46.304" v="6485" actId="1035"/>
        <pc:sldMkLst>
          <pc:docMk/>
          <pc:sldMk cId="4135973341" sldId="298"/>
        </pc:sldMkLst>
      </pc:sldChg>
      <pc:sldChg chg="modSp add del mod">
        <pc:chgData name="Shahbaz Chaudhary" userId="fef21e47db54da50" providerId="LiveId" clId="{C15ECEE5-C388-4A60-B2AC-11301F40A6E8}" dt="2024-02-23T03:36:32.764" v="8545" actId="2696"/>
        <pc:sldMkLst>
          <pc:docMk/>
          <pc:sldMk cId="636517246" sldId="299"/>
        </pc:sldMkLst>
      </pc:sldChg>
      <pc:sldChg chg="addSp delSp modSp add mod ord">
        <pc:chgData name="Shahbaz Chaudhary" userId="fef21e47db54da50" providerId="LiveId" clId="{C15ECEE5-C388-4A60-B2AC-11301F40A6E8}" dt="2024-02-23T03:00:31.987" v="7195" actId="1076"/>
        <pc:sldMkLst>
          <pc:docMk/>
          <pc:sldMk cId="1769596272" sldId="300"/>
        </pc:sldMkLst>
      </pc:sldChg>
      <pc:sldChg chg="delSp modSp add mod">
        <pc:chgData name="Shahbaz Chaudhary" userId="fef21e47db54da50" providerId="LiveId" clId="{C15ECEE5-C388-4A60-B2AC-11301F40A6E8}" dt="2024-02-23T03:11:48.457" v="8143" actId="255"/>
        <pc:sldMkLst>
          <pc:docMk/>
          <pc:sldMk cId="2870562491" sldId="301"/>
        </pc:sldMkLst>
      </pc:sldChg>
      <pc:sldChg chg="delSp modSp add mod">
        <pc:chgData name="Shahbaz Chaudhary" userId="fef21e47db54da50" providerId="LiveId" clId="{C15ECEE5-C388-4A60-B2AC-11301F40A6E8}" dt="2024-02-23T03:21:15.633" v="8349" actId="1076"/>
        <pc:sldMkLst>
          <pc:docMk/>
          <pc:sldMk cId="2631445205" sldId="302"/>
        </pc:sldMkLst>
      </pc:sldChg>
      <pc:sldChg chg="addSp delSp modSp add mod">
        <pc:chgData name="Shahbaz Chaudhary" userId="fef21e47db54da50" providerId="LiveId" clId="{C15ECEE5-C388-4A60-B2AC-11301F40A6E8}" dt="2024-02-24T02:44:50.537" v="9014" actId="255"/>
        <pc:sldMkLst>
          <pc:docMk/>
          <pc:sldMk cId="2145370578" sldId="303"/>
        </pc:sldMkLst>
      </pc:sldChg>
      <pc:sldChg chg="delSp modSp add mod">
        <pc:chgData name="Shahbaz Chaudhary" userId="fef21e47db54da50" providerId="LiveId" clId="{C15ECEE5-C388-4A60-B2AC-11301F40A6E8}" dt="2024-02-24T02:46:42.319" v="9219" actId="20577"/>
        <pc:sldMkLst>
          <pc:docMk/>
          <pc:sldMk cId="3634487601" sldId="304"/>
        </pc:sldMkLst>
      </pc:sldChg>
      <pc:sldChg chg="addSp delSp modSp add mod ord">
        <pc:chgData name="Shahbaz Chaudhary" userId="fef21e47db54da50" providerId="LiveId" clId="{C15ECEE5-C388-4A60-B2AC-11301F40A6E8}" dt="2024-02-24T03:28:46.751" v="10178"/>
        <pc:sldMkLst>
          <pc:docMk/>
          <pc:sldMk cId="3317459950" sldId="305"/>
        </pc:sldMkLst>
      </pc:sldChg>
      <pc:sldChg chg="addSp modSp add mod">
        <pc:chgData name="Shahbaz Chaudhary" userId="fef21e47db54da50" providerId="LiveId" clId="{C15ECEE5-C388-4A60-B2AC-11301F40A6E8}" dt="2024-02-24T03:28:03.739" v="10175" actId="1076"/>
        <pc:sldMkLst>
          <pc:docMk/>
          <pc:sldMk cId="3145748476" sldId="306"/>
        </pc:sldMkLst>
      </pc:sldChg>
    </pc:docChg>
  </pc:docChgLst>
  <pc:docChgLst>
    <pc:chgData name="Shahbaz Chaudhary" userId="fef21e47db54da50" providerId="LiveId" clId="{A75ED070-6719-46D4-8B1D-A73786D9E8CA}"/>
    <pc:docChg chg="undo custSel addSld modSld">
      <pc:chgData name="Shahbaz Chaudhary" userId="fef21e47db54da50" providerId="LiveId" clId="{A75ED070-6719-46D4-8B1D-A73786D9E8CA}" dt="2024-01-20T04:08:29.589" v="3179" actId="255"/>
      <pc:docMkLst>
        <pc:docMk/>
      </pc:docMkLst>
      <pc:sldChg chg="addSp modSp mod">
        <pc:chgData name="Shahbaz Chaudhary" userId="fef21e47db54da50" providerId="LiveId" clId="{A75ED070-6719-46D4-8B1D-A73786D9E8CA}" dt="2024-01-19T23:46:10.586" v="199" actId="1076"/>
        <pc:sldMkLst>
          <pc:docMk/>
          <pc:sldMk cId="3173268950" sldId="257"/>
        </pc:sldMkLst>
      </pc:sldChg>
      <pc:sldChg chg="modSp new mod">
        <pc:chgData name="Shahbaz Chaudhary" userId="fef21e47db54da50" providerId="LiveId" clId="{A75ED070-6719-46D4-8B1D-A73786D9E8CA}" dt="2024-01-19T23:43:38.359" v="113" actId="207"/>
        <pc:sldMkLst>
          <pc:docMk/>
          <pc:sldMk cId="670833904" sldId="260"/>
        </pc:sldMkLst>
      </pc:sldChg>
      <pc:sldChg chg="addSp delSp modSp new mod">
        <pc:chgData name="Shahbaz Chaudhary" userId="fef21e47db54da50" providerId="LiveId" clId="{A75ED070-6719-46D4-8B1D-A73786D9E8CA}" dt="2024-01-19T23:52:02.410" v="368" actId="1076"/>
        <pc:sldMkLst>
          <pc:docMk/>
          <pc:sldMk cId="3014355699" sldId="261"/>
        </pc:sldMkLst>
      </pc:sldChg>
      <pc:sldChg chg="addSp delSp modSp new mod">
        <pc:chgData name="Shahbaz Chaudhary" userId="fef21e47db54da50" providerId="LiveId" clId="{A75ED070-6719-46D4-8B1D-A73786D9E8CA}" dt="2024-01-20T02:49:39.234" v="1441" actId="20577"/>
        <pc:sldMkLst>
          <pc:docMk/>
          <pc:sldMk cId="2095729538" sldId="262"/>
        </pc:sldMkLst>
      </pc:sldChg>
      <pc:sldChg chg="modSp new mod">
        <pc:chgData name="Shahbaz Chaudhary" userId="fef21e47db54da50" providerId="LiveId" clId="{A75ED070-6719-46D4-8B1D-A73786D9E8CA}" dt="2024-01-20T02:44:16.733" v="1218" actId="20577"/>
        <pc:sldMkLst>
          <pc:docMk/>
          <pc:sldMk cId="445803403" sldId="263"/>
        </pc:sldMkLst>
      </pc:sldChg>
      <pc:sldChg chg="addSp delSp modSp new mod">
        <pc:chgData name="Shahbaz Chaudhary" userId="fef21e47db54da50" providerId="LiveId" clId="{A75ED070-6719-46D4-8B1D-A73786D9E8CA}" dt="2024-01-20T02:49:18.150" v="1417" actId="20577"/>
        <pc:sldMkLst>
          <pc:docMk/>
          <pc:sldMk cId="2694606823" sldId="264"/>
        </pc:sldMkLst>
      </pc:sldChg>
      <pc:sldChg chg="addSp modSp new mod">
        <pc:chgData name="Shahbaz Chaudhary" userId="fef21e47db54da50" providerId="LiveId" clId="{A75ED070-6719-46D4-8B1D-A73786D9E8CA}" dt="2024-01-20T01:40:27.504" v="955" actId="1076"/>
        <pc:sldMkLst>
          <pc:docMk/>
          <pc:sldMk cId="2498650543" sldId="265"/>
        </pc:sldMkLst>
      </pc:sldChg>
      <pc:sldChg chg="addSp modSp new mod">
        <pc:chgData name="Shahbaz Chaudhary" userId="fef21e47db54da50" providerId="LiveId" clId="{A75ED070-6719-46D4-8B1D-A73786D9E8CA}" dt="2024-01-20T02:50:38.234" v="1443" actId="1076"/>
        <pc:sldMkLst>
          <pc:docMk/>
          <pc:sldMk cId="3335435019" sldId="266"/>
        </pc:sldMkLst>
      </pc:sldChg>
      <pc:sldChg chg="addSp delSp modSp new mod">
        <pc:chgData name="Shahbaz Chaudhary" userId="fef21e47db54da50" providerId="LiveId" clId="{A75ED070-6719-46D4-8B1D-A73786D9E8CA}" dt="2024-01-20T02:57:04.720" v="1769" actId="1076"/>
        <pc:sldMkLst>
          <pc:docMk/>
          <pc:sldMk cId="1022394894" sldId="267"/>
        </pc:sldMkLst>
      </pc:sldChg>
      <pc:sldChg chg="addSp delSp modSp new mod">
        <pc:chgData name="Shahbaz Chaudhary" userId="fef21e47db54da50" providerId="LiveId" clId="{A75ED070-6719-46D4-8B1D-A73786D9E8CA}" dt="2024-01-20T02:48:01.070" v="1325" actId="1076"/>
        <pc:sldMkLst>
          <pc:docMk/>
          <pc:sldMk cId="4285996834" sldId="268"/>
        </pc:sldMkLst>
      </pc:sldChg>
      <pc:sldChg chg="addSp modSp new mod">
        <pc:chgData name="Shahbaz Chaudhary" userId="fef21e47db54da50" providerId="LiveId" clId="{A75ED070-6719-46D4-8B1D-A73786D9E8CA}" dt="2024-01-20T03:46:46.702" v="2874" actId="20577"/>
        <pc:sldMkLst>
          <pc:docMk/>
          <pc:sldMk cId="4255297391" sldId="269"/>
        </pc:sldMkLst>
      </pc:sldChg>
      <pc:sldChg chg="addSp modSp new mod">
        <pc:chgData name="Shahbaz Chaudhary" userId="fef21e47db54da50" providerId="LiveId" clId="{A75ED070-6719-46D4-8B1D-A73786D9E8CA}" dt="2024-01-20T04:08:29.589" v="3179" actId="255"/>
        <pc:sldMkLst>
          <pc:docMk/>
          <pc:sldMk cId="3783239014" sldId="270"/>
        </pc:sldMkLst>
      </pc:sldChg>
      <pc:sldChg chg="addSp delSp modSp add mod">
        <pc:chgData name="Shahbaz Chaudhary" userId="fef21e47db54da50" providerId="LiveId" clId="{A75ED070-6719-46D4-8B1D-A73786D9E8CA}" dt="2024-01-20T04:07:52.021" v="3178" actId="1076"/>
        <pc:sldMkLst>
          <pc:docMk/>
          <pc:sldMk cId="1820473947" sldId="271"/>
        </pc:sldMkLst>
      </pc:sldChg>
    </pc:docChg>
  </pc:docChgLst>
  <pc:docChgLst>
    <pc:chgData name="Shahbaz Chaudhary" userId="fef21e47db54da50" providerId="LiveId" clId="{7921C1B7-FF6D-414A-B06C-EFF7B66D8B00}"/>
    <pc:docChg chg="modSld">
      <pc:chgData name="Shahbaz Chaudhary" userId="fef21e47db54da50" providerId="LiveId" clId="{7921C1B7-FF6D-414A-B06C-EFF7B66D8B00}" dt="2025-04-10T00:25:21.494" v="2" actId="14100"/>
      <pc:docMkLst>
        <pc:docMk/>
      </pc:docMkLst>
      <pc:sldChg chg="modSp mod">
        <pc:chgData name="Shahbaz Chaudhary" userId="fef21e47db54da50" providerId="LiveId" clId="{7921C1B7-FF6D-414A-B06C-EFF7B66D8B00}" dt="2025-04-10T00:25:21.494" v="2" actId="14100"/>
        <pc:sldMkLst>
          <pc:docMk/>
          <pc:sldMk cId="3942806893" sldId="258"/>
        </pc:sldMkLst>
        <pc:picChg chg="mod">
          <ac:chgData name="Shahbaz Chaudhary" userId="fef21e47db54da50" providerId="LiveId" clId="{7921C1B7-FF6D-414A-B06C-EFF7B66D8B00}" dt="2025-04-10T00:25:21.494" v="2" actId="14100"/>
          <ac:picMkLst>
            <pc:docMk/>
            <pc:sldMk cId="3942806893" sldId="258"/>
            <ac:picMk id="10" creationId="{86352290-B899-4D9C-40FB-1C13F4038C38}"/>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F4F05-4EAE-1578-B2E4-7882ADFC7AB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8007AE5-3FF4-7DBC-1FA6-3EFFBC744E5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CE753EC-07F4-3ACA-C407-BEB9CB1B9966}"/>
              </a:ext>
            </a:extLst>
          </p:cNvPr>
          <p:cNvSpPr>
            <a:spLocks noGrp="1"/>
          </p:cNvSpPr>
          <p:nvPr>
            <p:ph type="dt" sz="half" idx="10"/>
          </p:nvPr>
        </p:nvSpPr>
        <p:spPr/>
        <p:txBody>
          <a:bodyPr/>
          <a:lstStyle/>
          <a:p>
            <a:fld id="{414500E6-8F8D-4B6B-B486-11D197ACE923}" type="datetimeFigureOut">
              <a:rPr lang="en-US" smtClean="0"/>
              <a:t>6/20/26</a:t>
            </a:fld>
            <a:endParaRPr lang="en-US"/>
          </a:p>
        </p:txBody>
      </p:sp>
      <p:sp>
        <p:nvSpPr>
          <p:cNvPr id="5" name="Footer Placeholder 4">
            <a:extLst>
              <a:ext uri="{FF2B5EF4-FFF2-40B4-BE49-F238E27FC236}">
                <a16:creationId xmlns:a16="http://schemas.microsoft.com/office/drawing/2014/main" id="{82A68E14-9253-6880-74CF-0CB5570466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568B7D-C2F3-4DDC-53B2-F882AE0A7065}"/>
              </a:ext>
            </a:extLst>
          </p:cNvPr>
          <p:cNvSpPr>
            <a:spLocks noGrp="1"/>
          </p:cNvSpPr>
          <p:nvPr>
            <p:ph type="sldNum" sz="quarter" idx="12"/>
          </p:nvPr>
        </p:nvSpPr>
        <p:spPr/>
        <p:txBody>
          <a:bodyPr/>
          <a:lstStyle/>
          <a:p>
            <a:fld id="{8DCDA2BD-B005-4178-B40C-DE15A313417A}" type="slidenum">
              <a:rPr lang="en-US" smtClean="0"/>
              <a:t>‹#›</a:t>
            </a:fld>
            <a:endParaRPr lang="en-US"/>
          </a:p>
        </p:txBody>
      </p:sp>
    </p:spTree>
    <p:extLst>
      <p:ext uri="{BB962C8B-B14F-4D97-AF65-F5344CB8AC3E}">
        <p14:creationId xmlns:p14="http://schemas.microsoft.com/office/powerpoint/2010/main" val="2851746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CF7254-D0D1-EF45-1324-D67272ED3D6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47115FF-5266-84F7-AFF5-904A5736E39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2D341F-3812-FD16-ACF3-DC94EBD9586E}"/>
              </a:ext>
            </a:extLst>
          </p:cNvPr>
          <p:cNvSpPr>
            <a:spLocks noGrp="1"/>
          </p:cNvSpPr>
          <p:nvPr>
            <p:ph type="dt" sz="half" idx="10"/>
          </p:nvPr>
        </p:nvSpPr>
        <p:spPr/>
        <p:txBody>
          <a:bodyPr/>
          <a:lstStyle/>
          <a:p>
            <a:fld id="{414500E6-8F8D-4B6B-B486-11D197ACE923}" type="datetimeFigureOut">
              <a:rPr lang="en-US" smtClean="0"/>
              <a:t>6/20/26</a:t>
            </a:fld>
            <a:endParaRPr lang="en-US"/>
          </a:p>
        </p:txBody>
      </p:sp>
      <p:sp>
        <p:nvSpPr>
          <p:cNvPr id="5" name="Footer Placeholder 4">
            <a:extLst>
              <a:ext uri="{FF2B5EF4-FFF2-40B4-BE49-F238E27FC236}">
                <a16:creationId xmlns:a16="http://schemas.microsoft.com/office/drawing/2014/main" id="{4B962801-28CF-563B-1039-5A90A3FE3D9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03A205-7175-B1E3-E592-7CD9C0884E8E}"/>
              </a:ext>
            </a:extLst>
          </p:cNvPr>
          <p:cNvSpPr>
            <a:spLocks noGrp="1"/>
          </p:cNvSpPr>
          <p:nvPr>
            <p:ph type="sldNum" sz="quarter" idx="12"/>
          </p:nvPr>
        </p:nvSpPr>
        <p:spPr/>
        <p:txBody>
          <a:bodyPr/>
          <a:lstStyle/>
          <a:p>
            <a:fld id="{8DCDA2BD-B005-4178-B40C-DE15A313417A}" type="slidenum">
              <a:rPr lang="en-US" smtClean="0"/>
              <a:t>‹#›</a:t>
            </a:fld>
            <a:endParaRPr lang="en-US"/>
          </a:p>
        </p:txBody>
      </p:sp>
    </p:spTree>
    <p:extLst>
      <p:ext uri="{BB962C8B-B14F-4D97-AF65-F5344CB8AC3E}">
        <p14:creationId xmlns:p14="http://schemas.microsoft.com/office/powerpoint/2010/main" val="29050425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9D235B-5DE2-8E75-B14E-00CD5CE218E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56C0E5E-C6F5-DC58-905A-73D83346E1A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9F1D40E-466D-B02C-34A2-7DEED98ED947}"/>
              </a:ext>
            </a:extLst>
          </p:cNvPr>
          <p:cNvSpPr>
            <a:spLocks noGrp="1"/>
          </p:cNvSpPr>
          <p:nvPr>
            <p:ph type="dt" sz="half" idx="10"/>
          </p:nvPr>
        </p:nvSpPr>
        <p:spPr/>
        <p:txBody>
          <a:bodyPr/>
          <a:lstStyle/>
          <a:p>
            <a:fld id="{414500E6-8F8D-4B6B-B486-11D197ACE923}" type="datetimeFigureOut">
              <a:rPr lang="en-US" smtClean="0"/>
              <a:t>6/20/26</a:t>
            </a:fld>
            <a:endParaRPr lang="en-US"/>
          </a:p>
        </p:txBody>
      </p:sp>
      <p:sp>
        <p:nvSpPr>
          <p:cNvPr id="5" name="Footer Placeholder 4">
            <a:extLst>
              <a:ext uri="{FF2B5EF4-FFF2-40B4-BE49-F238E27FC236}">
                <a16:creationId xmlns:a16="http://schemas.microsoft.com/office/drawing/2014/main" id="{2D2A026F-C978-7188-2D39-83213F9167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375EEC-E270-8C43-6423-AE086DBE8194}"/>
              </a:ext>
            </a:extLst>
          </p:cNvPr>
          <p:cNvSpPr>
            <a:spLocks noGrp="1"/>
          </p:cNvSpPr>
          <p:nvPr>
            <p:ph type="sldNum" sz="quarter" idx="12"/>
          </p:nvPr>
        </p:nvSpPr>
        <p:spPr/>
        <p:txBody>
          <a:bodyPr/>
          <a:lstStyle/>
          <a:p>
            <a:fld id="{8DCDA2BD-B005-4178-B40C-DE15A313417A}" type="slidenum">
              <a:rPr lang="en-US" smtClean="0"/>
              <a:t>‹#›</a:t>
            </a:fld>
            <a:endParaRPr lang="en-US"/>
          </a:p>
        </p:txBody>
      </p:sp>
    </p:spTree>
    <p:extLst>
      <p:ext uri="{BB962C8B-B14F-4D97-AF65-F5344CB8AC3E}">
        <p14:creationId xmlns:p14="http://schemas.microsoft.com/office/powerpoint/2010/main" val="11899577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8F68F-B0F9-F58D-F7D3-5A9F4655C3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B000C4C-A409-B98A-B49A-12C559A0D94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6E53946-AACD-6E31-4007-153A9B71A76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C5C835E-E52D-90CF-5229-72A922BEDE21}"/>
              </a:ext>
            </a:extLst>
          </p:cNvPr>
          <p:cNvSpPr>
            <a:spLocks noGrp="1"/>
          </p:cNvSpPr>
          <p:nvPr>
            <p:ph type="dt" sz="half" idx="10"/>
          </p:nvPr>
        </p:nvSpPr>
        <p:spPr/>
        <p:txBody>
          <a:bodyPr/>
          <a:lstStyle/>
          <a:p>
            <a:fld id="{414500E6-8F8D-4B6B-B486-11D197ACE923}" type="datetimeFigureOut">
              <a:rPr lang="en-US" smtClean="0"/>
              <a:t>6/20/26</a:t>
            </a:fld>
            <a:endParaRPr lang="en-US"/>
          </a:p>
        </p:txBody>
      </p:sp>
      <p:sp>
        <p:nvSpPr>
          <p:cNvPr id="6" name="Footer Placeholder 5">
            <a:extLst>
              <a:ext uri="{FF2B5EF4-FFF2-40B4-BE49-F238E27FC236}">
                <a16:creationId xmlns:a16="http://schemas.microsoft.com/office/drawing/2014/main" id="{C85BC73F-C1B2-28BA-B287-1A5949CAD55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DFE9D0D-78A1-FE74-8C4F-D91A3C777824}"/>
              </a:ext>
            </a:extLst>
          </p:cNvPr>
          <p:cNvSpPr>
            <a:spLocks noGrp="1"/>
          </p:cNvSpPr>
          <p:nvPr>
            <p:ph type="sldNum" sz="quarter" idx="12"/>
          </p:nvPr>
        </p:nvSpPr>
        <p:spPr/>
        <p:txBody>
          <a:bodyPr/>
          <a:lstStyle/>
          <a:p>
            <a:fld id="{8DCDA2BD-B005-4178-B40C-DE15A313417A}" type="slidenum">
              <a:rPr lang="en-US" smtClean="0"/>
              <a:t>‹#›</a:t>
            </a:fld>
            <a:endParaRPr lang="en-US"/>
          </a:p>
        </p:txBody>
      </p:sp>
    </p:spTree>
    <p:extLst>
      <p:ext uri="{BB962C8B-B14F-4D97-AF65-F5344CB8AC3E}">
        <p14:creationId xmlns:p14="http://schemas.microsoft.com/office/powerpoint/2010/main" val="24163429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9166B-717E-7168-0B8B-8214063ECC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98818F-0FF5-1F5E-D678-BCCE09FE6ED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A955330-8518-C711-67B4-BBAF60D51F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8D6AE50-AE3C-F6F8-D6C7-94F8079F972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6FF832A-4B28-4B24-B5CD-E4B8591C49F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28430B5-8FD5-0E9E-2DE3-65761FC4FCB9}"/>
              </a:ext>
            </a:extLst>
          </p:cNvPr>
          <p:cNvSpPr>
            <a:spLocks noGrp="1"/>
          </p:cNvSpPr>
          <p:nvPr>
            <p:ph type="dt" sz="half" idx="10"/>
          </p:nvPr>
        </p:nvSpPr>
        <p:spPr/>
        <p:txBody>
          <a:bodyPr/>
          <a:lstStyle/>
          <a:p>
            <a:fld id="{414500E6-8F8D-4B6B-B486-11D197ACE923}" type="datetimeFigureOut">
              <a:rPr lang="en-US" smtClean="0"/>
              <a:t>6/20/26</a:t>
            </a:fld>
            <a:endParaRPr lang="en-US"/>
          </a:p>
        </p:txBody>
      </p:sp>
      <p:sp>
        <p:nvSpPr>
          <p:cNvPr id="8" name="Footer Placeholder 7">
            <a:extLst>
              <a:ext uri="{FF2B5EF4-FFF2-40B4-BE49-F238E27FC236}">
                <a16:creationId xmlns:a16="http://schemas.microsoft.com/office/drawing/2014/main" id="{F3ABCE87-B928-78F0-0993-EC44B5267F7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7D00C20-D8AD-5619-569C-3F7FDC164AAB}"/>
              </a:ext>
            </a:extLst>
          </p:cNvPr>
          <p:cNvSpPr>
            <a:spLocks noGrp="1"/>
          </p:cNvSpPr>
          <p:nvPr>
            <p:ph type="sldNum" sz="quarter" idx="12"/>
          </p:nvPr>
        </p:nvSpPr>
        <p:spPr/>
        <p:txBody>
          <a:bodyPr/>
          <a:lstStyle/>
          <a:p>
            <a:fld id="{8DCDA2BD-B005-4178-B40C-DE15A313417A}" type="slidenum">
              <a:rPr lang="en-US" smtClean="0"/>
              <a:t>‹#›</a:t>
            </a:fld>
            <a:endParaRPr lang="en-US"/>
          </a:p>
        </p:txBody>
      </p:sp>
    </p:spTree>
    <p:extLst>
      <p:ext uri="{BB962C8B-B14F-4D97-AF65-F5344CB8AC3E}">
        <p14:creationId xmlns:p14="http://schemas.microsoft.com/office/powerpoint/2010/main" val="15708151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06E4C-8384-F4A0-A283-741853DAC79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85C8F9E-9868-5898-43E4-FB0FCC190878}"/>
              </a:ext>
            </a:extLst>
          </p:cNvPr>
          <p:cNvSpPr>
            <a:spLocks noGrp="1"/>
          </p:cNvSpPr>
          <p:nvPr>
            <p:ph type="dt" sz="half" idx="10"/>
          </p:nvPr>
        </p:nvSpPr>
        <p:spPr/>
        <p:txBody>
          <a:bodyPr/>
          <a:lstStyle/>
          <a:p>
            <a:fld id="{414500E6-8F8D-4B6B-B486-11D197ACE923}" type="datetimeFigureOut">
              <a:rPr lang="en-US" smtClean="0"/>
              <a:t>6/20/26</a:t>
            </a:fld>
            <a:endParaRPr lang="en-US"/>
          </a:p>
        </p:txBody>
      </p:sp>
      <p:sp>
        <p:nvSpPr>
          <p:cNvPr id="4" name="Footer Placeholder 3">
            <a:extLst>
              <a:ext uri="{FF2B5EF4-FFF2-40B4-BE49-F238E27FC236}">
                <a16:creationId xmlns:a16="http://schemas.microsoft.com/office/drawing/2014/main" id="{34CFE7A9-B331-2D45-515C-32B22A7BA48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C350BEF-C89B-9A94-C3C9-8A261EBFB186}"/>
              </a:ext>
            </a:extLst>
          </p:cNvPr>
          <p:cNvSpPr>
            <a:spLocks noGrp="1"/>
          </p:cNvSpPr>
          <p:nvPr>
            <p:ph type="sldNum" sz="quarter" idx="12"/>
          </p:nvPr>
        </p:nvSpPr>
        <p:spPr/>
        <p:txBody>
          <a:bodyPr/>
          <a:lstStyle/>
          <a:p>
            <a:fld id="{8DCDA2BD-B005-4178-B40C-DE15A313417A}" type="slidenum">
              <a:rPr lang="en-US" smtClean="0"/>
              <a:t>‹#›</a:t>
            </a:fld>
            <a:endParaRPr lang="en-US"/>
          </a:p>
        </p:txBody>
      </p:sp>
    </p:spTree>
    <p:extLst>
      <p:ext uri="{BB962C8B-B14F-4D97-AF65-F5344CB8AC3E}">
        <p14:creationId xmlns:p14="http://schemas.microsoft.com/office/powerpoint/2010/main" val="4001956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57E58BB-031D-182C-09EB-7ED7E363D244}"/>
              </a:ext>
            </a:extLst>
          </p:cNvPr>
          <p:cNvSpPr>
            <a:spLocks noGrp="1"/>
          </p:cNvSpPr>
          <p:nvPr>
            <p:ph type="dt" sz="half" idx="10"/>
          </p:nvPr>
        </p:nvSpPr>
        <p:spPr/>
        <p:txBody>
          <a:bodyPr/>
          <a:lstStyle/>
          <a:p>
            <a:fld id="{414500E6-8F8D-4B6B-B486-11D197ACE923}" type="datetimeFigureOut">
              <a:rPr lang="en-US" smtClean="0"/>
              <a:t>6/20/26</a:t>
            </a:fld>
            <a:endParaRPr lang="en-US"/>
          </a:p>
        </p:txBody>
      </p:sp>
      <p:sp>
        <p:nvSpPr>
          <p:cNvPr id="3" name="Footer Placeholder 2">
            <a:extLst>
              <a:ext uri="{FF2B5EF4-FFF2-40B4-BE49-F238E27FC236}">
                <a16:creationId xmlns:a16="http://schemas.microsoft.com/office/drawing/2014/main" id="{22734D73-A312-97D0-12B4-20D7FB4E681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5F5C2E9-DEE4-F52A-DF30-BDB74C26D2F1}"/>
              </a:ext>
            </a:extLst>
          </p:cNvPr>
          <p:cNvSpPr>
            <a:spLocks noGrp="1"/>
          </p:cNvSpPr>
          <p:nvPr>
            <p:ph type="sldNum" sz="quarter" idx="12"/>
          </p:nvPr>
        </p:nvSpPr>
        <p:spPr/>
        <p:txBody>
          <a:bodyPr/>
          <a:lstStyle/>
          <a:p>
            <a:fld id="{8DCDA2BD-B005-4178-B40C-DE15A313417A}" type="slidenum">
              <a:rPr lang="en-US" smtClean="0"/>
              <a:t>‹#›</a:t>
            </a:fld>
            <a:endParaRPr lang="en-US"/>
          </a:p>
        </p:txBody>
      </p:sp>
    </p:spTree>
    <p:extLst>
      <p:ext uri="{BB962C8B-B14F-4D97-AF65-F5344CB8AC3E}">
        <p14:creationId xmlns:p14="http://schemas.microsoft.com/office/powerpoint/2010/main" val="5069864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44C637-3546-9984-624F-BF5C0DAB404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529F093-1B96-AEC0-FE7C-63193268724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816C94-D935-C382-97EE-F03BFEE1C2F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049CDA5-01D1-303C-8B0A-1032820F9F05}"/>
              </a:ext>
            </a:extLst>
          </p:cNvPr>
          <p:cNvSpPr>
            <a:spLocks noGrp="1"/>
          </p:cNvSpPr>
          <p:nvPr>
            <p:ph type="dt" sz="half" idx="10"/>
          </p:nvPr>
        </p:nvSpPr>
        <p:spPr/>
        <p:txBody>
          <a:bodyPr/>
          <a:lstStyle/>
          <a:p>
            <a:fld id="{414500E6-8F8D-4B6B-B486-11D197ACE923}" type="datetimeFigureOut">
              <a:rPr lang="en-US" smtClean="0"/>
              <a:t>6/20/26</a:t>
            </a:fld>
            <a:endParaRPr lang="en-US"/>
          </a:p>
        </p:txBody>
      </p:sp>
      <p:sp>
        <p:nvSpPr>
          <p:cNvPr id="6" name="Footer Placeholder 5">
            <a:extLst>
              <a:ext uri="{FF2B5EF4-FFF2-40B4-BE49-F238E27FC236}">
                <a16:creationId xmlns:a16="http://schemas.microsoft.com/office/drawing/2014/main" id="{73DCDCB2-8F74-C0E2-8EF3-87619A831E2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F38F5F8-AA22-A5EC-95E7-2A8D9A132E03}"/>
              </a:ext>
            </a:extLst>
          </p:cNvPr>
          <p:cNvSpPr>
            <a:spLocks noGrp="1"/>
          </p:cNvSpPr>
          <p:nvPr>
            <p:ph type="sldNum" sz="quarter" idx="12"/>
          </p:nvPr>
        </p:nvSpPr>
        <p:spPr/>
        <p:txBody>
          <a:bodyPr/>
          <a:lstStyle/>
          <a:p>
            <a:fld id="{8DCDA2BD-B005-4178-B40C-DE15A313417A}" type="slidenum">
              <a:rPr lang="en-US" smtClean="0"/>
              <a:t>‹#›</a:t>
            </a:fld>
            <a:endParaRPr lang="en-US"/>
          </a:p>
        </p:txBody>
      </p:sp>
    </p:spTree>
    <p:extLst>
      <p:ext uri="{BB962C8B-B14F-4D97-AF65-F5344CB8AC3E}">
        <p14:creationId xmlns:p14="http://schemas.microsoft.com/office/powerpoint/2010/main" val="7983221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89CD98-79FF-EB18-E076-86D02781CBB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F2E58B-E0F4-D5F0-5164-9CCC0DCE47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B4FA634-F9C5-C9CD-3E6C-7CB42C6AC9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0F680BD-491F-2356-54D5-15823A91B3B2}"/>
              </a:ext>
            </a:extLst>
          </p:cNvPr>
          <p:cNvSpPr>
            <a:spLocks noGrp="1"/>
          </p:cNvSpPr>
          <p:nvPr>
            <p:ph type="dt" sz="half" idx="10"/>
          </p:nvPr>
        </p:nvSpPr>
        <p:spPr/>
        <p:txBody>
          <a:bodyPr/>
          <a:lstStyle/>
          <a:p>
            <a:fld id="{414500E6-8F8D-4B6B-B486-11D197ACE923}" type="datetimeFigureOut">
              <a:rPr lang="en-US" smtClean="0"/>
              <a:t>6/20/26</a:t>
            </a:fld>
            <a:endParaRPr lang="en-US"/>
          </a:p>
        </p:txBody>
      </p:sp>
      <p:sp>
        <p:nvSpPr>
          <p:cNvPr id="6" name="Footer Placeholder 5">
            <a:extLst>
              <a:ext uri="{FF2B5EF4-FFF2-40B4-BE49-F238E27FC236}">
                <a16:creationId xmlns:a16="http://schemas.microsoft.com/office/drawing/2014/main" id="{5500080D-3118-1E67-5BE3-3DC4DB29732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116FCC-0B9B-DF75-B70E-AF9004603DCD}"/>
              </a:ext>
            </a:extLst>
          </p:cNvPr>
          <p:cNvSpPr>
            <a:spLocks noGrp="1"/>
          </p:cNvSpPr>
          <p:nvPr>
            <p:ph type="sldNum" sz="quarter" idx="12"/>
          </p:nvPr>
        </p:nvSpPr>
        <p:spPr/>
        <p:txBody>
          <a:bodyPr/>
          <a:lstStyle/>
          <a:p>
            <a:fld id="{8DCDA2BD-B005-4178-B40C-DE15A313417A}" type="slidenum">
              <a:rPr lang="en-US" smtClean="0"/>
              <a:t>‹#›</a:t>
            </a:fld>
            <a:endParaRPr lang="en-US"/>
          </a:p>
        </p:txBody>
      </p:sp>
    </p:spTree>
    <p:extLst>
      <p:ext uri="{BB962C8B-B14F-4D97-AF65-F5344CB8AC3E}">
        <p14:creationId xmlns:p14="http://schemas.microsoft.com/office/powerpoint/2010/main" val="8524035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8B20E-E9E7-63D7-5BE6-63808442571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DFAA35A-8969-5487-3AE8-CE4A8307909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B097E2-E06C-171C-7E24-B78ABC3B4653}"/>
              </a:ext>
            </a:extLst>
          </p:cNvPr>
          <p:cNvSpPr>
            <a:spLocks noGrp="1"/>
          </p:cNvSpPr>
          <p:nvPr>
            <p:ph type="dt" sz="half" idx="10"/>
          </p:nvPr>
        </p:nvSpPr>
        <p:spPr/>
        <p:txBody>
          <a:bodyPr/>
          <a:lstStyle/>
          <a:p>
            <a:fld id="{414500E6-8F8D-4B6B-B486-11D197ACE923}" type="datetimeFigureOut">
              <a:rPr lang="en-US" smtClean="0"/>
              <a:t>6/20/26</a:t>
            </a:fld>
            <a:endParaRPr lang="en-US"/>
          </a:p>
        </p:txBody>
      </p:sp>
      <p:sp>
        <p:nvSpPr>
          <p:cNvPr id="5" name="Footer Placeholder 4">
            <a:extLst>
              <a:ext uri="{FF2B5EF4-FFF2-40B4-BE49-F238E27FC236}">
                <a16:creationId xmlns:a16="http://schemas.microsoft.com/office/drawing/2014/main" id="{10FA4DF1-ECBF-A741-7731-66D35D2914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0F7DA6-50AD-3780-F0B3-C94205BB1A3F}"/>
              </a:ext>
            </a:extLst>
          </p:cNvPr>
          <p:cNvSpPr>
            <a:spLocks noGrp="1"/>
          </p:cNvSpPr>
          <p:nvPr>
            <p:ph type="sldNum" sz="quarter" idx="12"/>
          </p:nvPr>
        </p:nvSpPr>
        <p:spPr/>
        <p:txBody>
          <a:bodyPr/>
          <a:lstStyle/>
          <a:p>
            <a:fld id="{8DCDA2BD-B005-4178-B40C-DE15A313417A}" type="slidenum">
              <a:rPr lang="en-US" smtClean="0"/>
              <a:t>‹#›</a:t>
            </a:fld>
            <a:endParaRPr lang="en-US"/>
          </a:p>
        </p:txBody>
      </p:sp>
    </p:spTree>
    <p:extLst>
      <p:ext uri="{BB962C8B-B14F-4D97-AF65-F5344CB8AC3E}">
        <p14:creationId xmlns:p14="http://schemas.microsoft.com/office/powerpoint/2010/main" val="30591363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34359A-A046-41B1-5DDA-0E64B4C11A3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9B81D48-AF4F-6A21-01F4-03744F28BAD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E424E23-6F0C-99FA-84FC-ADE6C2CB1030}"/>
              </a:ext>
            </a:extLst>
          </p:cNvPr>
          <p:cNvSpPr>
            <a:spLocks noGrp="1"/>
          </p:cNvSpPr>
          <p:nvPr>
            <p:ph type="dt" sz="half" idx="10"/>
          </p:nvPr>
        </p:nvSpPr>
        <p:spPr/>
        <p:txBody>
          <a:bodyPr/>
          <a:lstStyle/>
          <a:p>
            <a:fld id="{414500E6-8F8D-4B6B-B486-11D197ACE923}" type="datetimeFigureOut">
              <a:rPr lang="en-US" smtClean="0"/>
              <a:t>6/20/26</a:t>
            </a:fld>
            <a:endParaRPr lang="en-US"/>
          </a:p>
        </p:txBody>
      </p:sp>
      <p:sp>
        <p:nvSpPr>
          <p:cNvPr id="5" name="Footer Placeholder 4">
            <a:extLst>
              <a:ext uri="{FF2B5EF4-FFF2-40B4-BE49-F238E27FC236}">
                <a16:creationId xmlns:a16="http://schemas.microsoft.com/office/drawing/2014/main" id="{CC40B8E1-2A16-15E3-BDEB-257E9344C3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11FE265-8235-0DC3-FD6E-33DCB353C622}"/>
              </a:ext>
            </a:extLst>
          </p:cNvPr>
          <p:cNvSpPr>
            <a:spLocks noGrp="1"/>
          </p:cNvSpPr>
          <p:nvPr>
            <p:ph type="sldNum" sz="quarter" idx="12"/>
          </p:nvPr>
        </p:nvSpPr>
        <p:spPr/>
        <p:txBody>
          <a:bodyPr/>
          <a:lstStyle/>
          <a:p>
            <a:fld id="{8DCDA2BD-B005-4178-B40C-DE15A313417A}" type="slidenum">
              <a:rPr lang="en-US" smtClean="0"/>
              <a:t>‹#›</a:t>
            </a:fld>
            <a:endParaRPr lang="en-US"/>
          </a:p>
        </p:txBody>
      </p:sp>
    </p:spTree>
    <p:extLst>
      <p:ext uri="{BB962C8B-B14F-4D97-AF65-F5344CB8AC3E}">
        <p14:creationId xmlns:p14="http://schemas.microsoft.com/office/powerpoint/2010/main" val="32355336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DF8E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9BDB3A3-9AA5-C1B3-9F6E-45A3D166F56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CA17EA1-4181-D70F-E42B-990EA5B1B6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18FE9801-5EDF-A2BF-1B8B-03092FEFFE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14500E6-8F8D-4B6B-B486-11D197ACE923}" type="datetimeFigureOut">
              <a:rPr lang="en-US" smtClean="0"/>
              <a:t>6/20/26</a:t>
            </a:fld>
            <a:endParaRPr lang="en-US"/>
          </a:p>
        </p:txBody>
      </p:sp>
      <p:sp>
        <p:nvSpPr>
          <p:cNvPr id="5" name="Footer Placeholder 4">
            <a:extLst>
              <a:ext uri="{FF2B5EF4-FFF2-40B4-BE49-F238E27FC236}">
                <a16:creationId xmlns:a16="http://schemas.microsoft.com/office/drawing/2014/main" id="{7D1CF33A-A310-B599-581E-563EB4901C2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BC7520C-FE8F-D4E6-CFD3-A6D28E19569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CDA2BD-B005-4178-B40C-DE15A313417A}" type="slidenum">
              <a:rPr lang="en-US" smtClean="0"/>
              <a:t>‹#›</a:t>
            </a:fld>
            <a:endParaRPr lang="en-US"/>
          </a:p>
        </p:txBody>
      </p:sp>
    </p:spTree>
    <p:extLst>
      <p:ext uri="{BB962C8B-B14F-4D97-AF65-F5344CB8AC3E}">
        <p14:creationId xmlns:p14="http://schemas.microsoft.com/office/powerpoint/2010/main" val="107758048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rgbClr val="236356"/>
          </a:solidFill>
          <a:latin typeface="Georgia" panose="02040502050405020303" pitchFamily="18"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236356"/>
          </a:solidFill>
          <a:latin typeface="Georgia" panose="02040502050405020303" pitchFamily="18"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236356"/>
          </a:solidFill>
          <a:latin typeface="Georgia" panose="02040502050405020303" pitchFamily="18"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236356"/>
          </a:solidFill>
          <a:latin typeface="Georgia" panose="02040502050405020303" pitchFamily="18"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236356"/>
          </a:solidFill>
          <a:latin typeface="Georgia" panose="02040502050405020303" pitchFamily="18"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236356"/>
          </a:solidFill>
          <a:latin typeface="Georgia" panose="02040502050405020303"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hyperlink" Target="https://anaconda.org/anaconda" TargetMode="External"/><Relationship Id="rId2" Type="http://schemas.openxmlformats.org/officeDocument/2006/relationships/image" Target="../media/image23.png"/><Relationship Id="rId1" Type="http://schemas.openxmlformats.org/officeDocument/2006/relationships/slideLayout" Target="../slideLayouts/slideLayout6.xml"/><Relationship Id="rId4" Type="http://schemas.openxmlformats.org/officeDocument/2006/relationships/hyperlink" Target="https://anaconda.org/conda-forge" TargetMode="External"/></Relationships>
</file>

<file path=ppt/slides/_rels/slide35.xml.rels><?xml version="1.0" encoding="UTF-8" standalone="yes"?>
<Relationships xmlns="http://schemas.openxmlformats.org/package/2006/relationships"><Relationship Id="rId2" Type="http://schemas.openxmlformats.org/officeDocument/2006/relationships/hyperlink" Target="https://github.com/mamba-org/mamba" TargetMode="Externa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3" Type="http://schemas.openxmlformats.org/officeDocument/2006/relationships/hyperlink" Target="https://mamba.readthedocs.io/" TargetMode="External"/><Relationship Id="rId2" Type="http://schemas.openxmlformats.org/officeDocument/2006/relationships/hyperlink" Target="https://www.anaconda.com/blog/a-faster-conda-for-a-growing-community" TargetMode="Externa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564C0-02DE-C79A-058C-AA031346A091}"/>
              </a:ext>
            </a:extLst>
          </p:cNvPr>
          <p:cNvSpPr>
            <a:spLocks noGrp="1"/>
          </p:cNvSpPr>
          <p:nvPr>
            <p:ph type="ctrTitle"/>
          </p:nvPr>
        </p:nvSpPr>
        <p:spPr/>
        <p:txBody>
          <a:bodyPr/>
          <a:lstStyle/>
          <a:p>
            <a:r>
              <a:rPr lang="en-US" dirty="0"/>
              <a:t>Python environment and package management</a:t>
            </a:r>
          </a:p>
        </p:txBody>
      </p:sp>
      <p:sp>
        <p:nvSpPr>
          <p:cNvPr id="3" name="Subtitle 2">
            <a:extLst>
              <a:ext uri="{FF2B5EF4-FFF2-40B4-BE49-F238E27FC236}">
                <a16:creationId xmlns:a16="http://schemas.microsoft.com/office/drawing/2014/main" id="{B7D9B1D3-7E36-1E35-E1B8-82545BBF8CEF}"/>
              </a:ext>
            </a:extLst>
          </p:cNvPr>
          <p:cNvSpPr>
            <a:spLocks noGrp="1"/>
          </p:cNvSpPr>
          <p:nvPr>
            <p:ph type="subTitle" idx="1"/>
          </p:nvPr>
        </p:nvSpPr>
        <p:spPr/>
        <p:txBody>
          <a:bodyPr/>
          <a:lstStyle/>
          <a:p>
            <a:r>
              <a:rPr lang="en-US" dirty="0"/>
              <a:t>By Shahbaz Chaudhary</a:t>
            </a:r>
          </a:p>
        </p:txBody>
      </p:sp>
    </p:spTree>
    <p:extLst>
      <p:ext uri="{BB962C8B-B14F-4D97-AF65-F5344CB8AC3E}">
        <p14:creationId xmlns:p14="http://schemas.microsoft.com/office/powerpoint/2010/main" val="21709725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A5D1F-AE43-9FCE-AB48-CD5B0ADB128D}"/>
              </a:ext>
            </a:extLst>
          </p:cNvPr>
          <p:cNvSpPr>
            <a:spLocks noGrp="1"/>
          </p:cNvSpPr>
          <p:nvPr>
            <p:ph type="title"/>
          </p:nvPr>
        </p:nvSpPr>
        <p:spPr/>
        <p:txBody>
          <a:bodyPr/>
          <a:lstStyle/>
          <a:p>
            <a:r>
              <a:rPr lang="en-US" dirty="0"/>
              <a:t>Environment management</a:t>
            </a:r>
          </a:p>
        </p:txBody>
      </p:sp>
      <p:sp>
        <p:nvSpPr>
          <p:cNvPr id="3" name="Text Placeholder 2">
            <a:extLst>
              <a:ext uri="{FF2B5EF4-FFF2-40B4-BE49-F238E27FC236}">
                <a16:creationId xmlns:a16="http://schemas.microsoft.com/office/drawing/2014/main" id="{7161D3DC-8C3E-A8D1-5CA3-1560FD8CE27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634822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E74F8-830D-48A3-B7A4-8B1774E4A229}"/>
              </a:ext>
            </a:extLst>
          </p:cNvPr>
          <p:cNvSpPr>
            <a:spLocks noGrp="1"/>
          </p:cNvSpPr>
          <p:nvPr>
            <p:ph type="title"/>
          </p:nvPr>
        </p:nvSpPr>
        <p:spPr/>
        <p:txBody>
          <a:bodyPr/>
          <a:lstStyle/>
          <a:p>
            <a:r>
              <a:rPr lang="en-US" dirty="0"/>
              <a:t>Virtual machines simulate isolated computers</a:t>
            </a:r>
          </a:p>
        </p:txBody>
      </p:sp>
      <p:pic>
        <p:nvPicPr>
          <p:cNvPr id="3074" name="Picture 2">
            <a:extLst>
              <a:ext uri="{FF2B5EF4-FFF2-40B4-BE49-F238E27FC236}">
                <a16:creationId xmlns:a16="http://schemas.microsoft.com/office/drawing/2014/main" id="{5C9A5E85-651B-FACE-E243-238FC7D663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5459" y="1775833"/>
            <a:ext cx="5953125" cy="4467225"/>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3EC99F1-A6CC-9861-B498-DA7F901511E6}"/>
              </a:ext>
            </a:extLst>
          </p:cNvPr>
          <p:cNvSpPr txBox="1"/>
          <p:nvPr/>
        </p:nvSpPr>
        <p:spPr>
          <a:xfrm>
            <a:off x="778906" y="1775833"/>
            <a:ext cx="4079341" cy="3693319"/>
          </a:xfrm>
          <a:prstGeom prst="rect">
            <a:avLst/>
          </a:prstGeom>
          <a:noFill/>
        </p:spPr>
        <p:txBody>
          <a:bodyPr wrap="square" rtlCol="0">
            <a:spAutoFit/>
          </a:bodyPr>
          <a:lstStyle/>
          <a:p>
            <a:r>
              <a:rPr lang="en-US" dirty="0">
                <a:solidFill>
                  <a:srgbClr val="94573F"/>
                </a:solidFill>
                <a:latin typeface="Georgia" panose="02040502050405020303" pitchFamily="18" charset="0"/>
              </a:rPr>
              <a:t>Virtual machines can be run on your laptop to simulate multiple computers. </a:t>
            </a:r>
            <a:br>
              <a:rPr lang="en-US" dirty="0">
                <a:solidFill>
                  <a:srgbClr val="94573F"/>
                </a:solidFill>
                <a:latin typeface="Georgia" panose="02040502050405020303" pitchFamily="18" charset="0"/>
              </a:rPr>
            </a:br>
            <a:br>
              <a:rPr lang="en-US" dirty="0">
                <a:solidFill>
                  <a:srgbClr val="94573F"/>
                </a:solidFill>
                <a:latin typeface="Georgia" panose="02040502050405020303" pitchFamily="18" charset="0"/>
              </a:rPr>
            </a:br>
            <a:r>
              <a:rPr lang="en-US" dirty="0">
                <a:solidFill>
                  <a:srgbClr val="94573F"/>
                </a:solidFill>
                <a:latin typeface="Georgia" panose="02040502050405020303" pitchFamily="18" charset="0"/>
              </a:rPr>
              <a:t>Cloud services like </a:t>
            </a:r>
            <a:r>
              <a:rPr lang="en-US" dirty="0" err="1">
                <a:solidFill>
                  <a:srgbClr val="94573F"/>
                </a:solidFill>
                <a:latin typeface="Georgia" panose="02040502050405020303" pitchFamily="18" charset="0"/>
              </a:rPr>
              <a:t>DigitalOcean</a:t>
            </a:r>
            <a:r>
              <a:rPr lang="en-US" dirty="0">
                <a:solidFill>
                  <a:srgbClr val="94573F"/>
                </a:solidFill>
                <a:latin typeface="Georgia" panose="02040502050405020303" pitchFamily="18" charset="0"/>
              </a:rPr>
              <a:t> let users “rent” small computers for a few dollars a month – in reality many virtual machines share the same physical computer.</a:t>
            </a:r>
          </a:p>
          <a:p>
            <a:endParaRPr lang="en-US" dirty="0">
              <a:solidFill>
                <a:srgbClr val="94573F"/>
              </a:solidFill>
              <a:latin typeface="Georgia" panose="02040502050405020303" pitchFamily="18" charset="0"/>
            </a:endParaRPr>
          </a:p>
          <a:p>
            <a:r>
              <a:rPr lang="en-US" dirty="0">
                <a:solidFill>
                  <a:srgbClr val="94573F"/>
                </a:solidFill>
                <a:latin typeface="Georgia" panose="02040502050405020303" pitchFamily="18" charset="0"/>
              </a:rPr>
              <a:t>However, virtual machines have to simulate </a:t>
            </a:r>
            <a:r>
              <a:rPr lang="en-US" i="1" dirty="0">
                <a:solidFill>
                  <a:srgbClr val="94573F"/>
                </a:solidFill>
                <a:latin typeface="Georgia" panose="02040502050405020303" pitchFamily="18" charset="0"/>
              </a:rPr>
              <a:t>everything</a:t>
            </a:r>
            <a:r>
              <a:rPr lang="en-US" dirty="0">
                <a:solidFill>
                  <a:srgbClr val="94573F"/>
                </a:solidFill>
                <a:latin typeface="Georgia" panose="02040502050405020303" pitchFamily="18" charset="0"/>
              </a:rPr>
              <a:t>, including CPUs. This can slow computation.</a:t>
            </a:r>
          </a:p>
        </p:txBody>
      </p:sp>
      <p:sp>
        <p:nvSpPr>
          <p:cNvPr id="5" name="TextBox 4">
            <a:extLst>
              <a:ext uri="{FF2B5EF4-FFF2-40B4-BE49-F238E27FC236}">
                <a16:creationId xmlns:a16="http://schemas.microsoft.com/office/drawing/2014/main" id="{0850CF86-4C94-5DE9-6075-CBBAED75B560}"/>
              </a:ext>
            </a:extLst>
          </p:cNvPr>
          <p:cNvSpPr txBox="1"/>
          <p:nvPr/>
        </p:nvSpPr>
        <p:spPr>
          <a:xfrm>
            <a:off x="6006548" y="6426989"/>
            <a:ext cx="6094674" cy="246221"/>
          </a:xfrm>
          <a:prstGeom prst="rect">
            <a:avLst/>
          </a:prstGeom>
          <a:noFill/>
        </p:spPr>
        <p:txBody>
          <a:bodyPr wrap="square">
            <a:spAutoFit/>
          </a:bodyPr>
          <a:lstStyle/>
          <a:p>
            <a:r>
              <a:rPr lang="en-US" sz="1000" dirty="0">
                <a:solidFill>
                  <a:srgbClr val="236356"/>
                </a:solidFill>
                <a:latin typeface="Georgia" panose="02040502050405020303" pitchFamily="18" charset="0"/>
              </a:rPr>
              <a:t>https://www.virtualbox.org/attachment/wiki/Screenshots/OpenSuse13.2_on_Windows_7.png</a:t>
            </a:r>
          </a:p>
        </p:txBody>
      </p:sp>
    </p:spTree>
    <p:extLst>
      <p:ext uri="{BB962C8B-B14F-4D97-AF65-F5344CB8AC3E}">
        <p14:creationId xmlns:p14="http://schemas.microsoft.com/office/powerpoint/2010/main" val="29538941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E74F8-830D-48A3-B7A4-8B1774E4A229}"/>
              </a:ext>
            </a:extLst>
          </p:cNvPr>
          <p:cNvSpPr>
            <a:spLocks noGrp="1"/>
          </p:cNvSpPr>
          <p:nvPr>
            <p:ph type="title"/>
          </p:nvPr>
        </p:nvSpPr>
        <p:spPr/>
        <p:txBody>
          <a:bodyPr/>
          <a:lstStyle/>
          <a:p>
            <a:r>
              <a:rPr lang="en-US" dirty="0"/>
              <a:t>Containers, such as docker, simulate isolated processes</a:t>
            </a:r>
          </a:p>
        </p:txBody>
      </p:sp>
      <p:sp>
        <p:nvSpPr>
          <p:cNvPr id="3" name="TextBox 2">
            <a:extLst>
              <a:ext uri="{FF2B5EF4-FFF2-40B4-BE49-F238E27FC236}">
                <a16:creationId xmlns:a16="http://schemas.microsoft.com/office/drawing/2014/main" id="{23EC99F1-A6CC-9861-B498-DA7F901511E6}"/>
              </a:ext>
            </a:extLst>
          </p:cNvPr>
          <p:cNvSpPr txBox="1"/>
          <p:nvPr/>
        </p:nvSpPr>
        <p:spPr>
          <a:xfrm>
            <a:off x="778906" y="1775833"/>
            <a:ext cx="4079341" cy="2862322"/>
          </a:xfrm>
          <a:prstGeom prst="rect">
            <a:avLst/>
          </a:prstGeom>
          <a:noFill/>
        </p:spPr>
        <p:txBody>
          <a:bodyPr wrap="square" rtlCol="0">
            <a:spAutoFit/>
          </a:bodyPr>
          <a:lstStyle/>
          <a:p>
            <a:r>
              <a:rPr lang="en-US" dirty="0">
                <a:solidFill>
                  <a:srgbClr val="94573F"/>
                </a:solidFill>
                <a:latin typeface="Georgia" panose="02040502050405020303" pitchFamily="18" charset="0"/>
              </a:rPr>
              <a:t>Docker uses </a:t>
            </a:r>
            <a:r>
              <a:rPr lang="en-US" dirty="0" err="1">
                <a:solidFill>
                  <a:srgbClr val="94573F"/>
                </a:solidFill>
                <a:latin typeface="Georgia" panose="02040502050405020303" pitchFamily="18" charset="0"/>
              </a:rPr>
              <a:t>linux’s</a:t>
            </a:r>
            <a:r>
              <a:rPr lang="en-US" dirty="0">
                <a:solidFill>
                  <a:srgbClr val="94573F"/>
                </a:solidFill>
                <a:latin typeface="Georgia" panose="02040502050405020303" pitchFamily="18" charset="0"/>
              </a:rPr>
              <a:t> built-in process isolation features. This allows a process to isolate its filesystem, memory and other operating system resources. </a:t>
            </a:r>
          </a:p>
          <a:p>
            <a:endParaRPr lang="en-US" dirty="0">
              <a:solidFill>
                <a:srgbClr val="94573F"/>
              </a:solidFill>
              <a:latin typeface="Georgia" panose="02040502050405020303" pitchFamily="18" charset="0"/>
            </a:endParaRPr>
          </a:p>
          <a:p>
            <a:r>
              <a:rPr lang="en-US" dirty="0">
                <a:solidFill>
                  <a:srgbClr val="94573F"/>
                </a:solidFill>
                <a:latin typeface="Georgia" panose="02040502050405020303" pitchFamily="18" charset="0"/>
              </a:rPr>
              <a:t>Docker does not need to simulate a full CPU and uses the existing </a:t>
            </a:r>
            <a:r>
              <a:rPr lang="en-US" dirty="0" err="1">
                <a:solidFill>
                  <a:srgbClr val="94573F"/>
                </a:solidFill>
                <a:latin typeface="Georgia" panose="02040502050405020303" pitchFamily="18" charset="0"/>
              </a:rPr>
              <a:t>linux</a:t>
            </a:r>
            <a:r>
              <a:rPr lang="en-US" dirty="0">
                <a:solidFill>
                  <a:srgbClr val="94573F"/>
                </a:solidFill>
                <a:latin typeface="Georgia" panose="02040502050405020303" pitchFamily="18" charset="0"/>
              </a:rPr>
              <a:t> kernel. This allows docker to be faster than virtual machines. </a:t>
            </a:r>
          </a:p>
        </p:txBody>
      </p:sp>
      <p:pic>
        <p:nvPicPr>
          <p:cNvPr id="5" name="Picture 4">
            <a:extLst>
              <a:ext uri="{FF2B5EF4-FFF2-40B4-BE49-F238E27FC236}">
                <a16:creationId xmlns:a16="http://schemas.microsoft.com/office/drawing/2014/main" id="{AB7C7E07-D645-FCCD-8331-DC5859A02A8E}"/>
              </a:ext>
            </a:extLst>
          </p:cNvPr>
          <p:cNvPicPr>
            <a:picLocks noChangeAspect="1"/>
          </p:cNvPicPr>
          <p:nvPr/>
        </p:nvPicPr>
        <p:blipFill>
          <a:blip r:embed="rId2"/>
          <a:stretch>
            <a:fillRect/>
          </a:stretch>
        </p:blipFill>
        <p:spPr>
          <a:xfrm>
            <a:off x="4961613" y="1801653"/>
            <a:ext cx="6287342" cy="3553003"/>
          </a:xfrm>
          <a:prstGeom prst="rect">
            <a:avLst/>
          </a:prstGeom>
          <a:effectLst>
            <a:outerShdw blurRad="50800" dist="38100" dir="2700000" algn="tl" rotWithShape="0">
              <a:prstClr val="black">
                <a:alpha val="40000"/>
              </a:prstClr>
            </a:outerShdw>
          </a:effectLst>
        </p:spPr>
      </p:pic>
      <p:sp>
        <p:nvSpPr>
          <p:cNvPr id="6" name="TextBox 5">
            <a:extLst>
              <a:ext uri="{FF2B5EF4-FFF2-40B4-BE49-F238E27FC236}">
                <a16:creationId xmlns:a16="http://schemas.microsoft.com/office/drawing/2014/main" id="{8C3879F5-9901-6F78-8E9C-805AF52DA40E}"/>
              </a:ext>
            </a:extLst>
          </p:cNvPr>
          <p:cNvSpPr txBox="1"/>
          <p:nvPr/>
        </p:nvSpPr>
        <p:spPr>
          <a:xfrm>
            <a:off x="8309112" y="6426989"/>
            <a:ext cx="3792109" cy="246221"/>
          </a:xfrm>
          <a:prstGeom prst="rect">
            <a:avLst/>
          </a:prstGeom>
          <a:noFill/>
        </p:spPr>
        <p:txBody>
          <a:bodyPr wrap="square">
            <a:spAutoFit/>
          </a:bodyPr>
          <a:lstStyle/>
          <a:p>
            <a:r>
              <a:rPr lang="en-US" sz="1000" dirty="0">
                <a:solidFill>
                  <a:srgbClr val="236356"/>
                </a:solidFill>
                <a:latin typeface="Georgia" panose="02040502050405020303" pitchFamily="18" charset="0"/>
              </a:rPr>
              <a:t>https://www.docker.com/products/docker-desktop/</a:t>
            </a:r>
          </a:p>
        </p:txBody>
      </p:sp>
    </p:spTree>
    <p:extLst>
      <p:ext uri="{BB962C8B-B14F-4D97-AF65-F5344CB8AC3E}">
        <p14:creationId xmlns:p14="http://schemas.microsoft.com/office/powerpoint/2010/main" val="12946176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E74F8-830D-48A3-B7A4-8B1774E4A229}"/>
              </a:ext>
            </a:extLst>
          </p:cNvPr>
          <p:cNvSpPr>
            <a:spLocks noGrp="1"/>
          </p:cNvSpPr>
          <p:nvPr>
            <p:ph type="title"/>
          </p:nvPr>
        </p:nvSpPr>
        <p:spPr/>
        <p:txBody>
          <a:bodyPr/>
          <a:lstStyle/>
          <a:p>
            <a:r>
              <a:rPr lang="en-US" dirty="0"/>
              <a:t>Environment managers isolate configurations</a:t>
            </a:r>
          </a:p>
        </p:txBody>
      </p:sp>
      <p:sp>
        <p:nvSpPr>
          <p:cNvPr id="3" name="TextBox 2">
            <a:extLst>
              <a:ext uri="{FF2B5EF4-FFF2-40B4-BE49-F238E27FC236}">
                <a16:creationId xmlns:a16="http://schemas.microsoft.com/office/drawing/2014/main" id="{23EC99F1-A6CC-9861-B498-DA7F901511E6}"/>
              </a:ext>
            </a:extLst>
          </p:cNvPr>
          <p:cNvSpPr txBox="1"/>
          <p:nvPr/>
        </p:nvSpPr>
        <p:spPr>
          <a:xfrm>
            <a:off x="778906" y="1775833"/>
            <a:ext cx="4079341" cy="3693319"/>
          </a:xfrm>
          <a:prstGeom prst="rect">
            <a:avLst/>
          </a:prstGeom>
          <a:noFill/>
        </p:spPr>
        <p:txBody>
          <a:bodyPr wrap="square" rtlCol="0">
            <a:spAutoFit/>
          </a:bodyPr>
          <a:lstStyle/>
          <a:p>
            <a:r>
              <a:rPr lang="en-US" dirty="0">
                <a:solidFill>
                  <a:srgbClr val="94573F"/>
                </a:solidFill>
                <a:latin typeface="Georgia" panose="02040502050405020303" pitchFamily="18" charset="0"/>
              </a:rPr>
              <a:t>Environment managers such as </a:t>
            </a:r>
            <a:r>
              <a:rPr lang="en-US" dirty="0" err="1">
                <a:solidFill>
                  <a:srgbClr val="94573F"/>
                </a:solidFill>
                <a:latin typeface="Georgia" panose="02040502050405020303" pitchFamily="18" charset="0"/>
              </a:rPr>
              <a:t>conda</a:t>
            </a:r>
            <a:r>
              <a:rPr lang="en-US" dirty="0">
                <a:solidFill>
                  <a:srgbClr val="94573F"/>
                </a:solidFill>
                <a:latin typeface="Georgia" panose="02040502050405020303" pitchFamily="18" charset="0"/>
              </a:rPr>
              <a:t> and </a:t>
            </a:r>
            <a:r>
              <a:rPr lang="en-US" dirty="0" err="1">
                <a:solidFill>
                  <a:srgbClr val="94573F"/>
                </a:solidFill>
                <a:latin typeface="Georgia" panose="02040502050405020303" pitchFamily="18" charset="0"/>
              </a:rPr>
              <a:t>venv</a:t>
            </a:r>
            <a:r>
              <a:rPr lang="en-US" dirty="0">
                <a:solidFill>
                  <a:srgbClr val="94573F"/>
                </a:solidFill>
                <a:latin typeface="Georgia" panose="02040502050405020303" pitchFamily="18" charset="0"/>
              </a:rPr>
              <a:t> do NOT pretend that a program is running on its own, private, computer. The filesystem, memory and all other operating system resources are shared.</a:t>
            </a:r>
          </a:p>
          <a:p>
            <a:endParaRPr lang="en-US" dirty="0">
              <a:solidFill>
                <a:srgbClr val="94573F"/>
              </a:solidFill>
              <a:latin typeface="Georgia" panose="02040502050405020303" pitchFamily="18" charset="0"/>
            </a:endParaRPr>
          </a:p>
          <a:p>
            <a:r>
              <a:rPr lang="en-US" dirty="0">
                <a:solidFill>
                  <a:srgbClr val="94573F"/>
                </a:solidFill>
                <a:latin typeface="Georgia" panose="02040502050405020303" pitchFamily="18" charset="0"/>
              </a:rPr>
              <a:t>These tools DO isolate configurations (to varying degrees). Individual environments can have their own versions of programs, coexisting with other environments where programs of different versions can also exist.</a:t>
            </a:r>
          </a:p>
        </p:txBody>
      </p:sp>
      <p:pic>
        <p:nvPicPr>
          <p:cNvPr id="7" name="Picture 6">
            <a:extLst>
              <a:ext uri="{FF2B5EF4-FFF2-40B4-BE49-F238E27FC236}">
                <a16:creationId xmlns:a16="http://schemas.microsoft.com/office/drawing/2014/main" id="{2F1333C9-B008-2D15-A22A-0A4259877A1E}"/>
              </a:ext>
            </a:extLst>
          </p:cNvPr>
          <p:cNvPicPr>
            <a:picLocks noChangeAspect="1"/>
          </p:cNvPicPr>
          <p:nvPr/>
        </p:nvPicPr>
        <p:blipFill>
          <a:blip r:embed="rId2"/>
          <a:stretch>
            <a:fillRect/>
          </a:stretch>
        </p:blipFill>
        <p:spPr>
          <a:xfrm>
            <a:off x="5069238" y="1980998"/>
            <a:ext cx="6649378" cy="2896004"/>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2569824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E74F8-830D-48A3-B7A4-8B1774E4A229}"/>
              </a:ext>
            </a:extLst>
          </p:cNvPr>
          <p:cNvSpPr>
            <a:spLocks noGrp="1"/>
          </p:cNvSpPr>
          <p:nvPr>
            <p:ph type="title"/>
          </p:nvPr>
        </p:nvSpPr>
        <p:spPr/>
        <p:txBody>
          <a:bodyPr/>
          <a:lstStyle/>
          <a:p>
            <a:r>
              <a:rPr lang="en-US" dirty="0"/>
              <a:t>Environment managers isolate configurations</a:t>
            </a:r>
          </a:p>
        </p:txBody>
      </p:sp>
      <p:sp>
        <p:nvSpPr>
          <p:cNvPr id="3" name="TextBox 2">
            <a:extLst>
              <a:ext uri="{FF2B5EF4-FFF2-40B4-BE49-F238E27FC236}">
                <a16:creationId xmlns:a16="http://schemas.microsoft.com/office/drawing/2014/main" id="{23EC99F1-A6CC-9861-B498-DA7F901511E6}"/>
              </a:ext>
            </a:extLst>
          </p:cNvPr>
          <p:cNvSpPr txBox="1"/>
          <p:nvPr/>
        </p:nvSpPr>
        <p:spPr>
          <a:xfrm>
            <a:off x="778906" y="1980998"/>
            <a:ext cx="4079341" cy="2031325"/>
          </a:xfrm>
          <a:prstGeom prst="rect">
            <a:avLst/>
          </a:prstGeom>
          <a:noFill/>
        </p:spPr>
        <p:txBody>
          <a:bodyPr wrap="square" rtlCol="0">
            <a:spAutoFit/>
          </a:bodyPr>
          <a:lstStyle/>
          <a:p>
            <a:r>
              <a:rPr lang="en-US" dirty="0">
                <a:solidFill>
                  <a:srgbClr val="94573F"/>
                </a:solidFill>
                <a:latin typeface="Georgia" panose="02040502050405020303" pitchFamily="18" charset="0"/>
              </a:rPr>
              <a:t>Multiple environments allow users to:</a:t>
            </a:r>
          </a:p>
          <a:p>
            <a:endParaRPr lang="en-US" dirty="0">
              <a:solidFill>
                <a:srgbClr val="94573F"/>
              </a:solidFill>
              <a:latin typeface="Georgia" panose="02040502050405020303" pitchFamily="18" charset="0"/>
            </a:endParaRPr>
          </a:p>
          <a:p>
            <a:pPr marL="285750" indent="-285750">
              <a:buFont typeface="Arial" panose="020B0604020202020204" pitchFamily="34" charset="0"/>
              <a:buChar char="•"/>
            </a:pPr>
            <a:r>
              <a:rPr lang="en-US" dirty="0">
                <a:solidFill>
                  <a:srgbClr val="94573F"/>
                </a:solidFill>
                <a:latin typeface="Georgia" panose="02040502050405020303" pitchFamily="18" charset="0"/>
              </a:rPr>
              <a:t>Use different version of Python</a:t>
            </a:r>
          </a:p>
          <a:p>
            <a:pPr marL="285750" indent="-285750">
              <a:buFont typeface="Arial" panose="020B0604020202020204" pitchFamily="34" charset="0"/>
              <a:buChar char="•"/>
            </a:pPr>
            <a:r>
              <a:rPr lang="en-US" dirty="0">
                <a:solidFill>
                  <a:srgbClr val="94573F"/>
                </a:solidFill>
                <a:latin typeface="Georgia" panose="02040502050405020303" pitchFamily="18" charset="0"/>
              </a:rPr>
              <a:t>Different versions of packages</a:t>
            </a:r>
          </a:p>
          <a:p>
            <a:pPr marL="285750" indent="-285750">
              <a:buFont typeface="Arial" panose="020B0604020202020204" pitchFamily="34" charset="0"/>
              <a:buChar char="•"/>
            </a:pPr>
            <a:r>
              <a:rPr lang="en-US" dirty="0">
                <a:solidFill>
                  <a:srgbClr val="94573F"/>
                </a:solidFill>
                <a:latin typeface="Georgia" panose="02040502050405020303" pitchFamily="18" charset="0"/>
              </a:rPr>
              <a:t>Completely different packages</a:t>
            </a:r>
          </a:p>
          <a:p>
            <a:pPr marL="285750" indent="-285750">
              <a:buFont typeface="Arial" panose="020B0604020202020204" pitchFamily="34" charset="0"/>
              <a:buChar char="•"/>
            </a:pPr>
            <a:endParaRPr lang="en-US" dirty="0">
              <a:solidFill>
                <a:srgbClr val="94573F"/>
              </a:solidFill>
              <a:latin typeface="Georgia" panose="02040502050405020303" pitchFamily="18" charset="0"/>
            </a:endParaRPr>
          </a:p>
          <a:p>
            <a:r>
              <a:rPr lang="en-US" dirty="0">
                <a:solidFill>
                  <a:srgbClr val="94573F"/>
                </a:solidFill>
                <a:latin typeface="Georgia" panose="02040502050405020303" pitchFamily="18" charset="0"/>
              </a:rPr>
              <a:t>… on the same computer!</a:t>
            </a:r>
          </a:p>
        </p:txBody>
      </p:sp>
      <p:pic>
        <p:nvPicPr>
          <p:cNvPr id="7" name="Picture 6">
            <a:extLst>
              <a:ext uri="{FF2B5EF4-FFF2-40B4-BE49-F238E27FC236}">
                <a16:creationId xmlns:a16="http://schemas.microsoft.com/office/drawing/2014/main" id="{2F1333C9-B008-2D15-A22A-0A4259877A1E}"/>
              </a:ext>
            </a:extLst>
          </p:cNvPr>
          <p:cNvPicPr>
            <a:picLocks noChangeAspect="1"/>
          </p:cNvPicPr>
          <p:nvPr/>
        </p:nvPicPr>
        <p:blipFill>
          <a:blip r:embed="rId2"/>
          <a:stretch>
            <a:fillRect/>
          </a:stretch>
        </p:blipFill>
        <p:spPr>
          <a:xfrm>
            <a:off x="5069238" y="1980998"/>
            <a:ext cx="6649378" cy="2896004"/>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164001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E74F8-830D-48A3-B7A4-8B1774E4A229}"/>
              </a:ext>
            </a:extLst>
          </p:cNvPr>
          <p:cNvSpPr>
            <a:spLocks noGrp="1"/>
          </p:cNvSpPr>
          <p:nvPr>
            <p:ph type="title"/>
          </p:nvPr>
        </p:nvSpPr>
        <p:spPr/>
        <p:txBody>
          <a:bodyPr/>
          <a:lstStyle/>
          <a:p>
            <a:r>
              <a:rPr lang="en-US" dirty="0" err="1"/>
              <a:t>Envs</a:t>
            </a:r>
            <a:r>
              <a:rPr lang="en-US" dirty="0"/>
              <a:t> are … mostly, a change in </a:t>
            </a:r>
            <a:r>
              <a:rPr lang="en-US" dirty="0">
                <a:latin typeface="Consolas" panose="020B0609020204030204" pitchFamily="49" charset="0"/>
              </a:rPr>
              <a:t>PATH</a:t>
            </a:r>
          </a:p>
        </p:txBody>
      </p:sp>
      <p:pic>
        <p:nvPicPr>
          <p:cNvPr id="9" name="Picture 8">
            <a:extLst>
              <a:ext uri="{FF2B5EF4-FFF2-40B4-BE49-F238E27FC236}">
                <a16:creationId xmlns:a16="http://schemas.microsoft.com/office/drawing/2014/main" id="{BD89E371-4E5E-528E-287D-55BBA6B86185}"/>
              </a:ext>
            </a:extLst>
          </p:cNvPr>
          <p:cNvPicPr>
            <a:picLocks noChangeAspect="1"/>
          </p:cNvPicPr>
          <p:nvPr/>
        </p:nvPicPr>
        <p:blipFill>
          <a:blip r:embed="rId2"/>
          <a:stretch>
            <a:fillRect/>
          </a:stretch>
        </p:blipFill>
        <p:spPr>
          <a:xfrm>
            <a:off x="2186607" y="1690688"/>
            <a:ext cx="7666653" cy="4613561"/>
          </a:xfrm>
          <a:prstGeom prst="rect">
            <a:avLst/>
          </a:prstGeom>
          <a:effectLst>
            <a:outerShdw blurRad="50800" dist="38100" dir="2700000" algn="tl" rotWithShape="0">
              <a:prstClr val="black">
                <a:alpha val="40000"/>
              </a:prstClr>
            </a:outerShdw>
          </a:effectLst>
        </p:spPr>
      </p:pic>
      <p:sp>
        <p:nvSpPr>
          <p:cNvPr id="10" name="Rectangle 9">
            <a:extLst>
              <a:ext uri="{FF2B5EF4-FFF2-40B4-BE49-F238E27FC236}">
                <a16:creationId xmlns:a16="http://schemas.microsoft.com/office/drawing/2014/main" id="{42BBB065-5F99-9BB4-3F68-6A29376F9E5F}"/>
              </a:ext>
            </a:extLst>
          </p:cNvPr>
          <p:cNvSpPr/>
          <p:nvPr/>
        </p:nvSpPr>
        <p:spPr>
          <a:xfrm>
            <a:off x="2194238" y="2258170"/>
            <a:ext cx="7562012" cy="461176"/>
          </a:xfrm>
          <a:prstGeom prst="rect">
            <a:avLst/>
          </a:prstGeom>
          <a:solidFill>
            <a:srgbClr val="FFC000">
              <a:alpha val="25882"/>
            </a:srgb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A915BDC-E7B8-17BC-0ACE-74056C22F821}"/>
              </a:ext>
            </a:extLst>
          </p:cNvPr>
          <p:cNvSpPr/>
          <p:nvPr/>
        </p:nvSpPr>
        <p:spPr>
          <a:xfrm>
            <a:off x="2194238" y="4465984"/>
            <a:ext cx="7562012" cy="543338"/>
          </a:xfrm>
          <a:prstGeom prst="rect">
            <a:avLst/>
          </a:prstGeom>
          <a:solidFill>
            <a:srgbClr val="FFC000">
              <a:alpha val="25882"/>
            </a:srgb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345505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E74F8-830D-48A3-B7A4-8B1774E4A229}"/>
              </a:ext>
            </a:extLst>
          </p:cNvPr>
          <p:cNvSpPr>
            <a:spLocks noGrp="1"/>
          </p:cNvSpPr>
          <p:nvPr>
            <p:ph type="title"/>
          </p:nvPr>
        </p:nvSpPr>
        <p:spPr/>
        <p:txBody>
          <a:bodyPr/>
          <a:lstStyle/>
          <a:p>
            <a:r>
              <a:rPr lang="en-US" dirty="0" err="1"/>
              <a:t>Envs</a:t>
            </a:r>
            <a:r>
              <a:rPr lang="en-US" dirty="0"/>
              <a:t> are … mostly, a change in </a:t>
            </a:r>
            <a:r>
              <a:rPr lang="en-US" dirty="0">
                <a:latin typeface="Consolas" panose="020B0609020204030204" pitchFamily="49" charset="0"/>
              </a:rPr>
              <a:t>PATH</a:t>
            </a:r>
          </a:p>
        </p:txBody>
      </p:sp>
      <p:pic>
        <p:nvPicPr>
          <p:cNvPr id="5" name="Picture 4">
            <a:extLst>
              <a:ext uri="{FF2B5EF4-FFF2-40B4-BE49-F238E27FC236}">
                <a16:creationId xmlns:a16="http://schemas.microsoft.com/office/drawing/2014/main" id="{14BC39DA-0BB0-76A8-CEB8-91D79D07FBAD}"/>
              </a:ext>
            </a:extLst>
          </p:cNvPr>
          <p:cNvPicPr>
            <a:picLocks noChangeAspect="1"/>
          </p:cNvPicPr>
          <p:nvPr/>
        </p:nvPicPr>
        <p:blipFill>
          <a:blip r:embed="rId2"/>
          <a:stretch>
            <a:fillRect/>
          </a:stretch>
        </p:blipFill>
        <p:spPr>
          <a:xfrm>
            <a:off x="1694836" y="1871445"/>
            <a:ext cx="8802328" cy="311511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7918707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E74F8-830D-48A3-B7A4-8B1774E4A229}"/>
              </a:ext>
            </a:extLst>
          </p:cNvPr>
          <p:cNvSpPr>
            <a:spLocks noGrp="1"/>
          </p:cNvSpPr>
          <p:nvPr>
            <p:ph type="title"/>
          </p:nvPr>
        </p:nvSpPr>
        <p:spPr/>
        <p:txBody>
          <a:bodyPr/>
          <a:lstStyle/>
          <a:p>
            <a:r>
              <a:rPr lang="en-US" dirty="0"/>
              <a:t>Poor man’s version of </a:t>
            </a:r>
            <a:r>
              <a:rPr lang="en-US" dirty="0" err="1"/>
              <a:t>conda</a:t>
            </a:r>
            <a:endParaRPr lang="en-US" dirty="0">
              <a:latin typeface="Consolas" panose="020B0609020204030204" pitchFamily="49" charset="0"/>
            </a:endParaRPr>
          </a:p>
        </p:txBody>
      </p:sp>
      <p:sp>
        <p:nvSpPr>
          <p:cNvPr id="3" name="TextBox 2">
            <a:extLst>
              <a:ext uri="{FF2B5EF4-FFF2-40B4-BE49-F238E27FC236}">
                <a16:creationId xmlns:a16="http://schemas.microsoft.com/office/drawing/2014/main" id="{2573D2B9-B900-7AA0-A76B-3CF6FD5F0B86}"/>
              </a:ext>
            </a:extLst>
          </p:cNvPr>
          <p:cNvSpPr txBox="1"/>
          <p:nvPr/>
        </p:nvSpPr>
        <p:spPr>
          <a:xfrm>
            <a:off x="778906" y="1775833"/>
            <a:ext cx="5160718" cy="2308324"/>
          </a:xfrm>
          <a:prstGeom prst="rect">
            <a:avLst/>
          </a:prstGeom>
          <a:noFill/>
        </p:spPr>
        <p:txBody>
          <a:bodyPr wrap="square" rtlCol="0">
            <a:spAutoFit/>
          </a:bodyPr>
          <a:lstStyle/>
          <a:p>
            <a:r>
              <a:rPr lang="en-US" dirty="0" err="1">
                <a:solidFill>
                  <a:srgbClr val="236356"/>
                </a:solidFill>
                <a:latin typeface="Consolas" panose="020B0609020204030204" pitchFamily="49" charset="0"/>
              </a:rPr>
              <a:t>poor_conda</a:t>
            </a:r>
            <a:r>
              <a:rPr lang="en-US" dirty="0">
                <a:solidFill>
                  <a:srgbClr val="236356"/>
                </a:solidFill>
                <a:latin typeface="Consolas" panose="020B0609020204030204" pitchFamily="49" charset="0"/>
              </a:rPr>
              <a:t> activate </a:t>
            </a:r>
            <a:r>
              <a:rPr lang="en-US" dirty="0">
                <a:solidFill>
                  <a:srgbClr val="236356"/>
                </a:solidFill>
                <a:highlight>
                  <a:srgbClr val="FFFF00"/>
                </a:highlight>
                <a:latin typeface="Consolas" panose="020B0609020204030204" pitchFamily="49" charset="0"/>
              </a:rPr>
              <a:t>py36</a:t>
            </a:r>
          </a:p>
          <a:p>
            <a:endParaRPr lang="en-US" dirty="0">
              <a:solidFill>
                <a:srgbClr val="94573F"/>
              </a:solidFill>
              <a:latin typeface="Consolas" panose="020B0609020204030204" pitchFamily="49" charset="0"/>
            </a:endParaRPr>
          </a:p>
          <a:p>
            <a:r>
              <a:rPr lang="en-US" dirty="0">
                <a:solidFill>
                  <a:srgbClr val="94573F"/>
                </a:solidFill>
                <a:latin typeface="Consolas" panose="020B0609020204030204" pitchFamily="49" charset="0"/>
              </a:rPr>
              <a:t>OLD_INIT_SCRIPT = INIT_SCRIPT</a:t>
            </a:r>
          </a:p>
          <a:p>
            <a:r>
              <a:rPr lang="en-US" dirty="0">
                <a:solidFill>
                  <a:srgbClr val="94573F"/>
                </a:solidFill>
                <a:latin typeface="Consolas" panose="020B0609020204030204" pitchFamily="49" charset="0"/>
              </a:rPr>
              <a:t>OLD_PATH = PATH</a:t>
            </a:r>
          </a:p>
          <a:p>
            <a:endParaRPr lang="en-US" dirty="0">
              <a:solidFill>
                <a:srgbClr val="94573F"/>
              </a:solidFill>
              <a:latin typeface="Consolas" panose="020B0609020204030204" pitchFamily="49" charset="0"/>
            </a:endParaRPr>
          </a:p>
          <a:p>
            <a:r>
              <a:rPr lang="en-US" dirty="0">
                <a:solidFill>
                  <a:srgbClr val="94573F"/>
                </a:solidFill>
                <a:latin typeface="Consolas" panose="020B0609020204030204" pitchFamily="49" charset="0"/>
              </a:rPr>
              <a:t>PATH = </a:t>
            </a:r>
            <a:r>
              <a:rPr lang="en-US" dirty="0">
                <a:solidFill>
                  <a:srgbClr val="94573F"/>
                </a:solidFill>
                <a:highlight>
                  <a:srgbClr val="FFFF00"/>
                </a:highlight>
                <a:latin typeface="Consolas" panose="020B0609020204030204" pitchFamily="49" charset="0"/>
              </a:rPr>
              <a:t>py36</a:t>
            </a:r>
            <a:r>
              <a:rPr lang="en-US" dirty="0">
                <a:solidFill>
                  <a:srgbClr val="94573F"/>
                </a:solidFill>
                <a:latin typeface="Consolas" panose="020B0609020204030204" pitchFamily="49" charset="0"/>
              </a:rPr>
              <a:t>/</a:t>
            </a:r>
            <a:r>
              <a:rPr lang="en-US" dirty="0" err="1">
                <a:solidFill>
                  <a:srgbClr val="94573F"/>
                </a:solidFill>
                <a:latin typeface="Consolas" panose="020B0609020204030204" pitchFamily="49" charset="0"/>
              </a:rPr>
              <a:t>bin;OLD_PATH</a:t>
            </a:r>
            <a:endParaRPr lang="en-US" dirty="0">
              <a:solidFill>
                <a:srgbClr val="94573F"/>
              </a:solidFill>
              <a:latin typeface="Consolas" panose="020B0609020204030204" pitchFamily="49" charset="0"/>
            </a:endParaRPr>
          </a:p>
          <a:p>
            <a:endParaRPr lang="en-US" dirty="0">
              <a:solidFill>
                <a:srgbClr val="94573F"/>
              </a:solidFill>
              <a:latin typeface="Consolas" panose="020B0609020204030204" pitchFamily="49" charset="0"/>
            </a:endParaRPr>
          </a:p>
          <a:p>
            <a:r>
              <a:rPr lang="en-US" dirty="0">
                <a:solidFill>
                  <a:srgbClr val="94573F"/>
                </a:solidFill>
                <a:latin typeface="Consolas" panose="020B0609020204030204" pitchFamily="49" charset="0"/>
              </a:rPr>
              <a:t>Run </a:t>
            </a:r>
            <a:r>
              <a:rPr lang="en-US" dirty="0">
                <a:solidFill>
                  <a:srgbClr val="94573F"/>
                </a:solidFill>
                <a:highlight>
                  <a:srgbClr val="FFFF00"/>
                </a:highlight>
                <a:latin typeface="Consolas" panose="020B0609020204030204" pitchFamily="49" charset="0"/>
              </a:rPr>
              <a:t>py36</a:t>
            </a:r>
            <a:r>
              <a:rPr lang="en-US" dirty="0">
                <a:solidFill>
                  <a:srgbClr val="94573F"/>
                </a:solidFill>
                <a:latin typeface="Consolas" panose="020B0609020204030204" pitchFamily="49" charset="0"/>
              </a:rPr>
              <a:t>/init_script.bat</a:t>
            </a:r>
          </a:p>
        </p:txBody>
      </p:sp>
      <p:sp>
        <p:nvSpPr>
          <p:cNvPr id="4" name="TextBox 3">
            <a:extLst>
              <a:ext uri="{FF2B5EF4-FFF2-40B4-BE49-F238E27FC236}">
                <a16:creationId xmlns:a16="http://schemas.microsoft.com/office/drawing/2014/main" id="{334E6C6F-8923-B898-3B37-08523D66C089}"/>
              </a:ext>
            </a:extLst>
          </p:cNvPr>
          <p:cNvSpPr txBox="1"/>
          <p:nvPr/>
        </p:nvSpPr>
        <p:spPr>
          <a:xfrm>
            <a:off x="6125825" y="1775832"/>
            <a:ext cx="4079341" cy="2308324"/>
          </a:xfrm>
          <a:prstGeom prst="rect">
            <a:avLst/>
          </a:prstGeom>
          <a:noFill/>
        </p:spPr>
        <p:txBody>
          <a:bodyPr wrap="square" rtlCol="0">
            <a:spAutoFit/>
          </a:bodyPr>
          <a:lstStyle/>
          <a:p>
            <a:r>
              <a:rPr lang="en-US" dirty="0" err="1">
                <a:solidFill>
                  <a:srgbClr val="236356"/>
                </a:solidFill>
                <a:latin typeface="Consolas" panose="020B0609020204030204" pitchFamily="49" charset="0"/>
              </a:rPr>
              <a:t>poor_conda</a:t>
            </a:r>
            <a:r>
              <a:rPr lang="en-US" dirty="0">
                <a:solidFill>
                  <a:srgbClr val="236356"/>
                </a:solidFill>
                <a:latin typeface="Consolas" panose="020B0609020204030204" pitchFamily="49" charset="0"/>
              </a:rPr>
              <a:t> deactivate</a:t>
            </a:r>
            <a:endParaRPr lang="en-US" dirty="0">
              <a:solidFill>
                <a:srgbClr val="236356"/>
              </a:solidFill>
              <a:highlight>
                <a:srgbClr val="FFFF00"/>
              </a:highlight>
              <a:latin typeface="Consolas" panose="020B0609020204030204" pitchFamily="49" charset="0"/>
            </a:endParaRPr>
          </a:p>
          <a:p>
            <a:endParaRPr lang="en-US" dirty="0">
              <a:solidFill>
                <a:srgbClr val="94573F"/>
              </a:solidFill>
              <a:latin typeface="Consolas" panose="020B0609020204030204" pitchFamily="49" charset="0"/>
            </a:endParaRPr>
          </a:p>
          <a:p>
            <a:endParaRPr lang="en-US" dirty="0">
              <a:solidFill>
                <a:srgbClr val="94573F"/>
              </a:solidFill>
              <a:latin typeface="Consolas" panose="020B0609020204030204" pitchFamily="49" charset="0"/>
            </a:endParaRPr>
          </a:p>
          <a:p>
            <a:endParaRPr lang="en-US" dirty="0">
              <a:solidFill>
                <a:srgbClr val="94573F"/>
              </a:solidFill>
              <a:latin typeface="Consolas" panose="020B0609020204030204" pitchFamily="49" charset="0"/>
            </a:endParaRPr>
          </a:p>
          <a:p>
            <a:endParaRPr lang="en-US" dirty="0">
              <a:solidFill>
                <a:srgbClr val="94573F"/>
              </a:solidFill>
              <a:latin typeface="Consolas" panose="020B0609020204030204" pitchFamily="49" charset="0"/>
            </a:endParaRPr>
          </a:p>
          <a:p>
            <a:r>
              <a:rPr lang="en-US" dirty="0">
                <a:solidFill>
                  <a:srgbClr val="94573F"/>
                </a:solidFill>
                <a:latin typeface="Consolas" panose="020B0609020204030204" pitchFamily="49" charset="0"/>
              </a:rPr>
              <a:t>PATH = OLD_PATH</a:t>
            </a:r>
          </a:p>
          <a:p>
            <a:endParaRPr lang="en-US" dirty="0">
              <a:solidFill>
                <a:srgbClr val="94573F"/>
              </a:solidFill>
              <a:latin typeface="Consolas" panose="020B0609020204030204" pitchFamily="49" charset="0"/>
            </a:endParaRPr>
          </a:p>
          <a:p>
            <a:r>
              <a:rPr lang="en-US" dirty="0">
                <a:solidFill>
                  <a:srgbClr val="94573F"/>
                </a:solidFill>
                <a:latin typeface="Consolas" panose="020B0609020204030204" pitchFamily="49" charset="0"/>
              </a:rPr>
              <a:t>Run OLD_INIT_SCRIPT</a:t>
            </a:r>
          </a:p>
        </p:txBody>
      </p:sp>
    </p:spTree>
    <p:extLst>
      <p:ext uri="{BB962C8B-B14F-4D97-AF65-F5344CB8AC3E}">
        <p14:creationId xmlns:p14="http://schemas.microsoft.com/office/powerpoint/2010/main" val="13716558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E74F8-830D-48A3-B7A4-8B1774E4A229}"/>
              </a:ext>
            </a:extLst>
          </p:cNvPr>
          <p:cNvSpPr>
            <a:spLocks noGrp="1"/>
          </p:cNvSpPr>
          <p:nvPr>
            <p:ph type="title"/>
          </p:nvPr>
        </p:nvSpPr>
        <p:spPr>
          <a:xfrm>
            <a:off x="778906" y="345841"/>
            <a:ext cx="10515600" cy="1325563"/>
          </a:xfrm>
        </p:spPr>
        <p:txBody>
          <a:bodyPr/>
          <a:lstStyle/>
          <a:p>
            <a:r>
              <a:rPr lang="en-US" dirty="0"/>
              <a:t>Creation of a new env means</a:t>
            </a:r>
            <a:endParaRPr lang="en-US" dirty="0">
              <a:latin typeface="Consolas" panose="020B0609020204030204" pitchFamily="49" charset="0"/>
            </a:endParaRPr>
          </a:p>
        </p:txBody>
      </p:sp>
      <p:sp>
        <p:nvSpPr>
          <p:cNvPr id="3" name="TextBox 2">
            <a:extLst>
              <a:ext uri="{FF2B5EF4-FFF2-40B4-BE49-F238E27FC236}">
                <a16:creationId xmlns:a16="http://schemas.microsoft.com/office/drawing/2014/main" id="{2573D2B9-B900-7AA0-A76B-3CF6FD5F0B86}"/>
              </a:ext>
            </a:extLst>
          </p:cNvPr>
          <p:cNvSpPr txBox="1"/>
          <p:nvPr/>
        </p:nvSpPr>
        <p:spPr>
          <a:xfrm>
            <a:off x="778906" y="1640666"/>
            <a:ext cx="5989539" cy="923330"/>
          </a:xfrm>
          <a:prstGeom prst="rect">
            <a:avLst/>
          </a:prstGeom>
          <a:noFill/>
        </p:spPr>
        <p:txBody>
          <a:bodyPr wrap="square" rtlCol="0">
            <a:spAutoFit/>
          </a:bodyPr>
          <a:lstStyle/>
          <a:p>
            <a:r>
              <a:rPr lang="en-US" sz="1800" b="0" dirty="0" err="1">
                <a:solidFill>
                  <a:srgbClr val="00BDD6"/>
                </a:solidFill>
                <a:effectLst/>
                <a:latin typeface="Consolas" panose="020B0609020204030204" pitchFamily="49" charset="0"/>
              </a:rPr>
              <a:t>conda</a:t>
            </a:r>
            <a:r>
              <a:rPr lang="en-US" sz="1800" b="0" dirty="0">
                <a:solidFill>
                  <a:srgbClr val="FA8900"/>
                </a:solidFill>
                <a:effectLst/>
                <a:latin typeface="Consolas" panose="020B0609020204030204" pitchFamily="49" charset="0"/>
              </a:rPr>
              <a:t> </a:t>
            </a:r>
            <a:r>
              <a:rPr lang="en-US" sz="1800" b="0" dirty="0">
                <a:solidFill>
                  <a:srgbClr val="00B368"/>
                </a:solidFill>
                <a:effectLst/>
                <a:latin typeface="Consolas" panose="020B0609020204030204" pitchFamily="49" charset="0"/>
              </a:rPr>
              <a:t>create</a:t>
            </a:r>
            <a:r>
              <a:rPr lang="en-US" sz="1800" b="0" dirty="0">
                <a:solidFill>
                  <a:srgbClr val="FA8900"/>
                </a:solidFill>
                <a:effectLst/>
                <a:latin typeface="Consolas" panose="020B0609020204030204" pitchFamily="49" charset="0"/>
              </a:rPr>
              <a:t> </a:t>
            </a:r>
            <a:r>
              <a:rPr lang="en-US" sz="1800" b="0" dirty="0">
                <a:solidFill>
                  <a:srgbClr val="A88C00"/>
                </a:solidFill>
                <a:effectLst/>
                <a:latin typeface="Consolas" panose="020B0609020204030204" pitchFamily="49" charset="0"/>
              </a:rPr>
              <a:t>--name</a:t>
            </a:r>
            <a:r>
              <a:rPr lang="en-US" sz="1800" b="0" dirty="0">
                <a:solidFill>
                  <a:srgbClr val="FA8900"/>
                </a:solidFill>
                <a:effectLst/>
                <a:latin typeface="Consolas" panose="020B0609020204030204" pitchFamily="49" charset="0"/>
              </a:rPr>
              <a:t> </a:t>
            </a:r>
            <a:r>
              <a:rPr lang="en-US" sz="1800" b="0" dirty="0" err="1">
                <a:solidFill>
                  <a:srgbClr val="00B368"/>
                </a:solidFill>
                <a:effectLst/>
                <a:latin typeface="Consolas" panose="020B0609020204030204" pitchFamily="49" charset="0"/>
              </a:rPr>
              <a:t>adv_python</a:t>
            </a:r>
            <a:r>
              <a:rPr lang="en-US" sz="1800" b="0" dirty="0">
                <a:solidFill>
                  <a:srgbClr val="FA8900"/>
                </a:solidFill>
                <a:effectLst/>
                <a:latin typeface="Consolas" panose="020B0609020204030204" pitchFamily="49" charset="0"/>
              </a:rPr>
              <a:t> </a:t>
            </a:r>
            <a:r>
              <a:rPr lang="en-US" sz="1800" b="0" dirty="0">
                <a:solidFill>
                  <a:srgbClr val="00B368"/>
                </a:solidFill>
                <a:effectLst/>
                <a:latin typeface="Consolas" panose="020B0609020204030204" pitchFamily="49" charset="0"/>
              </a:rPr>
              <a:t>python=</a:t>
            </a:r>
            <a:r>
              <a:rPr lang="en-US" sz="1800" b="0" dirty="0">
                <a:solidFill>
                  <a:srgbClr val="5842FF"/>
                </a:solidFill>
                <a:effectLst/>
                <a:latin typeface="Consolas" panose="020B0609020204030204" pitchFamily="49" charset="0"/>
              </a:rPr>
              <a:t>3.10</a:t>
            </a:r>
            <a:endParaRPr lang="en-US" sz="1800" b="0" dirty="0">
              <a:solidFill>
                <a:srgbClr val="005661"/>
              </a:solidFill>
              <a:effectLst/>
              <a:latin typeface="Consolas" panose="020B0609020204030204" pitchFamily="49" charset="0"/>
            </a:endParaRPr>
          </a:p>
          <a:p>
            <a:endParaRPr lang="en-US" dirty="0">
              <a:solidFill>
                <a:srgbClr val="94573F"/>
              </a:solidFill>
              <a:latin typeface="Consolas" panose="020B0609020204030204" pitchFamily="49" charset="0"/>
            </a:endParaRPr>
          </a:p>
          <a:p>
            <a:r>
              <a:rPr lang="en-US" dirty="0">
                <a:solidFill>
                  <a:srgbClr val="94573F"/>
                </a:solidFill>
                <a:latin typeface="Georgia" panose="02040502050405020303" pitchFamily="18" charset="0"/>
              </a:rPr>
              <a:t>Creates an entry in ~/.</a:t>
            </a:r>
            <a:r>
              <a:rPr lang="en-US" dirty="0" err="1">
                <a:solidFill>
                  <a:srgbClr val="94573F"/>
                </a:solidFill>
                <a:latin typeface="Georgia" panose="02040502050405020303" pitchFamily="18" charset="0"/>
              </a:rPr>
              <a:t>conda</a:t>
            </a:r>
            <a:r>
              <a:rPr lang="en-US" dirty="0">
                <a:solidFill>
                  <a:srgbClr val="94573F"/>
                </a:solidFill>
                <a:latin typeface="Georgia" panose="02040502050405020303" pitchFamily="18" charset="0"/>
              </a:rPr>
              <a:t>/environments.txt</a:t>
            </a:r>
          </a:p>
        </p:txBody>
      </p:sp>
      <p:pic>
        <p:nvPicPr>
          <p:cNvPr id="6" name="Picture 5">
            <a:extLst>
              <a:ext uri="{FF2B5EF4-FFF2-40B4-BE49-F238E27FC236}">
                <a16:creationId xmlns:a16="http://schemas.microsoft.com/office/drawing/2014/main" id="{EFA72950-B51D-8A4A-D7A0-13048B4B6C68}"/>
              </a:ext>
            </a:extLst>
          </p:cNvPr>
          <p:cNvPicPr>
            <a:picLocks noChangeAspect="1"/>
          </p:cNvPicPr>
          <p:nvPr/>
        </p:nvPicPr>
        <p:blipFill>
          <a:blip r:embed="rId2"/>
          <a:stretch>
            <a:fillRect/>
          </a:stretch>
        </p:blipFill>
        <p:spPr>
          <a:xfrm>
            <a:off x="2831592" y="3019492"/>
            <a:ext cx="5811061" cy="3086531"/>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587637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E74F8-830D-48A3-B7A4-8B1774E4A229}"/>
              </a:ext>
            </a:extLst>
          </p:cNvPr>
          <p:cNvSpPr>
            <a:spLocks noGrp="1"/>
          </p:cNvSpPr>
          <p:nvPr>
            <p:ph type="title"/>
          </p:nvPr>
        </p:nvSpPr>
        <p:spPr>
          <a:xfrm>
            <a:off x="778906" y="345841"/>
            <a:ext cx="10515600" cy="1325563"/>
          </a:xfrm>
        </p:spPr>
        <p:txBody>
          <a:bodyPr/>
          <a:lstStyle/>
          <a:p>
            <a:r>
              <a:rPr lang="en-US" dirty="0"/>
              <a:t>Creation of a new env means</a:t>
            </a:r>
            <a:endParaRPr lang="en-US" dirty="0">
              <a:latin typeface="Consolas" panose="020B0609020204030204" pitchFamily="49" charset="0"/>
            </a:endParaRPr>
          </a:p>
        </p:txBody>
      </p:sp>
      <p:sp>
        <p:nvSpPr>
          <p:cNvPr id="3" name="TextBox 2">
            <a:extLst>
              <a:ext uri="{FF2B5EF4-FFF2-40B4-BE49-F238E27FC236}">
                <a16:creationId xmlns:a16="http://schemas.microsoft.com/office/drawing/2014/main" id="{2573D2B9-B900-7AA0-A76B-3CF6FD5F0B86}"/>
              </a:ext>
            </a:extLst>
          </p:cNvPr>
          <p:cNvSpPr txBox="1"/>
          <p:nvPr/>
        </p:nvSpPr>
        <p:spPr>
          <a:xfrm>
            <a:off x="778906" y="1640666"/>
            <a:ext cx="6289804" cy="923330"/>
          </a:xfrm>
          <a:prstGeom prst="rect">
            <a:avLst/>
          </a:prstGeom>
          <a:noFill/>
        </p:spPr>
        <p:txBody>
          <a:bodyPr wrap="square" rtlCol="0">
            <a:spAutoFit/>
          </a:bodyPr>
          <a:lstStyle/>
          <a:p>
            <a:r>
              <a:rPr lang="en-US" sz="1800" b="0" dirty="0" err="1">
                <a:solidFill>
                  <a:srgbClr val="00BDD6"/>
                </a:solidFill>
                <a:effectLst/>
                <a:latin typeface="Consolas" panose="020B0609020204030204" pitchFamily="49" charset="0"/>
              </a:rPr>
              <a:t>conda</a:t>
            </a:r>
            <a:r>
              <a:rPr lang="en-US" sz="1800" b="0" dirty="0">
                <a:solidFill>
                  <a:srgbClr val="FA8900"/>
                </a:solidFill>
                <a:effectLst/>
                <a:latin typeface="Consolas" panose="020B0609020204030204" pitchFamily="49" charset="0"/>
              </a:rPr>
              <a:t> </a:t>
            </a:r>
            <a:r>
              <a:rPr lang="en-US" sz="1800" b="0" dirty="0">
                <a:solidFill>
                  <a:srgbClr val="00B368"/>
                </a:solidFill>
                <a:effectLst/>
                <a:latin typeface="Consolas" panose="020B0609020204030204" pitchFamily="49" charset="0"/>
              </a:rPr>
              <a:t>create</a:t>
            </a:r>
            <a:r>
              <a:rPr lang="en-US" sz="1800" b="0" dirty="0">
                <a:solidFill>
                  <a:srgbClr val="FA8900"/>
                </a:solidFill>
                <a:effectLst/>
                <a:latin typeface="Consolas" panose="020B0609020204030204" pitchFamily="49" charset="0"/>
              </a:rPr>
              <a:t> </a:t>
            </a:r>
            <a:r>
              <a:rPr lang="en-US" sz="1800" b="0" dirty="0">
                <a:solidFill>
                  <a:srgbClr val="A88C00"/>
                </a:solidFill>
                <a:effectLst/>
                <a:latin typeface="Consolas" panose="020B0609020204030204" pitchFamily="49" charset="0"/>
              </a:rPr>
              <a:t>--name</a:t>
            </a:r>
            <a:r>
              <a:rPr lang="en-US" sz="1800" b="0" dirty="0">
                <a:solidFill>
                  <a:srgbClr val="FA8900"/>
                </a:solidFill>
                <a:effectLst/>
                <a:latin typeface="Consolas" panose="020B0609020204030204" pitchFamily="49" charset="0"/>
              </a:rPr>
              <a:t> </a:t>
            </a:r>
            <a:r>
              <a:rPr lang="en-US" sz="1800" b="0" dirty="0" err="1">
                <a:solidFill>
                  <a:srgbClr val="00B368"/>
                </a:solidFill>
                <a:effectLst/>
                <a:latin typeface="Consolas" panose="020B0609020204030204" pitchFamily="49" charset="0"/>
              </a:rPr>
              <a:t>adv_python</a:t>
            </a:r>
            <a:r>
              <a:rPr lang="en-US" sz="1800" b="0" dirty="0">
                <a:solidFill>
                  <a:srgbClr val="FA8900"/>
                </a:solidFill>
                <a:effectLst/>
                <a:latin typeface="Consolas" panose="020B0609020204030204" pitchFamily="49" charset="0"/>
              </a:rPr>
              <a:t> </a:t>
            </a:r>
            <a:r>
              <a:rPr lang="en-US" sz="1800" b="0" dirty="0">
                <a:solidFill>
                  <a:srgbClr val="00B368"/>
                </a:solidFill>
                <a:effectLst/>
                <a:latin typeface="Consolas" panose="020B0609020204030204" pitchFamily="49" charset="0"/>
              </a:rPr>
              <a:t>python=</a:t>
            </a:r>
            <a:r>
              <a:rPr lang="en-US" sz="1800" b="0" dirty="0">
                <a:solidFill>
                  <a:srgbClr val="5842FF"/>
                </a:solidFill>
                <a:effectLst/>
                <a:latin typeface="Consolas" panose="020B0609020204030204" pitchFamily="49" charset="0"/>
              </a:rPr>
              <a:t>3.10</a:t>
            </a:r>
            <a:endParaRPr lang="en-US" sz="1800" b="0" dirty="0">
              <a:solidFill>
                <a:srgbClr val="005661"/>
              </a:solidFill>
              <a:effectLst/>
              <a:latin typeface="Consolas" panose="020B0609020204030204" pitchFamily="49" charset="0"/>
            </a:endParaRPr>
          </a:p>
          <a:p>
            <a:endParaRPr lang="en-US" dirty="0">
              <a:solidFill>
                <a:srgbClr val="94573F"/>
              </a:solidFill>
              <a:latin typeface="Consolas" panose="020B0609020204030204" pitchFamily="49" charset="0"/>
            </a:endParaRPr>
          </a:p>
          <a:p>
            <a:r>
              <a:rPr lang="en-US" dirty="0">
                <a:solidFill>
                  <a:srgbClr val="94573F"/>
                </a:solidFill>
                <a:latin typeface="Georgia" panose="02040502050405020303" pitchFamily="18" charset="0"/>
              </a:rPr>
              <a:t>And populates ~/anaconda3/</a:t>
            </a:r>
            <a:r>
              <a:rPr lang="en-US" dirty="0" err="1">
                <a:solidFill>
                  <a:srgbClr val="94573F"/>
                </a:solidFill>
                <a:latin typeface="Georgia" panose="02040502050405020303" pitchFamily="18" charset="0"/>
              </a:rPr>
              <a:t>envs</a:t>
            </a:r>
            <a:r>
              <a:rPr lang="en-US" dirty="0">
                <a:solidFill>
                  <a:srgbClr val="94573F"/>
                </a:solidFill>
                <a:latin typeface="Georgia" panose="02040502050405020303" pitchFamily="18" charset="0"/>
              </a:rPr>
              <a:t>/</a:t>
            </a:r>
            <a:r>
              <a:rPr lang="en-US" dirty="0" err="1">
                <a:solidFill>
                  <a:srgbClr val="94573F"/>
                </a:solidFill>
                <a:latin typeface="Georgia" panose="02040502050405020303" pitchFamily="18" charset="0"/>
              </a:rPr>
              <a:t>adv_python</a:t>
            </a:r>
            <a:endParaRPr lang="en-US" dirty="0">
              <a:solidFill>
                <a:srgbClr val="94573F"/>
              </a:solidFill>
              <a:latin typeface="Georgia" panose="02040502050405020303" pitchFamily="18" charset="0"/>
            </a:endParaRPr>
          </a:p>
        </p:txBody>
      </p:sp>
      <p:pic>
        <p:nvPicPr>
          <p:cNvPr id="8" name="Picture 7">
            <a:extLst>
              <a:ext uri="{FF2B5EF4-FFF2-40B4-BE49-F238E27FC236}">
                <a16:creationId xmlns:a16="http://schemas.microsoft.com/office/drawing/2014/main" id="{C7B12DFB-735C-62F9-EF64-5A1528084D52}"/>
              </a:ext>
            </a:extLst>
          </p:cNvPr>
          <p:cNvPicPr>
            <a:picLocks noChangeAspect="1"/>
          </p:cNvPicPr>
          <p:nvPr/>
        </p:nvPicPr>
        <p:blipFill>
          <a:blip r:embed="rId2"/>
          <a:stretch>
            <a:fillRect/>
          </a:stretch>
        </p:blipFill>
        <p:spPr>
          <a:xfrm>
            <a:off x="2157113" y="2803592"/>
            <a:ext cx="7018317" cy="3886037"/>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0698855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EBDA9-2AE8-407D-53DA-563F747F4A91}"/>
              </a:ext>
            </a:extLst>
          </p:cNvPr>
          <p:cNvSpPr>
            <a:spLocks noGrp="1"/>
          </p:cNvSpPr>
          <p:nvPr>
            <p:ph type="title"/>
          </p:nvPr>
        </p:nvSpPr>
        <p:spPr/>
        <p:txBody>
          <a:bodyPr/>
          <a:lstStyle/>
          <a:p>
            <a:r>
              <a:rPr lang="en-US" strike="sngStrike" dirty="0"/>
              <a:t>Pro-tip</a:t>
            </a:r>
            <a:r>
              <a:rPr lang="en-US" dirty="0"/>
              <a:t> Rant: Create one env per project</a:t>
            </a:r>
          </a:p>
        </p:txBody>
      </p:sp>
      <p:sp>
        <p:nvSpPr>
          <p:cNvPr id="6" name="TextBox 5">
            <a:extLst>
              <a:ext uri="{FF2B5EF4-FFF2-40B4-BE49-F238E27FC236}">
                <a16:creationId xmlns:a16="http://schemas.microsoft.com/office/drawing/2014/main" id="{5A04F7D7-8F46-EE6E-8B3B-8BD471E2C1B2}"/>
              </a:ext>
            </a:extLst>
          </p:cNvPr>
          <p:cNvSpPr txBox="1"/>
          <p:nvPr/>
        </p:nvSpPr>
        <p:spPr>
          <a:xfrm>
            <a:off x="778906" y="1640666"/>
            <a:ext cx="10090527" cy="2585323"/>
          </a:xfrm>
          <a:prstGeom prst="rect">
            <a:avLst/>
          </a:prstGeom>
          <a:noFill/>
        </p:spPr>
        <p:txBody>
          <a:bodyPr wrap="square" rtlCol="0">
            <a:spAutoFit/>
          </a:bodyPr>
          <a:lstStyle/>
          <a:p>
            <a:r>
              <a:rPr lang="en-US" dirty="0">
                <a:solidFill>
                  <a:srgbClr val="94573F"/>
                </a:solidFill>
                <a:latin typeface="Georgia" panose="02040502050405020303" pitchFamily="18" charset="0"/>
              </a:rPr>
              <a:t>Shared or common environments for the whole team just don’t work!</a:t>
            </a:r>
          </a:p>
          <a:p>
            <a:r>
              <a:rPr lang="en-US" dirty="0">
                <a:solidFill>
                  <a:srgbClr val="94573F"/>
                </a:solidFill>
                <a:latin typeface="Georgia" panose="02040502050405020303" pitchFamily="18" charset="0"/>
              </a:rPr>
              <a:t>People will try to update or install packages, breaking the environment for everyone else </a:t>
            </a:r>
            <a:r>
              <a:rPr lang="en-US" dirty="0">
                <a:solidFill>
                  <a:srgbClr val="94573F"/>
                </a:solidFill>
                <a:latin typeface="Georgia" panose="02040502050405020303" pitchFamily="18" charset="0"/>
                <a:sym typeface="Wingdings" panose="05000000000000000000" pitchFamily="2" charset="2"/>
              </a:rPr>
              <a:t></a:t>
            </a:r>
          </a:p>
          <a:p>
            <a:endParaRPr lang="en-US" sz="1800" b="0" dirty="0">
              <a:solidFill>
                <a:srgbClr val="00BDD6"/>
              </a:solidFill>
              <a:effectLst/>
              <a:latin typeface="Consolas" panose="020B0609020204030204" pitchFamily="49" charset="0"/>
            </a:endParaRPr>
          </a:p>
          <a:p>
            <a:r>
              <a:rPr lang="en-US" sz="1800" b="0" dirty="0" err="1">
                <a:solidFill>
                  <a:srgbClr val="00BDD6"/>
                </a:solidFill>
                <a:effectLst/>
                <a:latin typeface="Consolas" panose="020B0609020204030204" pitchFamily="49" charset="0"/>
              </a:rPr>
              <a:t>conda</a:t>
            </a:r>
            <a:r>
              <a:rPr lang="en-US" sz="1800" b="0" dirty="0">
                <a:solidFill>
                  <a:srgbClr val="FA8900"/>
                </a:solidFill>
                <a:effectLst/>
                <a:latin typeface="Consolas" panose="020B0609020204030204" pitchFamily="49" charset="0"/>
              </a:rPr>
              <a:t> </a:t>
            </a:r>
            <a:r>
              <a:rPr lang="en-US" sz="1800" b="0" dirty="0">
                <a:solidFill>
                  <a:srgbClr val="00B368"/>
                </a:solidFill>
                <a:effectLst/>
                <a:latin typeface="Consolas" panose="020B0609020204030204" pitchFamily="49" charset="0"/>
              </a:rPr>
              <a:t>create</a:t>
            </a:r>
            <a:r>
              <a:rPr lang="en-US" sz="1800" b="0" dirty="0">
                <a:solidFill>
                  <a:srgbClr val="FA8900"/>
                </a:solidFill>
                <a:effectLst/>
                <a:latin typeface="Consolas" panose="020B0609020204030204" pitchFamily="49" charset="0"/>
              </a:rPr>
              <a:t> </a:t>
            </a:r>
            <a:r>
              <a:rPr lang="en-US" sz="1800" b="0" dirty="0">
                <a:solidFill>
                  <a:srgbClr val="A88C00"/>
                </a:solidFill>
                <a:effectLst/>
                <a:latin typeface="Consolas" panose="020B0609020204030204" pitchFamily="49" charset="0"/>
              </a:rPr>
              <a:t>--name</a:t>
            </a:r>
            <a:r>
              <a:rPr lang="en-US" sz="1800" b="0" dirty="0">
                <a:solidFill>
                  <a:srgbClr val="FA8900"/>
                </a:solidFill>
                <a:effectLst/>
                <a:latin typeface="Consolas" panose="020B0609020204030204" pitchFamily="49" charset="0"/>
              </a:rPr>
              <a:t> </a:t>
            </a:r>
            <a:r>
              <a:rPr lang="en-US" sz="1800" b="0" dirty="0">
                <a:solidFill>
                  <a:srgbClr val="00B368"/>
                </a:solidFill>
                <a:effectLst/>
                <a:latin typeface="Consolas" panose="020B0609020204030204" pitchFamily="49" charset="0"/>
              </a:rPr>
              <a:t>big_env</a:t>
            </a:r>
            <a:r>
              <a:rPr lang="en-US" sz="1800" b="1" dirty="0">
                <a:solidFill>
                  <a:srgbClr val="00B368"/>
                </a:solidFill>
                <a:effectLst/>
                <a:latin typeface="Consolas" panose="020B0609020204030204" pitchFamily="49" charset="0"/>
              </a:rPr>
              <a:t>1</a:t>
            </a:r>
            <a:r>
              <a:rPr lang="en-US" sz="1800" b="0" dirty="0">
                <a:solidFill>
                  <a:srgbClr val="FA8900"/>
                </a:solidFill>
                <a:effectLst/>
                <a:latin typeface="Consolas" panose="020B0609020204030204" pitchFamily="49" charset="0"/>
              </a:rPr>
              <a:t> </a:t>
            </a:r>
            <a:r>
              <a:rPr lang="en-US" sz="1800" b="0" dirty="0">
                <a:solidFill>
                  <a:srgbClr val="00B368"/>
                </a:solidFill>
                <a:effectLst/>
                <a:latin typeface="Consolas" panose="020B0609020204030204" pitchFamily="49" charset="0"/>
              </a:rPr>
              <a:t>python=</a:t>
            </a:r>
            <a:r>
              <a:rPr lang="en-US" sz="1800" b="0" dirty="0">
                <a:solidFill>
                  <a:srgbClr val="5842FF"/>
                </a:solidFill>
                <a:effectLst/>
                <a:latin typeface="Consolas" panose="020B0609020204030204" pitchFamily="49" charset="0"/>
              </a:rPr>
              <a:t>3.10 </a:t>
            </a:r>
            <a:r>
              <a:rPr lang="en-US" sz="1800" dirty="0">
                <a:solidFill>
                  <a:srgbClr val="FF0000"/>
                </a:solidFill>
                <a:latin typeface="Consolas" panose="020B0609020204030204" pitchFamily="49" charset="0"/>
              </a:rPr>
              <a:t>r-essentials r-base</a:t>
            </a:r>
          </a:p>
          <a:p>
            <a:r>
              <a:rPr lang="en-US" sz="1800" b="0" dirty="0" err="1">
                <a:solidFill>
                  <a:srgbClr val="00BDD6"/>
                </a:solidFill>
                <a:effectLst/>
                <a:latin typeface="Consolas" panose="020B0609020204030204" pitchFamily="49" charset="0"/>
              </a:rPr>
              <a:t>conda</a:t>
            </a:r>
            <a:r>
              <a:rPr lang="en-US" sz="1800" b="0" dirty="0">
                <a:solidFill>
                  <a:srgbClr val="FA8900"/>
                </a:solidFill>
                <a:effectLst/>
                <a:latin typeface="Consolas" panose="020B0609020204030204" pitchFamily="49" charset="0"/>
              </a:rPr>
              <a:t> </a:t>
            </a:r>
            <a:r>
              <a:rPr lang="en-US" sz="1800" b="0" dirty="0">
                <a:solidFill>
                  <a:srgbClr val="00B368"/>
                </a:solidFill>
                <a:effectLst/>
                <a:latin typeface="Consolas" panose="020B0609020204030204" pitchFamily="49" charset="0"/>
              </a:rPr>
              <a:t>create</a:t>
            </a:r>
            <a:r>
              <a:rPr lang="en-US" sz="1800" b="0" dirty="0">
                <a:solidFill>
                  <a:srgbClr val="FA8900"/>
                </a:solidFill>
                <a:effectLst/>
                <a:latin typeface="Consolas" panose="020B0609020204030204" pitchFamily="49" charset="0"/>
              </a:rPr>
              <a:t> </a:t>
            </a:r>
            <a:r>
              <a:rPr lang="en-US" sz="1800" b="0" dirty="0">
                <a:solidFill>
                  <a:srgbClr val="A88C00"/>
                </a:solidFill>
                <a:effectLst/>
                <a:latin typeface="Consolas" panose="020B0609020204030204" pitchFamily="49" charset="0"/>
              </a:rPr>
              <a:t>--name</a:t>
            </a:r>
            <a:r>
              <a:rPr lang="en-US" sz="1800" b="0" dirty="0">
                <a:solidFill>
                  <a:srgbClr val="FA8900"/>
                </a:solidFill>
                <a:effectLst/>
                <a:latin typeface="Consolas" panose="020B0609020204030204" pitchFamily="49" charset="0"/>
              </a:rPr>
              <a:t> </a:t>
            </a:r>
            <a:r>
              <a:rPr lang="en-US" sz="1800" b="0" dirty="0">
                <a:solidFill>
                  <a:srgbClr val="00B368"/>
                </a:solidFill>
                <a:effectLst/>
                <a:latin typeface="Consolas" panose="020B0609020204030204" pitchFamily="49" charset="0"/>
              </a:rPr>
              <a:t>big_env</a:t>
            </a:r>
            <a:r>
              <a:rPr lang="en-US" sz="1800" b="1" dirty="0">
                <a:solidFill>
                  <a:srgbClr val="00B368"/>
                </a:solidFill>
                <a:effectLst/>
                <a:latin typeface="Consolas" panose="020B0609020204030204" pitchFamily="49" charset="0"/>
              </a:rPr>
              <a:t>2</a:t>
            </a:r>
            <a:r>
              <a:rPr lang="en-US" sz="1800" b="0" dirty="0">
                <a:solidFill>
                  <a:srgbClr val="FA8900"/>
                </a:solidFill>
                <a:effectLst/>
                <a:latin typeface="Consolas" panose="020B0609020204030204" pitchFamily="49" charset="0"/>
              </a:rPr>
              <a:t> </a:t>
            </a:r>
            <a:r>
              <a:rPr lang="en-US" sz="1800" b="0" dirty="0">
                <a:solidFill>
                  <a:srgbClr val="00B368"/>
                </a:solidFill>
                <a:effectLst/>
                <a:latin typeface="Consolas" panose="020B0609020204030204" pitchFamily="49" charset="0"/>
              </a:rPr>
              <a:t>python=</a:t>
            </a:r>
            <a:r>
              <a:rPr lang="en-US" sz="1800" b="0" dirty="0">
                <a:solidFill>
                  <a:srgbClr val="5842FF"/>
                </a:solidFill>
                <a:effectLst/>
                <a:latin typeface="Consolas" panose="020B0609020204030204" pitchFamily="49" charset="0"/>
              </a:rPr>
              <a:t>3.10 </a:t>
            </a:r>
            <a:r>
              <a:rPr lang="en-US" sz="1800" dirty="0">
                <a:solidFill>
                  <a:srgbClr val="FF0000"/>
                </a:solidFill>
                <a:latin typeface="Consolas" panose="020B0609020204030204" pitchFamily="49" charset="0"/>
              </a:rPr>
              <a:t>r-essentials r-base</a:t>
            </a:r>
          </a:p>
          <a:p>
            <a:endParaRPr lang="en-US" dirty="0">
              <a:solidFill>
                <a:srgbClr val="94573F"/>
              </a:solidFill>
              <a:latin typeface="Georgia" panose="02040502050405020303" pitchFamily="18" charset="0"/>
              <a:sym typeface="Wingdings" panose="05000000000000000000" pitchFamily="2" charset="2"/>
            </a:endParaRPr>
          </a:p>
          <a:p>
            <a:r>
              <a:rPr lang="en-US" dirty="0">
                <a:solidFill>
                  <a:srgbClr val="94573F"/>
                </a:solidFill>
                <a:latin typeface="Georgia" panose="02040502050405020303" pitchFamily="18" charset="0"/>
                <a:sym typeface="Wingdings" panose="05000000000000000000" pitchFamily="2" charset="2"/>
              </a:rPr>
              <a:t>Each environment is 4 GB!</a:t>
            </a:r>
          </a:p>
          <a:p>
            <a:endParaRPr lang="en-US" dirty="0">
              <a:solidFill>
                <a:srgbClr val="94573F"/>
              </a:solidFill>
              <a:latin typeface="Georgia" panose="02040502050405020303" pitchFamily="18" charset="0"/>
              <a:sym typeface="Wingdings" panose="05000000000000000000" pitchFamily="2" charset="2"/>
            </a:endParaRPr>
          </a:p>
          <a:p>
            <a:r>
              <a:rPr lang="en-US" dirty="0">
                <a:solidFill>
                  <a:srgbClr val="94573F"/>
                </a:solidFill>
                <a:latin typeface="Georgia" panose="02040502050405020303" pitchFamily="18" charset="0"/>
                <a:sym typeface="Wingdings" panose="05000000000000000000" pitchFamily="2" charset="2"/>
              </a:rPr>
              <a:t>Is the disk usage worth it?</a:t>
            </a:r>
            <a:endParaRPr lang="en-US" dirty="0">
              <a:solidFill>
                <a:srgbClr val="94573F"/>
              </a:solidFill>
              <a:latin typeface="Georgia" panose="02040502050405020303" pitchFamily="18" charset="0"/>
            </a:endParaRPr>
          </a:p>
        </p:txBody>
      </p:sp>
      <p:pic>
        <p:nvPicPr>
          <p:cNvPr id="14" name="Picture 13">
            <a:extLst>
              <a:ext uri="{FF2B5EF4-FFF2-40B4-BE49-F238E27FC236}">
                <a16:creationId xmlns:a16="http://schemas.microsoft.com/office/drawing/2014/main" id="{74BC8B03-E500-BE8E-8DA7-49C7C5C484C5}"/>
              </a:ext>
            </a:extLst>
          </p:cNvPr>
          <p:cNvPicPr>
            <a:picLocks noChangeAspect="1"/>
          </p:cNvPicPr>
          <p:nvPr/>
        </p:nvPicPr>
        <p:blipFill>
          <a:blip r:embed="rId2"/>
          <a:stretch>
            <a:fillRect/>
          </a:stretch>
        </p:blipFill>
        <p:spPr>
          <a:xfrm>
            <a:off x="7482176" y="3291986"/>
            <a:ext cx="2512613" cy="3408967"/>
          </a:xfrm>
          <a:prstGeom prst="rect">
            <a:avLst/>
          </a:prstGeom>
          <a:effectLst>
            <a:outerShdw blurRad="50800" dist="38100" dir="2700000" algn="tl" rotWithShape="0">
              <a:prstClr val="black">
                <a:alpha val="40000"/>
              </a:prstClr>
            </a:outerShdw>
          </a:effectLst>
        </p:spPr>
      </p:pic>
      <p:pic>
        <p:nvPicPr>
          <p:cNvPr id="16" name="Picture 15">
            <a:extLst>
              <a:ext uri="{FF2B5EF4-FFF2-40B4-BE49-F238E27FC236}">
                <a16:creationId xmlns:a16="http://schemas.microsoft.com/office/drawing/2014/main" id="{A2787362-9E27-B394-BFC1-4C94ADEF5859}"/>
              </a:ext>
            </a:extLst>
          </p:cNvPr>
          <p:cNvPicPr>
            <a:picLocks noChangeAspect="1"/>
          </p:cNvPicPr>
          <p:nvPr/>
        </p:nvPicPr>
        <p:blipFill>
          <a:blip r:embed="rId3"/>
          <a:stretch>
            <a:fillRect/>
          </a:stretch>
        </p:blipFill>
        <p:spPr>
          <a:xfrm>
            <a:off x="4738808" y="3291986"/>
            <a:ext cx="2597647" cy="3408967"/>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2403116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EBDA9-2AE8-407D-53DA-563F747F4A91}"/>
              </a:ext>
            </a:extLst>
          </p:cNvPr>
          <p:cNvSpPr>
            <a:spLocks noGrp="1"/>
          </p:cNvSpPr>
          <p:nvPr>
            <p:ph type="title"/>
          </p:nvPr>
        </p:nvSpPr>
        <p:spPr/>
        <p:txBody>
          <a:bodyPr/>
          <a:lstStyle/>
          <a:p>
            <a:r>
              <a:rPr lang="en-US" strike="sngStrike" dirty="0"/>
              <a:t>Pro-tip</a:t>
            </a:r>
            <a:r>
              <a:rPr lang="en-US" dirty="0"/>
              <a:t> Rant: Create one env per project</a:t>
            </a:r>
          </a:p>
        </p:txBody>
      </p:sp>
      <p:sp>
        <p:nvSpPr>
          <p:cNvPr id="6" name="TextBox 5">
            <a:extLst>
              <a:ext uri="{FF2B5EF4-FFF2-40B4-BE49-F238E27FC236}">
                <a16:creationId xmlns:a16="http://schemas.microsoft.com/office/drawing/2014/main" id="{5A04F7D7-8F46-EE6E-8B3B-8BD471E2C1B2}"/>
              </a:ext>
            </a:extLst>
          </p:cNvPr>
          <p:cNvSpPr txBox="1"/>
          <p:nvPr/>
        </p:nvSpPr>
        <p:spPr>
          <a:xfrm>
            <a:off x="778906" y="1348435"/>
            <a:ext cx="10090527" cy="369332"/>
          </a:xfrm>
          <a:prstGeom prst="rect">
            <a:avLst/>
          </a:prstGeom>
          <a:noFill/>
        </p:spPr>
        <p:txBody>
          <a:bodyPr wrap="square" rtlCol="0">
            <a:spAutoFit/>
          </a:bodyPr>
          <a:lstStyle/>
          <a:p>
            <a:r>
              <a:rPr lang="en-US" dirty="0">
                <a:solidFill>
                  <a:srgbClr val="94573F"/>
                </a:solidFill>
                <a:latin typeface="Georgia" panose="02040502050405020303" pitchFamily="18" charset="0"/>
                <a:sym typeface="Wingdings" panose="05000000000000000000" pitchFamily="2" charset="2"/>
              </a:rPr>
              <a:t>Creating new environments is </a:t>
            </a:r>
            <a:r>
              <a:rPr lang="en-US" b="1" dirty="0">
                <a:solidFill>
                  <a:srgbClr val="94573F"/>
                </a:solidFill>
                <a:latin typeface="Georgia" panose="02040502050405020303" pitchFamily="18" charset="0"/>
                <a:sym typeface="Wingdings" panose="05000000000000000000" pitchFamily="2" charset="2"/>
              </a:rPr>
              <a:t>actually</a:t>
            </a:r>
            <a:r>
              <a:rPr lang="en-US" dirty="0">
                <a:solidFill>
                  <a:srgbClr val="94573F"/>
                </a:solidFill>
                <a:latin typeface="Georgia" panose="02040502050405020303" pitchFamily="18" charset="0"/>
                <a:sym typeface="Wingdings" panose="05000000000000000000" pitchFamily="2" charset="2"/>
              </a:rPr>
              <a:t> not very expensive:</a:t>
            </a:r>
            <a:endParaRPr lang="en-US" dirty="0">
              <a:solidFill>
                <a:srgbClr val="94573F"/>
              </a:solidFill>
              <a:latin typeface="Georgia" panose="02040502050405020303" pitchFamily="18" charset="0"/>
            </a:endParaRPr>
          </a:p>
        </p:txBody>
      </p:sp>
      <p:pic>
        <p:nvPicPr>
          <p:cNvPr id="8" name="Picture 7">
            <a:extLst>
              <a:ext uri="{FF2B5EF4-FFF2-40B4-BE49-F238E27FC236}">
                <a16:creationId xmlns:a16="http://schemas.microsoft.com/office/drawing/2014/main" id="{02B81B2C-8AE9-3B64-18D8-92ECAAF1488D}"/>
              </a:ext>
            </a:extLst>
          </p:cNvPr>
          <p:cNvPicPr>
            <a:picLocks noChangeAspect="1"/>
          </p:cNvPicPr>
          <p:nvPr/>
        </p:nvPicPr>
        <p:blipFill>
          <a:blip r:embed="rId2"/>
          <a:stretch>
            <a:fillRect/>
          </a:stretch>
        </p:blipFill>
        <p:spPr>
          <a:xfrm>
            <a:off x="567821" y="2297700"/>
            <a:ext cx="2570481" cy="3524620"/>
          </a:xfrm>
          <a:prstGeom prst="rect">
            <a:avLst/>
          </a:prstGeom>
          <a:effectLst>
            <a:outerShdw blurRad="50800" dist="38100" dir="2700000" algn="tl" rotWithShape="0">
              <a:prstClr val="black">
                <a:alpha val="40000"/>
              </a:prstClr>
            </a:outerShdw>
          </a:effectLst>
        </p:spPr>
      </p:pic>
      <p:pic>
        <p:nvPicPr>
          <p:cNvPr id="10" name="Picture 9">
            <a:extLst>
              <a:ext uri="{FF2B5EF4-FFF2-40B4-BE49-F238E27FC236}">
                <a16:creationId xmlns:a16="http://schemas.microsoft.com/office/drawing/2014/main" id="{988CAFC1-6D82-89A4-9DFC-DFEC6D5FE4A8}"/>
              </a:ext>
            </a:extLst>
          </p:cNvPr>
          <p:cNvPicPr>
            <a:picLocks noChangeAspect="1"/>
          </p:cNvPicPr>
          <p:nvPr/>
        </p:nvPicPr>
        <p:blipFill>
          <a:blip r:embed="rId3"/>
          <a:stretch>
            <a:fillRect/>
          </a:stretch>
        </p:blipFill>
        <p:spPr>
          <a:xfrm>
            <a:off x="4376753" y="2256582"/>
            <a:ext cx="2570482" cy="3565738"/>
          </a:xfrm>
          <a:prstGeom prst="rect">
            <a:avLst/>
          </a:prstGeom>
          <a:effectLst>
            <a:outerShdw blurRad="50800" dist="38100" dir="2700000" algn="tl" rotWithShape="0">
              <a:prstClr val="black">
                <a:alpha val="40000"/>
              </a:prstClr>
            </a:outerShdw>
          </a:effectLst>
        </p:spPr>
      </p:pic>
      <p:pic>
        <p:nvPicPr>
          <p:cNvPr id="12" name="Picture 11">
            <a:extLst>
              <a:ext uri="{FF2B5EF4-FFF2-40B4-BE49-F238E27FC236}">
                <a16:creationId xmlns:a16="http://schemas.microsoft.com/office/drawing/2014/main" id="{FA9035B6-9B94-2046-B671-9DE661F18D53}"/>
              </a:ext>
            </a:extLst>
          </p:cNvPr>
          <p:cNvPicPr>
            <a:picLocks noChangeAspect="1"/>
          </p:cNvPicPr>
          <p:nvPr/>
        </p:nvPicPr>
        <p:blipFill>
          <a:blip r:embed="rId4"/>
          <a:stretch>
            <a:fillRect/>
          </a:stretch>
        </p:blipFill>
        <p:spPr>
          <a:xfrm>
            <a:off x="8185686" y="2342704"/>
            <a:ext cx="2477486" cy="3479616"/>
          </a:xfrm>
          <a:prstGeom prst="rect">
            <a:avLst/>
          </a:prstGeom>
          <a:effectLst>
            <a:outerShdw blurRad="50800" dist="38100" dir="2700000" algn="tl" rotWithShape="0">
              <a:prstClr val="black">
                <a:alpha val="40000"/>
              </a:prstClr>
            </a:outerShdw>
          </a:effectLst>
        </p:spPr>
      </p:pic>
      <p:sp>
        <p:nvSpPr>
          <p:cNvPr id="4" name="TextBox 3">
            <a:extLst>
              <a:ext uri="{FF2B5EF4-FFF2-40B4-BE49-F238E27FC236}">
                <a16:creationId xmlns:a16="http://schemas.microsoft.com/office/drawing/2014/main" id="{C2089272-BE0C-DFB5-A706-5E2C8C19DEBF}"/>
              </a:ext>
            </a:extLst>
          </p:cNvPr>
          <p:cNvSpPr txBox="1"/>
          <p:nvPr/>
        </p:nvSpPr>
        <p:spPr>
          <a:xfrm>
            <a:off x="567821" y="5889310"/>
            <a:ext cx="2570481" cy="369332"/>
          </a:xfrm>
          <a:prstGeom prst="rect">
            <a:avLst/>
          </a:prstGeom>
          <a:noFill/>
        </p:spPr>
        <p:txBody>
          <a:bodyPr wrap="square">
            <a:spAutoFit/>
          </a:bodyPr>
          <a:lstStyle/>
          <a:p>
            <a:r>
              <a:rPr lang="en-US" sz="1800" b="0" i="0" u="none" strike="noStrike" dirty="0">
                <a:solidFill>
                  <a:srgbClr val="236356"/>
                </a:solidFill>
                <a:effectLst/>
                <a:latin typeface="Georgia" panose="02040502050405020303" pitchFamily="18" charset="0"/>
              </a:rPr>
              <a:t>154,790,895,616 bytes</a:t>
            </a:r>
            <a:endParaRPr lang="en-US" dirty="0">
              <a:solidFill>
                <a:srgbClr val="236356"/>
              </a:solidFill>
              <a:latin typeface="Georgia" panose="02040502050405020303" pitchFamily="18" charset="0"/>
            </a:endParaRPr>
          </a:p>
        </p:txBody>
      </p:sp>
      <p:sp>
        <p:nvSpPr>
          <p:cNvPr id="5" name="TextBox 4">
            <a:extLst>
              <a:ext uri="{FF2B5EF4-FFF2-40B4-BE49-F238E27FC236}">
                <a16:creationId xmlns:a16="http://schemas.microsoft.com/office/drawing/2014/main" id="{6C987436-EF00-3063-CA44-ACD910850631}"/>
              </a:ext>
            </a:extLst>
          </p:cNvPr>
          <p:cNvSpPr txBox="1"/>
          <p:nvPr/>
        </p:nvSpPr>
        <p:spPr>
          <a:xfrm>
            <a:off x="4249532" y="1826786"/>
            <a:ext cx="3256499" cy="400110"/>
          </a:xfrm>
          <a:prstGeom prst="rect">
            <a:avLst/>
          </a:prstGeom>
          <a:noFill/>
        </p:spPr>
        <p:txBody>
          <a:bodyPr wrap="square">
            <a:spAutoFit/>
          </a:bodyPr>
          <a:lstStyle/>
          <a:p>
            <a:r>
              <a:rPr lang="en-US" sz="1000" b="0" dirty="0" err="1">
                <a:solidFill>
                  <a:srgbClr val="00BDD6"/>
                </a:solidFill>
                <a:effectLst/>
                <a:latin typeface="Consolas" panose="020B0609020204030204" pitchFamily="49" charset="0"/>
              </a:rPr>
              <a:t>conda</a:t>
            </a:r>
            <a:r>
              <a:rPr lang="en-US" sz="1000" b="0" dirty="0">
                <a:solidFill>
                  <a:srgbClr val="FA8900"/>
                </a:solidFill>
                <a:effectLst/>
                <a:latin typeface="Consolas" panose="020B0609020204030204" pitchFamily="49" charset="0"/>
              </a:rPr>
              <a:t> </a:t>
            </a:r>
            <a:r>
              <a:rPr lang="en-US" sz="1000" b="0" dirty="0">
                <a:solidFill>
                  <a:srgbClr val="00B368"/>
                </a:solidFill>
                <a:effectLst/>
                <a:latin typeface="Consolas" panose="020B0609020204030204" pitchFamily="49" charset="0"/>
              </a:rPr>
              <a:t>create</a:t>
            </a:r>
            <a:r>
              <a:rPr lang="en-US" sz="1000" b="0" dirty="0">
                <a:solidFill>
                  <a:srgbClr val="FA8900"/>
                </a:solidFill>
                <a:effectLst/>
                <a:latin typeface="Consolas" panose="020B0609020204030204" pitchFamily="49" charset="0"/>
              </a:rPr>
              <a:t> </a:t>
            </a:r>
            <a:r>
              <a:rPr lang="en-US" sz="1000" b="0" dirty="0">
                <a:solidFill>
                  <a:srgbClr val="A88C00"/>
                </a:solidFill>
                <a:effectLst/>
                <a:latin typeface="Consolas" panose="020B0609020204030204" pitchFamily="49" charset="0"/>
              </a:rPr>
              <a:t>--name</a:t>
            </a:r>
            <a:r>
              <a:rPr lang="en-US" sz="1000" b="0" dirty="0">
                <a:solidFill>
                  <a:srgbClr val="FA8900"/>
                </a:solidFill>
                <a:effectLst/>
                <a:latin typeface="Consolas" panose="020B0609020204030204" pitchFamily="49" charset="0"/>
              </a:rPr>
              <a:t> </a:t>
            </a:r>
            <a:r>
              <a:rPr lang="en-US" sz="1000" b="0" dirty="0">
                <a:solidFill>
                  <a:srgbClr val="00B368"/>
                </a:solidFill>
                <a:effectLst/>
                <a:latin typeface="Consolas" panose="020B0609020204030204" pitchFamily="49" charset="0"/>
              </a:rPr>
              <a:t>big_env</a:t>
            </a:r>
            <a:r>
              <a:rPr lang="en-US" sz="1000" b="1" dirty="0">
                <a:solidFill>
                  <a:srgbClr val="00B368"/>
                </a:solidFill>
                <a:effectLst/>
                <a:latin typeface="Consolas" panose="020B0609020204030204" pitchFamily="49" charset="0"/>
              </a:rPr>
              <a:t>1</a:t>
            </a:r>
            <a:r>
              <a:rPr lang="en-US" sz="1000" b="0" dirty="0">
                <a:solidFill>
                  <a:srgbClr val="FA8900"/>
                </a:solidFill>
                <a:effectLst/>
                <a:latin typeface="Consolas" panose="020B0609020204030204" pitchFamily="49" charset="0"/>
              </a:rPr>
              <a:t> </a:t>
            </a:r>
            <a:r>
              <a:rPr lang="en-US" sz="1000" b="0" dirty="0">
                <a:solidFill>
                  <a:srgbClr val="00B368"/>
                </a:solidFill>
                <a:effectLst/>
                <a:latin typeface="Consolas" panose="020B0609020204030204" pitchFamily="49" charset="0"/>
              </a:rPr>
              <a:t>python=</a:t>
            </a:r>
            <a:r>
              <a:rPr lang="en-US" sz="1000" b="0" dirty="0">
                <a:solidFill>
                  <a:srgbClr val="5842FF"/>
                </a:solidFill>
                <a:effectLst/>
                <a:latin typeface="Consolas" panose="020B0609020204030204" pitchFamily="49" charset="0"/>
              </a:rPr>
              <a:t>3.10</a:t>
            </a:r>
          </a:p>
          <a:p>
            <a:r>
              <a:rPr lang="en-US" sz="1000" b="0" dirty="0">
                <a:solidFill>
                  <a:srgbClr val="5842FF"/>
                </a:solidFill>
                <a:effectLst/>
                <a:latin typeface="Consolas" panose="020B0609020204030204" pitchFamily="49" charset="0"/>
              </a:rPr>
              <a:t>    </a:t>
            </a:r>
            <a:r>
              <a:rPr lang="en-US" sz="1000" dirty="0">
                <a:solidFill>
                  <a:srgbClr val="FF0000"/>
                </a:solidFill>
                <a:latin typeface="Consolas" panose="020B0609020204030204" pitchFamily="49" charset="0"/>
              </a:rPr>
              <a:t>r-essentials r-base</a:t>
            </a:r>
          </a:p>
        </p:txBody>
      </p:sp>
      <p:sp>
        <p:nvSpPr>
          <p:cNvPr id="7" name="TextBox 6">
            <a:extLst>
              <a:ext uri="{FF2B5EF4-FFF2-40B4-BE49-F238E27FC236}">
                <a16:creationId xmlns:a16="http://schemas.microsoft.com/office/drawing/2014/main" id="{23BB8F30-7C11-6F4F-1998-CC6A4CDC594D}"/>
              </a:ext>
            </a:extLst>
          </p:cNvPr>
          <p:cNvSpPr txBox="1"/>
          <p:nvPr/>
        </p:nvSpPr>
        <p:spPr>
          <a:xfrm>
            <a:off x="7970080" y="1814441"/>
            <a:ext cx="3256499" cy="400110"/>
          </a:xfrm>
          <a:prstGeom prst="rect">
            <a:avLst/>
          </a:prstGeom>
          <a:noFill/>
        </p:spPr>
        <p:txBody>
          <a:bodyPr wrap="square">
            <a:spAutoFit/>
          </a:bodyPr>
          <a:lstStyle/>
          <a:p>
            <a:r>
              <a:rPr lang="en-US" sz="1000" b="0" dirty="0" err="1">
                <a:solidFill>
                  <a:srgbClr val="00BDD6"/>
                </a:solidFill>
                <a:effectLst/>
                <a:latin typeface="Consolas" panose="020B0609020204030204" pitchFamily="49" charset="0"/>
              </a:rPr>
              <a:t>conda</a:t>
            </a:r>
            <a:r>
              <a:rPr lang="en-US" sz="1000" b="0" dirty="0">
                <a:solidFill>
                  <a:srgbClr val="FA8900"/>
                </a:solidFill>
                <a:effectLst/>
                <a:latin typeface="Consolas" panose="020B0609020204030204" pitchFamily="49" charset="0"/>
              </a:rPr>
              <a:t> </a:t>
            </a:r>
            <a:r>
              <a:rPr lang="en-US" sz="1000" b="0" dirty="0">
                <a:solidFill>
                  <a:srgbClr val="00B368"/>
                </a:solidFill>
                <a:effectLst/>
                <a:latin typeface="Consolas" panose="020B0609020204030204" pitchFamily="49" charset="0"/>
              </a:rPr>
              <a:t>create</a:t>
            </a:r>
            <a:r>
              <a:rPr lang="en-US" sz="1000" b="0" dirty="0">
                <a:solidFill>
                  <a:srgbClr val="FA8900"/>
                </a:solidFill>
                <a:effectLst/>
                <a:latin typeface="Consolas" panose="020B0609020204030204" pitchFamily="49" charset="0"/>
              </a:rPr>
              <a:t> </a:t>
            </a:r>
            <a:r>
              <a:rPr lang="en-US" sz="1000" b="0" dirty="0">
                <a:solidFill>
                  <a:srgbClr val="A88C00"/>
                </a:solidFill>
                <a:effectLst/>
                <a:latin typeface="Consolas" panose="020B0609020204030204" pitchFamily="49" charset="0"/>
              </a:rPr>
              <a:t>--name</a:t>
            </a:r>
            <a:r>
              <a:rPr lang="en-US" sz="1000" b="0" dirty="0">
                <a:solidFill>
                  <a:srgbClr val="FA8900"/>
                </a:solidFill>
                <a:effectLst/>
                <a:latin typeface="Consolas" panose="020B0609020204030204" pitchFamily="49" charset="0"/>
              </a:rPr>
              <a:t> </a:t>
            </a:r>
            <a:r>
              <a:rPr lang="en-US" sz="1000" b="0" dirty="0">
                <a:solidFill>
                  <a:srgbClr val="00B368"/>
                </a:solidFill>
                <a:effectLst/>
                <a:latin typeface="Consolas" panose="020B0609020204030204" pitchFamily="49" charset="0"/>
              </a:rPr>
              <a:t>big_env</a:t>
            </a:r>
            <a:r>
              <a:rPr lang="en-US" sz="1000" b="1" dirty="0">
                <a:solidFill>
                  <a:srgbClr val="00B368"/>
                </a:solidFill>
                <a:effectLst/>
                <a:latin typeface="Consolas" panose="020B0609020204030204" pitchFamily="49" charset="0"/>
              </a:rPr>
              <a:t>2</a:t>
            </a:r>
            <a:r>
              <a:rPr lang="en-US" sz="1000" b="0" dirty="0">
                <a:solidFill>
                  <a:srgbClr val="FA8900"/>
                </a:solidFill>
                <a:effectLst/>
                <a:latin typeface="Consolas" panose="020B0609020204030204" pitchFamily="49" charset="0"/>
              </a:rPr>
              <a:t> </a:t>
            </a:r>
            <a:r>
              <a:rPr lang="en-US" sz="1000" b="0" dirty="0">
                <a:solidFill>
                  <a:srgbClr val="00B368"/>
                </a:solidFill>
                <a:effectLst/>
                <a:latin typeface="Consolas" panose="020B0609020204030204" pitchFamily="49" charset="0"/>
              </a:rPr>
              <a:t>python=</a:t>
            </a:r>
            <a:r>
              <a:rPr lang="en-US" sz="1000" b="0" dirty="0">
                <a:solidFill>
                  <a:srgbClr val="5842FF"/>
                </a:solidFill>
                <a:effectLst/>
                <a:latin typeface="Consolas" panose="020B0609020204030204" pitchFamily="49" charset="0"/>
              </a:rPr>
              <a:t>3.10</a:t>
            </a:r>
          </a:p>
          <a:p>
            <a:r>
              <a:rPr lang="en-US" sz="1000" b="0" dirty="0">
                <a:solidFill>
                  <a:srgbClr val="5842FF"/>
                </a:solidFill>
                <a:effectLst/>
                <a:latin typeface="Consolas" panose="020B0609020204030204" pitchFamily="49" charset="0"/>
              </a:rPr>
              <a:t>    </a:t>
            </a:r>
            <a:r>
              <a:rPr lang="en-US" sz="1000" dirty="0">
                <a:solidFill>
                  <a:srgbClr val="FF0000"/>
                </a:solidFill>
                <a:latin typeface="Consolas" panose="020B0609020204030204" pitchFamily="49" charset="0"/>
              </a:rPr>
              <a:t>r-essentials r-base</a:t>
            </a:r>
          </a:p>
        </p:txBody>
      </p:sp>
      <p:sp>
        <p:nvSpPr>
          <p:cNvPr id="9" name="TextBox 8">
            <a:extLst>
              <a:ext uri="{FF2B5EF4-FFF2-40B4-BE49-F238E27FC236}">
                <a16:creationId xmlns:a16="http://schemas.microsoft.com/office/drawing/2014/main" id="{58FE437C-48B0-737D-FA1E-85283CA2BA66}"/>
              </a:ext>
            </a:extLst>
          </p:cNvPr>
          <p:cNvSpPr txBox="1"/>
          <p:nvPr/>
        </p:nvSpPr>
        <p:spPr>
          <a:xfrm>
            <a:off x="4330256" y="5889310"/>
            <a:ext cx="2570481" cy="369332"/>
          </a:xfrm>
          <a:prstGeom prst="rect">
            <a:avLst/>
          </a:prstGeom>
          <a:noFill/>
        </p:spPr>
        <p:txBody>
          <a:bodyPr wrap="square">
            <a:spAutoFit/>
          </a:bodyPr>
          <a:lstStyle/>
          <a:p>
            <a:r>
              <a:rPr lang="en-US" sz="1800" b="0" i="0" u="none" strike="noStrike" dirty="0">
                <a:solidFill>
                  <a:srgbClr val="236356"/>
                </a:solidFill>
                <a:effectLst/>
                <a:latin typeface="Georgia" panose="02040502050405020303" pitchFamily="18" charset="0"/>
              </a:rPr>
              <a:t> 157,573,545,984 bytes</a:t>
            </a:r>
            <a:endParaRPr lang="en-US" dirty="0">
              <a:solidFill>
                <a:srgbClr val="236356"/>
              </a:solidFill>
              <a:latin typeface="Georgia" panose="02040502050405020303" pitchFamily="18" charset="0"/>
            </a:endParaRPr>
          </a:p>
        </p:txBody>
      </p:sp>
      <p:sp>
        <p:nvSpPr>
          <p:cNvPr id="11" name="TextBox 10">
            <a:extLst>
              <a:ext uri="{FF2B5EF4-FFF2-40B4-BE49-F238E27FC236}">
                <a16:creationId xmlns:a16="http://schemas.microsoft.com/office/drawing/2014/main" id="{AA124758-17E4-BB45-C0DB-ECF8788C7B40}"/>
              </a:ext>
            </a:extLst>
          </p:cNvPr>
          <p:cNvSpPr txBox="1"/>
          <p:nvPr/>
        </p:nvSpPr>
        <p:spPr>
          <a:xfrm>
            <a:off x="8185686" y="5889310"/>
            <a:ext cx="2570481" cy="369332"/>
          </a:xfrm>
          <a:prstGeom prst="rect">
            <a:avLst/>
          </a:prstGeom>
          <a:noFill/>
        </p:spPr>
        <p:txBody>
          <a:bodyPr wrap="square">
            <a:spAutoFit/>
          </a:bodyPr>
          <a:lstStyle/>
          <a:p>
            <a:r>
              <a:rPr lang="en-US" sz="1800" b="0" i="0" u="none" strike="noStrike" dirty="0">
                <a:solidFill>
                  <a:srgbClr val="236356"/>
                </a:solidFill>
                <a:effectLst/>
                <a:latin typeface="Georgia" panose="02040502050405020303" pitchFamily="18" charset="0"/>
              </a:rPr>
              <a:t>157,822,050,304  bytes</a:t>
            </a:r>
            <a:endParaRPr lang="en-US" dirty="0">
              <a:solidFill>
                <a:srgbClr val="236356"/>
              </a:solidFill>
              <a:latin typeface="Georgia" panose="02040502050405020303" pitchFamily="18" charset="0"/>
            </a:endParaRPr>
          </a:p>
        </p:txBody>
      </p:sp>
      <p:sp>
        <p:nvSpPr>
          <p:cNvPr id="15" name="TextBox 14">
            <a:extLst>
              <a:ext uri="{FF2B5EF4-FFF2-40B4-BE49-F238E27FC236}">
                <a16:creationId xmlns:a16="http://schemas.microsoft.com/office/drawing/2014/main" id="{F760DD6A-B192-F174-C6D5-AFB38D636707}"/>
              </a:ext>
            </a:extLst>
          </p:cNvPr>
          <p:cNvSpPr txBox="1"/>
          <p:nvPr/>
        </p:nvSpPr>
        <p:spPr>
          <a:xfrm>
            <a:off x="2579021" y="6258642"/>
            <a:ext cx="2239469" cy="369332"/>
          </a:xfrm>
          <a:prstGeom prst="rect">
            <a:avLst/>
          </a:prstGeom>
          <a:noFill/>
        </p:spPr>
        <p:txBody>
          <a:bodyPr wrap="square">
            <a:spAutoFit/>
          </a:bodyPr>
          <a:lstStyle/>
          <a:p>
            <a:r>
              <a:rPr lang="en-US" sz="1800" b="0" i="0" u="none" strike="noStrike" dirty="0">
                <a:solidFill>
                  <a:srgbClr val="236356"/>
                </a:solidFill>
                <a:effectLst/>
                <a:latin typeface="Georgia" panose="02040502050405020303" pitchFamily="18" charset="0"/>
              </a:rPr>
              <a:t>2,782,650,368 bytes </a:t>
            </a:r>
            <a:endParaRPr lang="en-US" dirty="0">
              <a:solidFill>
                <a:srgbClr val="236356"/>
              </a:solidFill>
              <a:latin typeface="Georgia" panose="02040502050405020303" pitchFamily="18" charset="0"/>
            </a:endParaRPr>
          </a:p>
        </p:txBody>
      </p:sp>
      <p:sp>
        <p:nvSpPr>
          <p:cNvPr id="18" name="TextBox 17">
            <a:extLst>
              <a:ext uri="{FF2B5EF4-FFF2-40B4-BE49-F238E27FC236}">
                <a16:creationId xmlns:a16="http://schemas.microsoft.com/office/drawing/2014/main" id="{13D5E921-D5D3-FBA7-3C0F-A6CE48F7D3B4}"/>
              </a:ext>
            </a:extLst>
          </p:cNvPr>
          <p:cNvSpPr txBox="1"/>
          <p:nvPr/>
        </p:nvSpPr>
        <p:spPr>
          <a:xfrm>
            <a:off x="6602896" y="6258642"/>
            <a:ext cx="4060276" cy="369332"/>
          </a:xfrm>
          <a:prstGeom prst="rect">
            <a:avLst/>
          </a:prstGeom>
          <a:noFill/>
        </p:spPr>
        <p:txBody>
          <a:bodyPr wrap="square">
            <a:spAutoFit/>
          </a:bodyPr>
          <a:lstStyle/>
          <a:p>
            <a:r>
              <a:rPr lang="en-US" sz="1800" b="0" i="0" u="none" strike="noStrike" dirty="0">
                <a:solidFill>
                  <a:srgbClr val="236356"/>
                </a:solidFill>
                <a:effectLst/>
                <a:latin typeface="Georgia" panose="02040502050405020303" pitchFamily="18" charset="0"/>
              </a:rPr>
              <a:t>248,504,320 bytes, aka </a:t>
            </a:r>
            <a:r>
              <a:rPr lang="en-US" sz="1800" b="1" i="0" u="none" strike="noStrike" dirty="0">
                <a:solidFill>
                  <a:srgbClr val="236356"/>
                </a:solidFill>
                <a:effectLst/>
                <a:latin typeface="Georgia" panose="02040502050405020303" pitchFamily="18" charset="0"/>
              </a:rPr>
              <a:t>248 megs </a:t>
            </a:r>
            <a:endParaRPr lang="en-US" b="1" dirty="0">
              <a:solidFill>
                <a:srgbClr val="236356"/>
              </a:solidFill>
              <a:latin typeface="Georgia" panose="02040502050405020303" pitchFamily="18" charset="0"/>
            </a:endParaRPr>
          </a:p>
        </p:txBody>
      </p:sp>
      <p:sp>
        <p:nvSpPr>
          <p:cNvPr id="19" name="TextBox 18">
            <a:extLst>
              <a:ext uri="{FF2B5EF4-FFF2-40B4-BE49-F238E27FC236}">
                <a16:creationId xmlns:a16="http://schemas.microsoft.com/office/drawing/2014/main" id="{993DE560-8DE5-24CF-B885-B924763DCF52}"/>
              </a:ext>
            </a:extLst>
          </p:cNvPr>
          <p:cNvSpPr txBox="1"/>
          <p:nvPr/>
        </p:nvSpPr>
        <p:spPr>
          <a:xfrm>
            <a:off x="1097280" y="6258642"/>
            <a:ext cx="1813491" cy="369332"/>
          </a:xfrm>
          <a:prstGeom prst="rect">
            <a:avLst/>
          </a:prstGeom>
          <a:noFill/>
        </p:spPr>
        <p:txBody>
          <a:bodyPr wrap="square">
            <a:spAutoFit/>
          </a:bodyPr>
          <a:lstStyle/>
          <a:p>
            <a:r>
              <a:rPr lang="en-US" sz="1800" b="0" i="0" u="none" strike="noStrike" dirty="0">
                <a:solidFill>
                  <a:srgbClr val="236356"/>
                </a:solidFill>
                <a:effectLst/>
                <a:latin typeface="Georgia" panose="02040502050405020303" pitchFamily="18" charset="0"/>
              </a:rPr>
              <a:t>Difference:</a:t>
            </a:r>
            <a:endParaRPr lang="en-US" dirty="0">
              <a:solidFill>
                <a:srgbClr val="236356"/>
              </a:solidFill>
              <a:latin typeface="Georgia" panose="02040502050405020303" pitchFamily="18" charset="0"/>
            </a:endParaRPr>
          </a:p>
        </p:txBody>
      </p:sp>
      <p:sp>
        <p:nvSpPr>
          <p:cNvPr id="20" name="TextBox 19">
            <a:extLst>
              <a:ext uri="{FF2B5EF4-FFF2-40B4-BE49-F238E27FC236}">
                <a16:creationId xmlns:a16="http://schemas.microsoft.com/office/drawing/2014/main" id="{FB212648-BF34-AEC4-63F7-0454DF720B54}"/>
              </a:ext>
            </a:extLst>
          </p:cNvPr>
          <p:cNvSpPr txBox="1"/>
          <p:nvPr/>
        </p:nvSpPr>
        <p:spPr>
          <a:xfrm>
            <a:off x="501028" y="1942594"/>
            <a:ext cx="3256499" cy="246221"/>
          </a:xfrm>
          <a:prstGeom prst="rect">
            <a:avLst/>
          </a:prstGeom>
          <a:noFill/>
        </p:spPr>
        <p:txBody>
          <a:bodyPr wrap="square">
            <a:spAutoFit/>
          </a:bodyPr>
          <a:lstStyle/>
          <a:p>
            <a:r>
              <a:rPr lang="en-US" sz="1000" b="0" dirty="0">
                <a:solidFill>
                  <a:srgbClr val="236356"/>
                </a:solidFill>
                <a:effectLst/>
                <a:latin typeface="Consolas" panose="020B0609020204030204" pitchFamily="49" charset="0"/>
              </a:rPr>
              <a:t>Base</a:t>
            </a:r>
            <a:endParaRPr lang="en-US" sz="1000" dirty="0">
              <a:solidFill>
                <a:srgbClr val="236356"/>
              </a:solidFill>
              <a:latin typeface="Consolas" panose="020B0609020204030204" pitchFamily="49" charset="0"/>
            </a:endParaRPr>
          </a:p>
        </p:txBody>
      </p:sp>
      <p:sp>
        <p:nvSpPr>
          <p:cNvPr id="21" name="TextBox 20">
            <a:extLst>
              <a:ext uri="{FF2B5EF4-FFF2-40B4-BE49-F238E27FC236}">
                <a16:creationId xmlns:a16="http://schemas.microsoft.com/office/drawing/2014/main" id="{250CC919-5931-9458-0CC4-BD1C4B5ED8A2}"/>
              </a:ext>
            </a:extLst>
          </p:cNvPr>
          <p:cNvSpPr txBox="1"/>
          <p:nvPr/>
        </p:nvSpPr>
        <p:spPr>
          <a:xfrm>
            <a:off x="10740733" y="3224326"/>
            <a:ext cx="1160890" cy="1754326"/>
          </a:xfrm>
          <a:prstGeom prst="rect">
            <a:avLst/>
          </a:prstGeom>
          <a:noFill/>
        </p:spPr>
        <p:txBody>
          <a:bodyPr wrap="square" rtlCol="0">
            <a:spAutoFit/>
          </a:bodyPr>
          <a:lstStyle/>
          <a:p>
            <a:r>
              <a:rPr lang="en-US" dirty="0">
                <a:solidFill>
                  <a:srgbClr val="94573F"/>
                </a:solidFill>
                <a:latin typeface="Georgia" panose="02040502050405020303" pitchFamily="18" charset="0"/>
              </a:rPr>
              <a:t>This env is less than 250 megs, NOT 4 GB! </a:t>
            </a:r>
          </a:p>
        </p:txBody>
      </p:sp>
    </p:spTree>
    <p:extLst>
      <p:ext uri="{BB962C8B-B14F-4D97-AF65-F5344CB8AC3E}">
        <p14:creationId xmlns:p14="http://schemas.microsoft.com/office/powerpoint/2010/main" val="27119008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EBDA9-2AE8-407D-53DA-563F747F4A91}"/>
              </a:ext>
            </a:extLst>
          </p:cNvPr>
          <p:cNvSpPr>
            <a:spLocks noGrp="1"/>
          </p:cNvSpPr>
          <p:nvPr>
            <p:ph type="title"/>
          </p:nvPr>
        </p:nvSpPr>
        <p:spPr/>
        <p:txBody>
          <a:bodyPr/>
          <a:lstStyle/>
          <a:p>
            <a:r>
              <a:rPr lang="en-US" strike="sngStrike" dirty="0"/>
              <a:t>Pro-tip</a:t>
            </a:r>
            <a:r>
              <a:rPr lang="en-US" dirty="0"/>
              <a:t> Rant: Create one env per project</a:t>
            </a:r>
          </a:p>
        </p:txBody>
      </p:sp>
      <p:sp>
        <p:nvSpPr>
          <p:cNvPr id="6" name="TextBox 5">
            <a:extLst>
              <a:ext uri="{FF2B5EF4-FFF2-40B4-BE49-F238E27FC236}">
                <a16:creationId xmlns:a16="http://schemas.microsoft.com/office/drawing/2014/main" id="{5A04F7D7-8F46-EE6E-8B3B-8BD471E2C1B2}"/>
              </a:ext>
            </a:extLst>
          </p:cNvPr>
          <p:cNvSpPr txBox="1"/>
          <p:nvPr/>
        </p:nvSpPr>
        <p:spPr>
          <a:xfrm>
            <a:off x="778906" y="1348435"/>
            <a:ext cx="10090527" cy="5016758"/>
          </a:xfrm>
          <a:prstGeom prst="rect">
            <a:avLst/>
          </a:prstGeom>
          <a:noFill/>
        </p:spPr>
        <p:txBody>
          <a:bodyPr wrap="square" rtlCol="0">
            <a:spAutoFit/>
          </a:bodyPr>
          <a:lstStyle/>
          <a:p>
            <a:r>
              <a:rPr lang="en-US" dirty="0">
                <a:solidFill>
                  <a:srgbClr val="94573F"/>
                </a:solidFill>
                <a:latin typeface="Georgia" panose="02040502050405020303" pitchFamily="18" charset="0"/>
                <a:sym typeface="Wingdings" panose="05000000000000000000" pitchFamily="2" charset="2"/>
              </a:rPr>
              <a:t>Creating new environments is </a:t>
            </a:r>
            <a:r>
              <a:rPr lang="en-US" b="1" dirty="0">
                <a:solidFill>
                  <a:srgbClr val="94573F"/>
                </a:solidFill>
                <a:latin typeface="Georgia" panose="02040502050405020303" pitchFamily="18" charset="0"/>
                <a:sym typeface="Wingdings" panose="05000000000000000000" pitchFamily="2" charset="2"/>
              </a:rPr>
              <a:t>actually</a:t>
            </a:r>
            <a:r>
              <a:rPr lang="en-US" dirty="0">
                <a:solidFill>
                  <a:srgbClr val="94573F"/>
                </a:solidFill>
                <a:latin typeface="Georgia" panose="02040502050405020303" pitchFamily="18" charset="0"/>
                <a:sym typeface="Wingdings" panose="05000000000000000000" pitchFamily="2" charset="2"/>
              </a:rPr>
              <a:t> not very expensive.</a:t>
            </a:r>
          </a:p>
          <a:p>
            <a:endParaRPr lang="en-US" dirty="0">
              <a:solidFill>
                <a:srgbClr val="94573F"/>
              </a:solidFill>
              <a:latin typeface="Georgia" panose="02040502050405020303" pitchFamily="18" charset="0"/>
              <a:sym typeface="Wingdings" panose="05000000000000000000" pitchFamily="2" charset="2"/>
            </a:endParaRPr>
          </a:p>
          <a:p>
            <a:r>
              <a:rPr lang="en-US" dirty="0">
                <a:solidFill>
                  <a:srgbClr val="94573F"/>
                </a:solidFill>
                <a:latin typeface="Georgia" panose="02040502050405020303" pitchFamily="18" charset="0"/>
                <a:sym typeface="Wingdings" panose="05000000000000000000" pitchFamily="2" charset="2"/>
              </a:rPr>
              <a:t>The magic behind these storage savings is “hard links.”</a:t>
            </a:r>
          </a:p>
          <a:p>
            <a:endParaRPr lang="en-US" dirty="0">
              <a:solidFill>
                <a:srgbClr val="94573F"/>
              </a:solidFill>
              <a:latin typeface="Georgia" panose="02040502050405020303" pitchFamily="18" charset="0"/>
              <a:sym typeface="Wingdings" panose="05000000000000000000" pitchFamily="2" charset="2"/>
            </a:endParaRPr>
          </a:p>
          <a:p>
            <a:r>
              <a:rPr lang="en-US" b="0" dirty="0">
                <a:solidFill>
                  <a:srgbClr val="00BDD6"/>
                </a:solidFill>
                <a:effectLst/>
                <a:latin typeface="Consolas" panose="020B0609020204030204" pitchFamily="49" charset="0"/>
              </a:rPr>
              <a:t>cp</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file1</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file2</a:t>
            </a:r>
            <a:r>
              <a:rPr lang="en-US" dirty="0">
                <a:solidFill>
                  <a:srgbClr val="005661"/>
                </a:solidFill>
                <a:latin typeface="Consolas" panose="020B0609020204030204" pitchFamily="49" charset="0"/>
              </a:rPr>
              <a:t> </a:t>
            </a:r>
            <a:r>
              <a:rPr lang="en-US" dirty="0">
                <a:solidFill>
                  <a:srgbClr val="94573F"/>
                </a:solidFill>
                <a:latin typeface="Georgia" panose="02040502050405020303" pitchFamily="18" charset="0"/>
                <a:sym typeface="Wingdings" panose="05000000000000000000" pitchFamily="2" charset="2"/>
              </a:rPr>
              <a:t>will take up twice as much disk space as file1. Obviously. We have duplicated a file.</a:t>
            </a:r>
          </a:p>
          <a:p>
            <a:endParaRPr lang="en-US" dirty="0">
              <a:solidFill>
                <a:srgbClr val="94573F"/>
              </a:solidFill>
              <a:latin typeface="Georgia" panose="02040502050405020303" pitchFamily="18" charset="0"/>
              <a:sym typeface="Wingdings" panose="05000000000000000000" pitchFamily="2" charset="2"/>
            </a:endParaRPr>
          </a:p>
          <a:p>
            <a:r>
              <a:rPr lang="en-US" dirty="0">
                <a:solidFill>
                  <a:srgbClr val="94573F"/>
                </a:solidFill>
                <a:latin typeface="Georgia" panose="02040502050405020303" pitchFamily="18" charset="0"/>
                <a:sym typeface="Wingdings" panose="05000000000000000000" pitchFamily="2" charset="2"/>
              </a:rPr>
              <a:t>However, with soft links, </a:t>
            </a:r>
            <a:r>
              <a:rPr lang="en-US" b="0" dirty="0">
                <a:solidFill>
                  <a:srgbClr val="00BDD6"/>
                </a:solidFill>
                <a:effectLst/>
                <a:latin typeface="Consolas" panose="020B0609020204030204" pitchFamily="49" charset="0"/>
              </a:rPr>
              <a:t>ln</a:t>
            </a:r>
            <a:r>
              <a:rPr lang="en-US" b="0" dirty="0">
                <a:solidFill>
                  <a:srgbClr val="FA8900"/>
                </a:solidFill>
                <a:effectLst/>
                <a:latin typeface="Consolas" panose="020B0609020204030204" pitchFamily="49" charset="0"/>
              </a:rPr>
              <a:t> </a:t>
            </a:r>
            <a:r>
              <a:rPr lang="en-US" b="0" dirty="0">
                <a:solidFill>
                  <a:srgbClr val="A88C00"/>
                </a:solidFill>
                <a:effectLst/>
                <a:latin typeface="Consolas" panose="020B0609020204030204" pitchFamily="49" charset="0"/>
              </a:rPr>
              <a:t>-s</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file1</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file2</a:t>
            </a:r>
            <a:r>
              <a:rPr lang="en-US" dirty="0">
                <a:solidFill>
                  <a:srgbClr val="005661"/>
                </a:solidFill>
                <a:latin typeface="Consolas" panose="020B0609020204030204" pitchFamily="49" charset="0"/>
              </a:rPr>
              <a:t> </a:t>
            </a:r>
            <a:r>
              <a:rPr lang="en-US" dirty="0">
                <a:solidFill>
                  <a:srgbClr val="94573F"/>
                </a:solidFill>
                <a:latin typeface="Georgia" panose="02040502050405020303" pitchFamily="18" charset="0"/>
                <a:sym typeface="Wingdings" panose="05000000000000000000" pitchFamily="2" charset="2"/>
              </a:rPr>
              <a:t>LOOKS like it created a copy, but actually it only created a reference. It did not actually copy any content of file1. If you delete file1, file2 will disappear as well. Soft links are used quite often.</a:t>
            </a:r>
          </a:p>
          <a:p>
            <a:endParaRPr lang="en-US" dirty="0">
              <a:solidFill>
                <a:srgbClr val="94573F"/>
              </a:solidFill>
              <a:latin typeface="Georgia" panose="02040502050405020303" pitchFamily="18" charset="0"/>
              <a:sym typeface="Wingdings" panose="05000000000000000000" pitchFamily="2" charset="2"/>
            </a:endParaRPr>
          </a:p>
          <a:p>
            <a:r>
              <a:rPr lang="en-US" b="0" dirty="0">
                <a:solidFill>
                  <a:srgbClr val="00BDD6"/>
                </a:solidFill>
                <a:effectLst/>
                <a:latin typeface="Consolas" panose="020B0609020204030204" pitchFamily="49" charset="0"/>
              </a:rPr>
              <a:t>ln</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file1</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file2 </a:t>
            </a:r>
            <a:r>
              <a:rPr lang="en-US" dirty="0">
                <a:solidFill>
                  <a:srgbClr val="94573F"/>
                </a:solidFill>
                <a:latin typeface="Georgia" panose="02040502050405020303" pitchFamily="18" charset="0"/>
                <a:sym typeface="Wingdings" panose="05000000000000000000" pitchFamily="2" charset="2"/>
              </a:rPr>
              <a:t>works similarly to soft links. However, deleting file1 does NOT remove file2.</a:t>
            </a:r>
          </a:p>
          <a:p>
            <a:endParaRPr lang="en-US" dirty="0">
              <a:solidFill>
                <a:srgbClr val="94573F"/>
              </a:solidFill>
              <a:latin typeface="Georgia" panose="02040502050405020303" pitchFamily="18" charset="0"/>
              <a:sym typeface="Wingdings" panose="05000000000000000000" pitchFamily="2" charset="2"/>
            </a:endParaRPr>
          </a:p>
          <a:p>
            <a:r>
              <a:rPr lang="en-US" dirty="0" err="1">
                <a:solidFill>
                  <a:srgbClr val="94573F"/>
                </a:solidFill>
                <a:latin typeface="Georgia" panose="02040502050405020303" pitchFamily="18" charset="0"/>
                <a:sym typeface="Wingdings" panose="05000000000000000000" pitchFamily="2" charset="2"/>
              </a:rPr>
              <a:t>Conda</a:t>
            </a:r>
            <a:r>
              <a:rPr lang="en-US" dirty="0">
                <a:solidFill>
                  <a:srgbClr val="94573F"/>
                </a:solidFill>
                <a:latin typeface="Georgia" panose="02040502050405020303" pitchFamily="18" charset="0"/>
                <a:sym typeface="Wingdings" panose="05000000000000000000" pitchFamily="2" charset="2"/>
              </a:rPr>
              <a:t> uses hard links, whenever it can. It downloads packages to a cache location and hard links packages to new environments. This is why the first big_env1 was so big and big_env2 was MUCH smaller.</a:t>
            </a:r>
          </a:p>
          <a:p>
            <a:endParaRPr lang="en-US" dirty="0">
              <a:solidFill>
                <a:srgbClr val="94573F"/>
              </a:solidFill>
              <a:latin typeface="Georgia" panose="02040502050405020303" pitchFamily="18" charset="0"/>
              <a:sym typeface="Wingdings" panose="05000000000000000000" pitchFamily="2" charset="2"/>
            </a:endParaRPr>
          </a:p>
          <a:p>
            <a:r>
              <a:rPr lang="en-US" sz="1400" dirty="0">
                <a:solidFill>
                  <a:srgbClr val="94573F"/>
                </a:solidFill>
                <a:latin typeface="Georgia" panose="02040502050405020303" pitchFamily="18" charset="0"/>
                <a:sym typeface="Wingdings" panose="05000000000000000000" pitchFamily="2" charset="2"/>
              </a:rPr>
              <a:t>warning: Hard links only work across the same disk. Hard links across network drives or different volumes will not work.</a:t>
            </a:r>
            <a:endParaRPr lang="en-US" sz="1400" dirty="0">
              <a:solidFill>
                <a:srgbClr val="94573F"/>
              </a:solidFill>
              <a:latin typeface="Georgia" panose="02040502050405020303" pitchFamily="18" charset="0"/>
            </a:endParaRPr>
          </a:p>
        </p:txBody>
      </p:sp>
    </p:spTree>
    <p:extLst>
      <p:ext uri="{BB962C8B-B14F-4D97-AF65-F5344CB8AC3E}">
        <p14:creationId xmlns:p14="http://schemas.microsoft.com/office/powerpoint/2010/main" val="195839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EBDA9-2AE8-407D-53DA-563F747F4A91}"/>
              </a:ext>
            </a:extLst>
          </p:cNvPr>
          <p:cNvSpPr>
            <a:spLocks noGrp="1"/>
          </p:cNvSpPr>
          <p:nvPr>
            <p:ph type="title"/>
          </p:nvPr>
        </p:nvSpPr>
        <p:spPr/>
        <p:txBody>
          <a:bodyPr>
            <a:normAutofit/>
          </a:bodyPr>
          <a:lstStyle/>
          <a:p>
            <a:r>
              <a:rPr lang="en-US" dirty="0"/>
              <a:t>Pro-tip: </a:t>
            </a:r>
            <a:r>
              <a:rPr lang="en-US" dirty="0" err="1"/>
              <a:t>Jupyter</a:t>
            </a:r>
            <a:r>
              <a:rPr lang="en-US" dirty="0"/>
              <a:t> doesn’t see new environments!</a:t>
            </a:r>
          </a:p>
        </p:txBody>
      </p:sp>
      <p:sp>
        <p:nvSpPr>
          <p:cNvPr id="6" name="TextBox 5">
            <a:extLst>
              <a:ext uri="{FF2B5EF4-FFF2-40B4-BE49-F238E27FC236}">
                <a16:creationId xmlns:a16="http://schemas.microsoft.com/office/drawing/2014/main" id="{5A04F7D7-8F46-EE6E-8B3B-8BD471E2C1B2}"/>
              </a:ext>
            </a:extLst>
          </p:cNvPr>
          <p:cNvSpPr txBox="1"/>
          <p:nvPr/>
        </p:nvSpPr>
        <p:spPr>
          <a:xfrm>
            <a:off x="778906" y="1348435"/>
            <a:ext cx="10090527" cy="646331"/>
          </a:xfrm>
          <a:prstGeom prst="rect">
            <a:avLst/>
          </a:prstGeom>
          <a:noFill/>
        </p:spPr>
        <p:txBody>
          <a:bodyPr wrap="square" rtlCol="0">
            <a:spAutoFit/>
          </a:bodyPr>
          <a:lstStyle/>
          <a:p>
            <a:endParaRPr lang="en-US" dirty="0">
              <a:solidFill>
                <a:srgbClr val="94573F"/>
              </a:solidFill>
              <a:latin typeface="Georgia" panose="02040502050405020303" pitchFamily="18" charset="0"/>
              <a:sym typeface="Wingdings" panose="05000000000000000000" pitchFamily="2" charset="2"/>
            </a:endParaRPr>
          </a:p>
          <a:p>
            <a:r>
              <a:rPr lang="en-US" dirty="0">
                <a:solidFill>
                  <a:srgbClr val="94573F"/>
                </a:solidFill>
                <a:latin typeface="Georgia" panose="02040502050405020303" pitchFamily="18" charset="0"/>
                <a:sym typeface="Wingdings" panose="05000000000000000000" pitchFamily="2" charset="2"/>
              </a:rPr>
              <a:t>Creation of new </a:t>
            </a:r>
            <a:r>
              <a:rPr lang="en-US" dirty="0" err="1">
                <a:solidFill>
                  <a:srgbClr val="94573F"/>
                </a:solidFill>
                <a:latin typeface="Georgia" panose="02040502050405020303" pitchFamily="18" charset="0"/>
                <a:sym typeface="Wingdings" panose="05000000000000000000" pitchFamily="2" charset="2"/>
              </a:rPr>
              <a:t>conda</a:t>
            </a:r>
            <a:r>
              <a:rPr lang="en-US" dirty="0">
                <a:solidFill>
                  <a:srgbClr val="94573F"/>
                </a:solidFill>
                <a:latin typeface="Georgia" panose="02040502050405020303" pitchFamily="18" charset="0"/>
                <a:sym typeface="Wingdings" panose="05000000000000000000" pitchFamily="2" charset="2"/>
              </a:rPr>
              <a:t> environments does NOT automatically make them accessible to </a:t>
            </a:r>
            <a:r>
              <a:rPr lang="en-US" dirty="0" err="1">
                <a:solidFill>
                  <a:srgbClr val="94573F"/>
                </a:solidFill>
                <a:latin typeface="Georgia" panose="02040502050405020303" pitchFamily="18" charset="0"/>
                <a:sym typeface="Wingdings" panose="05000000000000000000" pitchFamily="2" charset="2"/>
              </a:rPr>
              <a:t>Jupyter</a:t>
            </a:r>
            <a:r>
              <a:rPr lang="en-US" dirty="0">
                <a:solidFill>
                  <a:srgbClr val="94573F"/>
                </a:solidFill>
                <a:latin typeface="Georgia" panose="02040502050405020303" pitchFamily="18" charset="0"/>
                <a:sym typeface="Wingdings" panose="05000000000000000000" pitchFamily="2" charset="2"/>
              </a:rPr>
              <a:t>.</a:t>
            </a:r>
          </a:p>
        </p:txBody>
      </p:sp>
      <p:sp>
        <p:nvSpPr>
          <p:cNvPr id="7" name="TextBox 6">
            <a:extLst>
              <a:ext uri="{FF2B5EF4-FFF2-40B4-BE49-F238E27FC236}">
                <a16:creationId xmlns:a16="http://schemas.microsoft.com/office/drawing/2014/main" id="{DAE464B5-FDB7-9478-B365-CDA48BBCA320}"/>
              </a:ext>
            </a:extLst>
          </p:cNvPr>
          <p:cNvSpPr txBox="1"/>
          <p:nvPr/>
        </p:nvSpPr>
        <p:spPr>
          <a:xfrm>
            <a:off x="778906" y="4519570"/>
            <a:ext cx="10986714" cy="1477328"/>
          </a:xfrm>
          <a:prstGeom prst="rect">
            <a:avLst/>
          </a:prstGeom>
          <a:noFill/>
        </p:spPr>
        <p:txBody>
          <a:bodyPr wrap="square">
            <a:spAutoFit/>
          </a:bodyPr>
          <a:lstStyle/>
          <a:p>
            <a:r>
              <a:rPr lang="en-US" b="0" dirty="0" err="1">
                <a:solidFill>
                  <a:srgbClr val="00BDD6"/>
                </a:solidFill>
                <a:effectLst/>
                <a:latin typeface="Consolas" panose="020B0609020204030204" pitchFamily="49" charset="0"/>
              </a:rPr>
              <a:t>conda</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activate</a:t>
            </a:r>
            <a:r>
              <a:rPr lang="en-US" b="0" dirty="0">
                <a:solidFill>
                  <a:srgbClr val="FA8900"/>
                </a:solidFill>
                <a:effectLst/>
                <a:latin typeface="Consolas" panose="020B0609020204030204" pitchFamily="49" charset="0"/>
              </a:rPr>
              <a:t> </a:t>
            </a:r>
            <a:r>
              <a:rPr lang="en-US" b="0" dirty="0" err="1">
                <a:solidFill>
                  <a:srgbClr val="00B368"/>
                </a:solidFill>
                <a:effectLst/>
                <a:latin typeface="Consolas" panose="020B0609020204030204" pitchFamily="49" charset="0"/>
              </a:rPr>
              <a:t>adv_python</a:t>
            </a:r>
            <a:endParaRPr lang="en-US" b="0" dirty="0">
              <a:solidFill>
                <a:srgbClr val="005661"/>
              </a:solidFill>
              <a:effectLst/>
              <a:latin typeface="Consolas" panose="020B0609020204030204" pitchFamily="49" charset="0"/>
            </a:endParaRPr>
          </a:p>
          <a:p>
            <a:endParaRPr lang="en-US" b="0" dirty="0">
              <a:solidFill>
                <a:srgbClr val="00BDD6"/>
              </a:solidFill>
              <a:effectLst/>
              <a:latin typeface="Consolas" panose="020B0609020204030204" pitchFamily="49" charset="0"/>
            </a:endParaRPr>
          </a:p>
          <a:p>
            <a:r>
              <a:rPr lang="en-US" b="0" dirty="0">
                <a:solidFill>
                  <a:srgbClr val="00BDD6"/>
                </a:solidFill>
                <a:effectLst/>
                <a:latin typeface="Consolas" panose="020B0609020204030204" pitchFamily="49" charset="0"/>
              </a:rPr>
              <a:t>pip</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install</a:t>
            </a:r>
            <a:r>
              <a:rPr lang="en-US" b="0" dirty="0">
                <a:solidFill>
                  <a:srgbClr val="FA8900"/>
                </a:solidFill>
                <a:effectLst/>
                <a:latin typeface="Consolas" panose="020B0609020204030204" pitchFamily="49" charset="0"/>
              </a:rPr>
              <a:t> </a:t>
            </a:r>
            <a:r>
              <a:rPr lang="en-US" b="0" dirty="0" err="1">
                <a:solidFill>
                  <a:srgbClr val="00B368"/>
                </a:solidFill>
                <a:effectLst/>
                <a:latin typeface="Consolas" panose="020B0609020204030204" pitchFamily="49" charset="0"/>
              </a:rPr>
              <a:t>ipykernel</a:t>
            </a:r>
            <a:endParaRPr lang="en-US" b="0" dirty="0">
              <a:solidFill>
                <a:srgbClr val="005661"/>
              </a:solidFill>
              <a:effectLst/>
              <a:latin typeface="Consolas" panose="020B0609020204030204" pitchFamily="49" charset="0"/>
            </a:endParaRPr>
          </a:p>
          <a:p>
            <a:endParaRPr lang="en-US" b="0" dirty="0">
              <a:solidFill>
                <a:srgbClr val="00BDD6"/>
              </a:solidFill>
              <a:effectLst/>
              <a:latin typeface="Consolas" panose="020B0609020204030204" pitchFamily="49" charset="0"/>
            </a:endParaRPr>
          </a:p>
          <a:p>
            <a:r>
              <a:rPr lang="en-US" b="0" dirty="0">
                <a:solidFill>
                  <a:srgbClr val="00BDD6"/>
                </a:solidFill>
                <a:effectLst/>
                <a:latin typeface="Consolas" panose="020B0609020204030204" pitchFamily="49" charset="0"/>
              </a:rPr>
              <a:t>python</a:t>
            </a:r>
            <a:r>
              <a:rPr lang="en-US" b="0" dirty="0">
                <a:solidFill>
                  <a:srgbClr val="FA8900"/>
                </a:solidFill>
                <a:effectLst/>
                <a:latin typeface="Consolas" panose="020B0609020204030204" pitchFamily="49" charset="0"/>
              </a:rPr>
              <a:t> </a:t>
            </a:r>
            <a:r>
              <a:rPr lang="en-US" b="0" dirty="0">
                <a:solidFill>
                  <a:srgbClr val="A88C00"/>
                </a:solidFill>
                <a:effectLst/>
                <a:latin typeface="Consolas" panose="020B0609020204030204" pitchFamily="49" charset="0"/>
              </a:rPr>
              <a:t>-m</a:t>
            </a:r>
            <a:r>
              <a:rPr lang="en-US" b="0" dirty="0">
                <a:solidFill>
                  <a:srgbClr val="FA8900"/>
                </a:solidFill>
                <a:effectLst/>
                <a:latin typeface="Consolas" panose="020B0609020204030204" pitchFamily="49" charset="0"/>
              </a:rPr>
              <a:t> </a:t>
            </a:r>
            <a:r>
              <a:rPr lang="en-US" b="0" dirty="0" err="1">
                <a:solidFill>
                  <a:srgbClr val="00B368"/>
                </a:solidFill>
                <a:effectLst/>
                <a:latin typeface="Consolas" panose="020B0609020204030204" pitchFamily="49" charset="0"/>
              </a:rPr>
              <a:t>ipykernel</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install</a:t>
            </a:r>
            <a:r>
              <a:rPr lang="en-US" b="0" dirty="0">
                <a:solidFill>
                  <a:srgbClr val="FA8900"/>
                </a:solidFill>
                <a:effectLst/>
                <a:latin typeface="Consolas" panose="020B0609020204030204" pitchFamily="49" charset="0"/>
              </a:rPr>
              <a:t> </a:t>
            </a:r>
            <a:r>
              <a:rPr lang="en-US" b="0" dirty="0">
                <a:solidFill>
                  <a:srgbClr val="A88C00"/>
                </a:solidFill>
                <a:effectLst/>
                <a:latin typeface="Consolas" panose="020B0609020204030204" pitchFamily="49" charset="0"/>
              </a:rPr>
              <a:t>--user</a:t>
            </a:r>
            <a:r>
              <a:rPr lang="en-US" b="0" dirty="0">
                <a:solidFill>
                  <a:srgbClr val="FA8900"/>
                </a:solidFill>
                <a:effectLst/>
                <a:latin typeface="Consolas" panose="020B0609020204030204" pitchFamily="49" charset="0"/>
              </a:rPr>
              <a:t> </a:t>
            </a:r>
            <a:r>
              <a:rPr lang="en-US" b="0" dirty="0">
                <a:solidFill>
                  <a:srgbClr val="A88C00"/>
                </a:solidFill>
                <a:effectLst/>
                <a:latin typeface="Consolas" panose="020B0609020204030204" pitchFamily="49" charset="0"/>
              </a:rPr>
              <a:t>--name</a:t>
            </a:r>
            <a:r>
              <a:rPr lang="en-US" b="0" dirty="0">
                <a:solidFill>
                  <a:srgbClr val="FA8900"/>
                </a:solidFill>
                <a:effectLst/>
                <a:latin typeface="Consolas" panose="020B0609020204030204" pitchFamily="49" charset="0"/>
              </a:rPr>
              <a:t> </a:t>
            </a:r>
            <a:r>
              <a:rPr lang="en-US" b="0" dirty="0" err="1">
                <a:solidFill>
                  <a:srgbClr val="00B368"/>
                </a:solidFill>
                <a:effectLst/>
                <a:latin typeface="Consolas" panose="020B0609020204030204" pitchFamily="49" charset="0"/>
              </a:rPr>
              <a:t>adv_python</a:t>
            </a:r>
            <a:r>
              <a:rPr lang="en-US" b="0" dirty="0">
                <a:solidFill>
                  <a:srgbClr val="FA8900"/>
                </a:solidFill>
                <a:effectLst/>
                <a:latin typeface="Consolas" panose="020B0609020204030204" pitchFamily="49" charset="0"/>
              </a:rPr>
              <a:t> </a:t>
            </a:r>
            <a:r>
              <a:rPr lang="en-US" b="0" dirty="0">
                <a:solidFill>
                  <a:srgbClr val="A88C00"/>
                </a:solidFill>
                <a:effectLst/>
                <a:latin typeface="Consolas" panose="020B0609020204030204" pitchFamily="49" charset="0"/>
              </a:rPr>
              <a:t>--display-name</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a:t>
            </a:r>
            <a:r>
              <a:rPr lang="en-US" b="0" dirty="0" err="1">
                <a:solidFill>
                  <a:srgbClr val="00B368"/>
                </a:solidFill>
                <a:effectLst/>
                <a:latin typeface="Consolas" panose="020B0609020204030204" pitchFamily="49" charset="0"/>
              </a:rPr>
              <a:t>adv_python</a:t>
            </a:r>
            <a:r>
              <a:rPr lang="en-US" b="0" dirty="0">
                <a:solidFill>
                  <a:srgbClr val="00B368"/>
                </a:solidFill>
                <a:effectLst/>
                <a:latin typeface="Consolas" panose="020B0609020204030204" pitchFamily="49" charset="0"/>
              </a:rPr>
              <a:t>"</a:t>
            </a:r>
            <a:endParaRPr lang="en-US" b="0" dirty="0">
              <a:solidFill>
                <a:srgbClr val="005661"/>
              </a:solidFill>
              <a:effectLst/>
              <a:latin typeface="Consolas" panose="020B0609020204030204" pitchFamily="49" charset="0"/>
            </a:endParaRPr>
          </a:p>
        </p:txBody>
      </p:sp>
      <p:pic>
        <p:nvPicPr>
          <p:cNvPr id="9" name="Picture 8">
            <a:extLst>
              <a:ext uri="{FF2B5EF4-FFF2-40B4-BE49-F238E27FC236}">
                <a16:creationId xmlns:a16="http://schemas.microsoft.com/office/drawing/2014/main" id="{12DA08C0-7BA4-A844-64E4-AFEB6E14BA4F}"/>
              </a:ext>
            </a:extLst>
          </p:cNvPr>
          <p:cNvPicPr>
            <a:picLocks noChangeAspect="1"/>
          </p:cNvPicPr>
          <p:nvPr/>
        </p:nvPicPr>
        <p:blipFill>
          <a:blip r:embed="rId2"/>
          <a:stretch>
            <a:fillRect/>
          </a:stretch>
        </p:blipFill>
        <p:spPr>
          <a:xfrm>
            <a:off x="5316772" y="2176051"/>
            <a:ext cx="5257800" cy="3465064"/>
          </a:xfrm>
          <a:prstGeom prst="rect">
            <a:avLst/>
          </a:prstGeom>
        </p:spPr>
      </p:pic>
    </p:spTree>
    <p:extLst>
      <p:ext uri="{BB962C8B-B14F-4D97-AF65-F5344CB8AC3E}">
        <p14:creationId xmlns:p14="http://schemas.microsoft.com/office/powerpoint/2010/main" val="31287732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EBDA9-2AE8-407D-53DA-563F747F4A91}"/>
              </a:ext>
            </a:extLst>
          </p:cNvPr>
          <p:cNvSpPr>
            <a:spLocks noGrp="1"/>
          </p:cNvSpPr>
          <p:nvPr>
            <p:ph type="title"/>
          </p:nvPr>
        </p:nvSpPr>
        <p:spPr/>
        <p:txBody>
          <a:bodyPr>
            <a:normAutofit/>
          </a:bodyPr>
          <a:lstStyle/>
          <a:p>
            <a:r>
              <a:rPr lang="en-US" dirty="0"/>
              <a:t>Pro-tip: Leave the base env alone!</a:t>
            </a:r>
          </a:p>
        </p:txBody>
      </p:sp>
      <p:sp>
        <p:nvSpPr>
          <p:cNvPr id="6" name="TextBox 5">
            <a:extLst>
              <a:ext uri="{FF2B5EF4-FFF2-40B4-BE49-F238E27FC236}">
                <a16:creationId xmlns:a16="http://schemas.microsoft.com/office/drawing/2014/main" id="{5A04F7D7-8F46-EE6E-8B3B-8BD471E2C1B2}"/>
              </a:ext>
            </a:extLst>
          </p:cNvPr>
          <p:cNvSpPr txBox="1"/>
          <p:nvPr/>
        </p:nvSpPr>
        <p:spPr>
          <a:xfrm>
            <a:off x="838200" y="1928880"/>
            <a:ext cx="10090527" cy="1200329"/>
          </a:xfrm>
          <a:prstGeom prst="rect">
            <a:avLst/>
          </a:prstGeom>
          <a:noFill/>
        </p:spPr>
        <p:txBody>
          <a:bodyPr wrap="square" rtlCol="0">
            <a:spAutoFit/>
          </a:bodyPr>
          <a:lstStyle/>
          <a:p>
            <a:endParaRPr lang="en-US" dirty="0">
              <a:solidFill>
                <a:srgbClr val="94573F"/>
              </a:solidFill>
              <a:latin typeface="Georgia" panose="02040502050405020303" pitchFamily="18" charset="0"/>
              <a:sym typeface="Wingdings" panose="05000000000000000000" pitchFamily="2" charset="2"/>
            </a:endParaRPr>
          </a:p>
          <a:p>
            <a:r>
              <a:rPr lang="en-US" dirty="0">
                <a:solidFill>
                  <a:srgbClr val="94573F"/>
                </a:solidFill>
                <a:latin typeface="Georgia" panose="02040502050405020303" pitchFamily="18" charset="0"/>
                <a:sym typeface="Wingdings" panose="05000000000000000000" pitchFamily="2" charset="2"/>
              </a:rPr>
              <a:t>Always create a new environment to test a package. Even if everything breaks, you can just remove the experimental environment via </a:t>
            </a:r>
            <a:r>
              <a:rPr lang="en-US" b="0" dirty="0" err="1">
                <a:solidFill>
                  <a:srgbClr val="00BDD6"/>
                </a:solidFill>
                <a:effectLst/>
                <a:latin typeface="Consolas" panose="020B0609020204030204" pitchFamily="49" charset="0"/>
              </a:rPr>
              <a:t>conda</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env</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remove</a:t>
            </a:r>
            <a:r>
              <a:rPr lang="en-US" b="0" dirty="0">
                <a:solidFill>
                  <a:srgbClr val="FA8900"/>
                </a:solidFill>
                <a:effectLst/>
                <a:latin typeface="Consolas" panose="020B0609020204030204" pitchFamily="49" charset="0"/>
              </a:rPr>
              <a:t> </a:t>
            </a:r>
            <a:r>
              <a:rPr lang="en-US" b="0" dirty="0">
                <a:solidFill>
                  <a:srgbClr val="A88C00"/>
                </a:solidFill>
                <a:effectLst/>
                <a:latin typeface="Consolas" panose="020B0609020204030204" pitchFamily="49" charset="0"/>
              </a:rPr>
              <a:t>--name</a:t>
            </a:r>
            <a:r>
              <a:rPr lang="en-US" b="0" dirty="0">
                <a:solidFill>
                  <a:srgbClr val="FA8900"/>
                </a:solidFill>
                <a:effectLst/>
                <a:latin typeface="Consolas" panose="020B0609020204030204" pitchFamily="49" charset="0"/>
              </a:rPr>
              <a:t> </a:t>
            </a:r>
            <a:r>
              <a:rPr lang="en-US" dirty="0" err="1">
                <a:solidFill>
                  <a:srgbClr val="00B368"/>
                </a:solidFill>
                <a:latin typeface="Consolas" panose="020B0609020204030204" pitchFamily="49" charset="0"/>
              </a:rPr>
              <a:t>exp_env</a:t>
            </a:r>
            <a:endParaRPr lang="en-US" b="0" dirty="0">
              <a:solidFill>
                <a:srgbClr val="00BDD6"/>
              </a:solidFill>
              <a:effectLst/>
              <a:latin typeface="Consolas" panose="020B0609020204030204" pitchFamily="49" charset="0"/>
            </a:endParaRPr>
          </a:p>
          <a:p>
            <a:r>
              <a:rPr lang="en-US" dirty="0">
                <a:solidFill>
                  <a:srgbClr val="94573F"/>
                </a:solidFill>
                <a:latin typeface="Georgia" panose="02040502050405020303" pitchFamily="18" charset="0"/>
                <a:sym typeface="Wingdings" panose="05000000000000000000" pitchFamily="2" charset="2"/>
              </a:rPr>
              <a:t> and create a new one.</a:t>
            </a:r>
          </a:p>
        </p:txBody>
      </p:sp>
    </p:spTree>
    <p:extLst>
      <p:ext uri="{BB962C8B-B14F-4D97-AF65-F5344CB8AC3E}">
        <p14:creationId xmlns:p14="http://schemas.microsoft.com/office/powerpoint/2010/main" val="15410220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EBDA9-2AE8-407D-53DA-563F747F4A91}"/>
              </a:ext>
            </a:extLst>
          </p:cNvPr>
          <p:cNvSpPr>
            <a:spLocks noGrp="1"/>
          </p:cNvSpPr>
          <p:nvPr>
            <p:ph type="title"/>
          </p:nvPr>
        </p:nvSpPr>
        <p:spPr/>
        <p:txBody>
          <a:bodyPr>
            <a:normAutofit/>
          </a:bodyPr>
          <a:lstStyle/>
          <a:p>
            <a:r>
              <a:rPr lang="en-US" dirty="0"/>
              <a:t>Common env </a:t>
            </a:r>
            <a:r>
              <a:rPr lang="en-US" dirty="0" err="1"/>
              <a:t>mgmt</a:t>
            </a:r>
            <a:r>
              <a:rPr lang="en-US" dirty="0"/>
              <a:t> commands</a:t>
            </a:r>
          </a:p>
        </p:txBody>
      </p:sp>
      <p:graphicFrame>
        <p:nvGraphicFramePr>
          <p:cNvPr id="3" name="Table 2">
            <a:extLst>
              <a:ext uri="{FF2B5EF4-FFF2-40B4-BE49-F238E27FC236}">
                <a16:creationId xmlns:a16="http://schemas.microsoft.com/office/drawing/2014/main" id="{F1A99BE6-2B8A-F1C2-C549-5B9B9A51FD65}"/>
              </a:ext>
            </a:extLst>
          </p:cNvPr>
          <p:cNvGraphicFramePr>
            <a:graphicFrameLocks noGrp="1"/>
          </p:cNvGraphicFramePr>
          <p:nvPr/>
        </p:nvGraphicFramePr>
        <p:xfrm>
          <a:off x="487681" y="1463495"/>
          <a:ext cx="11223929" cy="5242560"/>
        </p:xfrm>
        <a:graphic>
          <a:graphicData uri="http://schemas.openxmlformats.org/drawingml/2006/table">
            <a:tbl>
              <a:tblPr firstRow="1" bandRow="1">
                <a:tableStyleId>{2D5ABB26-0587-4C30-8999-92F81FD0307C}</a:tableStyleId>
              </a:tblPr>
              <a:tblGrid>
                <a:gridCol w="2016320">
                  <a:extLst>
                    <a:ext uri="{9D8B030D-6E8A-4147-A177-3AD203B41FA5}">
                      <a16:colId xmlns:a16="http://schemas.microsoft.com/office/drawing/2014/main" val="1870553568"/>
                    </a:ext>
                  </a:extLst>
                </a:gridCol>
                <a:gridCol w="9207609">
                  <a:extLst>
                    <a:ext uri="{9D8B030D-6E8A-4147-A177-3AD203B41FA5}">
                      <a16:colId xmlns:a16="http://schemas.microsoft.com/office/drawing/2014/main" val="2072847954"/>
                    </a:ext>
                  </a:extLst>
                </a:gridCol>
              </a:tblGrid>
              <a:tr h="370840">
                <a:tc>
                  <a:txBody>
                    <a:bodyPr/>
                    <a:lstStyle/>
                    <a:p>
                      <a:pPr algn="r"/>
                      <a:r>
                        <a:rPr lang="en-US" sz="1200" dirty="0">
                          <a:solidFill>
                            <a:srgbClr val="94573F"/>
                          </a:solidFill>
                          <a:latin typeface="Georgia" panose="02040502050405020303" pitchFamily="18" charset="0"/>
                        </a:rPr>
                        <a:t>List environments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env </a:t>
                      </a:r>
                      <a:r>
                        <a:rPr lang="en-US" sz="2200" b="0" dirty="0">
                          <a:solidFill>
                            <a:srgbClr val="00B368"/>
                          </a:solidFill>
                          <a:effectLst/>
                          <a:latin typeface="Consolas" panose="020B0609020204030204" pitchFamily="49" charset="0"/>
                        </a:rPr>
                        <a:t>list</a:t>
                      </a:r>
                      <a:endParaRPr lang="en-US" sz="2200" b="0" dirty="0">
                        <a:solidFill>
                          <a:srgbClr val="005661"/>
                        </a:solidFill>
                        <a:effectLst/>
                        <a:latin typeface="Consolas" panose="020B0609020204030204" pitchFamily="49" charset="0"/>
                      </a:endParaRPr>
                    </a:p>
                  </a:txBody>
                  <a:tcPr/>
                </a:tc>
                <a:extLst>
                  <a:ext uri="{0D108BD9-81ED-4DB2-BD59-A6C34878D82A}">
                    <a16:rowId xmlns:a16="http://schemas.microsoft.com/office/drawing/2014/main" val="4187164875"/>
                  </a:ext>
                </a:extLst>
              </a:tr>
              <a:tr h="370840">
                <a:tc>
                  <a:txBody>
                    <a:bodyPr/>
                    <a:lstStyle/>
                    <a:p>
                      <a:pPr algn="r"/>
                      <a:r>
                        <a:rPr lang="en-US" sz="1200" dirty="0">
                          <a:solidFill>
                            <a:srgbClr val="94573F"/>
                          </a:solidFill>
                          <a:latin typeface="Georgia" panose="02040502050405020303" pitchFamily="18" charset="0"/>
                        </a:rPr>
                        <a:t>Create a new environment</a:t>
                      </a:r>
                    </a:p>
                  </a:txBody>
                  <a:tcPr>
                    <a:solidFill>
                      <a:srgbClr val="E4F5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create</a:t>
                      </a:r>
                      <a:r>
                        <a:rPr lang="en-US" sz="2200" b="0" dirty="0">
                          <a:solidFill>
                            <a:srgbClr val="FA8900"/>
                          </a:solidFill>
                          <a:effectLst/>
                          <a:latin typeface="Consolas" panose="020B0609020204030204" pitchFamily="49" charset="0"/>
                        </a:rPr>
                        <a:t> </a:t>
                      </a:r>
                      <a:r>
                        <a:rPr lang="en-US" sz="2200" b="0" dirty="0">
                          <a:solidFill>
                            <a:srgbClr val="A88C00"/>
                          </a:solidFill>
                          <a:effectLst/>
                          <a:latin typeface="Consolas" panose="020B0609020204030204" pitchFamily="49" charset="0"/>
                        </a:rPr>
                        <a:t>--name</a:t>
                      </a:r>
                      <a:r>
                        <a:rPr lang="en-US" sz="2200" b="0" dirty="0">
                          <a:solidFill>
                            <a:srgbClr val="FA8900"/>
                          </a:solidFill>
                          <a:effectLst/>
                          <a:latin typeface="Consolas" panose="020B0609020204030204" pitchFamily="49" charset="0"/>
                        </a:rPr>
                        <a:t> </a:t>
                      </a:r>
                      <a:r>
                        <a:rPr lang="en-US" sz="2200" b="0" dirty="0" err="1">
                          <a:solidFill>
                            <a:srgbClr val="00B368"/>
                          </a:solidFill>
                          <a:effectLst/>
                          <a:latin typeface="Consolas" panose="020B0609020204030204" pitchFamily="49" charset="0"/>
                        </a:rPr>
                        <a:t>adv_python</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python=</a:t>
                      </a:r>
                      <a:r>
                        <a:rPr lang="en-US" sz="2200" b="0" dirty="0">
                          <a:solidFill>
                            <a:srgbClr val="5842FF"/>
                          </a:solidFill>
                          <a:effectLst/>
                          <a:latin typeface="Consolas" panose="020B0609020204030204" pitchFamily="49" charset="0"/>
                        </a:rPr>
                        <a:t>3.10</a:t>
                      </a:r>
                      <a:endParaRPr lang="en-US" sz="2200" b="0" dirty="0">
                        <a:solidFill>
                          <a:srgbClr val="005661"/>
                        </a:solidFill>
                        <a:effectLst/>
                        <a:latin typeface="Consolas" panose="020B0609020204030204" pitchFamily="49" charset="0"/>
                      </a:endParaRPr>
                    </a:p>
                  </a:txBody>
                  <a:tcPr>
                    <a:solidFill>
                      <a:srgbClr val="E4F5FF"/>
                    </a:solidFill>
                  </a:tcPr>
                </a:tc>
                <a:extLst>
                  <a:ext uri="{0D108BD9-81ED-4DB2-BD59-A6C34878D82A}">
                    <a16:rowId xmlns:a16="http://schemas.microsoft.com/office/drawing/2014/main" val="1678643494"/>
                  </a:ext>
                </a:extLst>
              </a:tr>
              <a:tr h="370840">
                <a:tc>
                  <a:txBody>
                    <a:bodyPr/>
                    <a:lstStyle/>
                    <a:p>
                      <a:pPr algn="r"/>
                      <a:r>
                        <a:rPr lang="en-US" sz="1200" dirty="0">
                          <a:solidFill>
                            <a:srgbClr val="94573F"/>
                          </a:solidFill>
                          <a:latin typeface="Georgia" panose="02040502050405020303" pitchFamily="18" charset="0"/>
                        </a:rPr>
                        <a:t>Create a new env and install packages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create</a:t>
                      </a:r>
                      <a:r>
                        <a:rPr lang="en-US" sz="2200" b="0" dirty="0">
                          <a:solidFill>
                            <a:srgbClr val="FA8900"/>
                          </a:solidFill>
                          <a:effectLst/>
                          <a:latin typeface="Consolas" panose="020B0609020204030204" pitchFamily="49" charset="0"/>
                        </a:rPr>
                        <a:t> </a:t>
                      </a:r>
                      <a:r>
                        <a:rPr lang="en-US" sz="2200" b="0" dirty="0">
                          <a:solidFill>
                            <a:srgbClr val="A88C00"/>
                          </a:solidFill>
                          <a:effectLst/>
                          <a:latin typeface="Consolas" panose="020B0609020204030204" pitchFamily="49" charset="0"/>
                        </a:rPr>
                        <a:t>--name</a:t>
                      </a:r>
                      <a:r>
                        <a:rPr lang="en-US" sz="2200" b="0" dirty="0">
                          <a:solidFill>
                            <a:srgbClr val="FA8900"/>
                          </a:solidFill>
                          <a:effectLst/>
                          <a:latin typeface="Consolas" panose="020B0609020204030204" pitchFamily="49" charset="0"/>
                        </a:rPr>
                        <a:t> </a:t>
                      </a:r>
                      <a:r>
                        <a:rPr lang="en-US" sz="2200" b="0" dirty="0" err="1">
                          <a:solidFill>
                            <a:srgbClr val="00B368"/>
                          </a:solidFill>
                          <a:effectLst/>
                          <a:latin typeface="Consolas" panose="020B0609020204030204" pitchFamily="49" charset="0"/>
                        </a:rPr>
                        <a:t>adv_python</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python=</a:t>
                      </a:r>
                      <a:r>
                        <a:rPr lang="en-US" sz="2200" b="0" dirty="0">
                          <a:solidFill>
                            <a:srgbClr val="5842FF"/>
                          </a:solidFill>
                          <a:effectLst/>
                          <a:latin typeface="Consolas" panose="020B0609020204030204" pitchFamily="49" charset="0"/>
                        </a:rPr>
                        <a:t>3.10 pandas </a:t>
                      </a:r>
                      <a:r>
                        <a:rPr lang="en-US" sz="2200" b="0" dirty="0" err="1">
                          <a:solidFill>
                            <a:srgbClr val="5842FF"/>
                          </a:solidFill>
                          <a:effectLst/>
                          <a:latin typeface="Consolas" panose="020B0609020204030204" pitchFamily="49" charset="0"/>
                        </a:rPr>
                        <a:t>numpy</a:t>
                      </a:r>
                      <a:endParaRPr lang="en-US" sz="2200" b="0" dirty="0">
                        <a:solidFill>
                          <a:srgbClr val="005661"/>
                        </a:solidFill>
                        <a:effectLst/>
                        <a:latin typeface="Consolas" panose="020B0609020204030204" pitchFamily="49" charset="0"/>
                      </a:endParaRPr>
                    </a:p>
                  </a:txBody>
                  <a:tcPr/>
                </a:tc>
                <a:extLst>
                  <a:ext uri="{0D108BD9-81ED-4DB2-BD59-A6C34878D82A}">
                    <a16:rowId xmlns:a16="http://schemas.microsoft.com/office/drawing/2014/main" val="311572444"/>
                  </a:ext>
                </a:extLst>
              </a:tr>
              <a:tr h="370840">
                <a:tc>
                  <a:txBody>
                    <a:bodyPr/>
                    <a:lstStyle/>
                    <a:p>
                      <a:pPr algn="r"/>
                      <a:r>
                        <a:rPr lang="en-US" sz="1200" dirty="0">
                          <a:solidFill>
                            <a:srgbClr val="94573F"/>
                          </a:solidFill>
                          <a:latin typeface="Georgia" panose="02040502050405020303" pitchFamily="18" charset="0"/>
                        </a:rPr>
                        <a:t>Clone an environment</a:t>
                      </a:r>
                    </a:p>
                  </a:txBody>
                  <a:tcPr>
                    <a:solidFill>
                      <a:srgbClr val="E4F5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create</a:t>
                      </a:r>
                      <a:r>
                        <a:rPr lang="en-US" sz="2200" b="0" dirty="0">
                          <a:solidFill>
                            <a:srgbClr val="FA8900"/>
                          </a:solidFill>
                          <a:effectLst/>
                          <a:latin typeface="Consolas" panose="020B0609020204030204" pitchFamily="49" charset="0"/>
                        </a:rPr>
                        <a:t> </a:t>
                      </a:r>
                      <a:r>
                        <a:rPr lang="en-US" sz="2200" b="0" dirty="0">
                          <a:solidFill>
                            <a:srgbClr val="A88C00"/>
                          </a:solidFill>
                          <a:effectLst/>
                          <a:latin typeface="Consolas" panose="020B0609020204030204" pitchFamily="49" charset="0"/>
                        </a:rPr>
                        <a:t>--clone</a:t>
                      </a:r>
                      <a:r>
                        <a:rPr lang="en-US" sz="2200" b="0" dirty="0">
                          <a:solidFill>
                            <a:srgbClr val="FA8900"/>
                          </a:solidFill>
                          <a:effectLst/>
                          <a:latin typeface="Consolas" panose="020B0609020204030204" pitchFamily="49" charset="0"/>
                        </a:rPr>
                        <a:t> </a:t>
                      </a:r>
                      <a:r>
                        <a:rPr lang="en-US" sz="2200" b="0" dirty="0" err="1">
                          <a:solidFill>
                            <a:srgbClr val="00B368"/>
                          </a:solidFill>
                          <a:effectLst/>
                          <a:latin typeface="Consolas" panose="020B0609020204030204" pitchFamily="49" charset="0"/>
                        </a:rPr>
                        <a:t>old_adv_python</a:t>
                      </a:r>
                      <a:r>
                        <a:rPr lang="en-US" sz="2200" b="0" dirty="0">
                          <a:solidFill>
                            <a:srgbClr val="00B368"/>
                          </a:solidFill>
                          <a:effectLst/>
                          <a:latin typeface="Consolas" panose="020B0609020204030204" pitchFamily="49" charset="0"/>
                        </a:rPr>
                        <a:t> </a:t>
                      </a:r>
                      <a:r>
                        <a:rPr lang="en-US" sz="2200" b="0" dirty="0">
                          <a:solidFill>
                            <a:srgbClr val="A88C00"/>
                          </a:solidFill>
                          <a:effectLst/>
                          <a:latin typeface="Consolas" panose="020B0609020204030204" pitchFamily="49" charset="0"/>
                        </a:rPr>
                        <a:t>--name</a:t>
                      </a:r>
                      <a:r>
                        <a:rPr lang="en-US" sz="2200" b="0" dirty="0">
                          <a:solidFill>
                            <a:srgbClr val="FA8900"/>
                          </a:solidFill>
                          <a:effectLst/>
                          <a:latin typeface="Consolas" panose="020B0609020204030204" pitchFamily="49" charset="0"/>
                        </a:rPr>
                        <a:t> </a:t>
                      </a:r>
                      <a:r>
                        <a:rPr lang="en-US" sz="2200" b="0" dirty="0" err="1">
                          <a:solidFill>
                            <a:srgbClr val="00B368"/>
                          </a:solidFill>
                          <a:effectLst/>
                          <a:latin typeface="Consolas" panose="020B0609020204030204" pitchFamily="49" charset="0"/>
                        </a:rPr>
                        <a:t>adv_python</a:t>
                      </a:r>
                      <a:endParaRPr lang="en-US" sz="2200" b="0" dirty="0">
                        <a:solidFill>
                          <a:srgbClr val="005661"/>
                        </a:solidFill>
                        <a:effectLst/>
                        <a:latin typeface="Consolas" panose="020B0609020204030204" pitchFamily="49" charset="0"/>
                      </a:endParaRPr>
                    </a:p>
                  </a:txBody>
                  <a:tcPr>
                    <a:solidFill>
                      <a:srgbClr val="E4F5FF"/>
                    </a:solidFill>
                  </a:tcPr>
                </a:tc>
                <a:extLst>
                  <a:ext uri="{0D108BD9-81ED-4DB2-BD59-A6C34878D82A}">
                    <a16:rowId xmlns:a16="http://schemas.microsoft.com/office/drawing/2014/main" val="2046452707"/>
                  </a:ext>
                </a:extLst>
              </a:tr>
              <a:tr h="370840">
                <a:tc>
                  <a:txBody>
                    <a:bodyPr/>
                    <a:lstStyle/>
                    <a:p>
                      <a:pPr algn="r"/>
                      <a:r>
                        <a:rPr lang="en-US" sz="1200" dirty="0">
                          <a:solidFill>
                            <a:srgbClr val="94573F"/>
                          </a:solidFill>
                          <a:latin typeface="Georgia" panose="02040502050405020303" pitchFamily="18" charset="0"/>
                        </a:rPr>
                        <a:t>Create an env based on a config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env </a:t>
                      </a:r>
                      <a:r>
                        <a:rPr lang="en-US" sz="2200" b="0" dirty="0">
                          <a:solidFill>
                            <a:srgbClr val="00B368"/>
                          </a:solidFill>
                          <a:effectLst/>
                          <a:latin typeface="Consolas" panose="020B0609020204030204" pitchFamily="49" charset="0"/>
                        </a:rPr>
                        <a:t>create</a:t>
                      </a:r>
                      <a:r>
                        <a:rPr lang="en-US" sz="2200" b="0" dirty="0">
                          <a:solidFill>
                            <a:srgbClr val="FA8900"/>
                          </a:solidFill>
                          <a:effectLst/>
                          <a:latin typeface="Consolas" panose="020B0609020204030204" pitchFamily="49" charset="0"/>
                        </a:rPr>
                        <a:t> </a:t>
                      </a:r>
                      <a:r>
                        <a:rPr lang="en-US" sz="2200" b="0" dirty="0">
                          <a:solidFill>
                            <a:srgbClr val="A88C00"/>
                          </a:solidFill>
                          <a:effectLst/>
                          <a:latin typeface="Consolas" panose="020B0609020204030204" pitchFamily="49" charset="0"/>
                        </a:rPr>
                        <a:t>--file</a:t>
                      </a:r>
                      <a:r>
                        <a:rPr lang="en-US" sz="2200" b="0" dirty="0">
                          <a:solidFill>
                            <a:srgbClr val="FA8900"/>
                          </a:solidFill>
                          <a:effectLst/>
                          <a:latin typeface="Consolas" panose="020B0609020204030204" pitchFamily="49" charset="0"/>
                        </a:rPr>
                        <a:t> </a:t>
                      </a:r>
                      <a:r>
                        <a:rPr lang="en-US" sz="2200" b="0" dirty="0" err="1">
                          <a:solidFill>
                            <a:srgbClr val="00B368"/>
                          </a:solidFill>
                          <a:effectLst/>
                          <a:latin typeface="Consolas" panose="020B0609020204030204" pitchFamily="49" charset="0"/>
                        </a:rPr>
                        <a:t>adv_python.yml</a:t>
                      </a:r>
                      <a:endParaRPr lang="en-US" sz="2200" b="0" dirty="0">
                        <a:solidFill>
                          <a:srgbClr val="005661"/>
                        </a:solidFill>
                        <a:effectLst/>
                        <a:latin typeface="Consolas" panose="020B0609020204030204" pitchFamily="49" charset="0"/>
                      </a:endParaRPr>
                    </a:p>
                  </a:txBody>
                  <a:tcPr/>
                </a:tc>
                <a:extLst>
                  <a:ext uri="{0D108BD9-81ED-4DB2-BD59-A6C34878D82A}">
                    <a16:rowId xmlns:a16="http://schemas.microsoft.com/office/drawing/2014/main" val="318939222"/>
                  </a:ext>
                </a:extLst>
              </a:tr>
              <a:tr h="370840">
                <a:tc>
                  <a:txBody>
                    <a:bodyPr/>
                    <a:lstStyle/>
                    <a:p>
                      <a:pPr algn="r"/>
                      <a:r>
                        <a:rPr lang="en-US" sz="1200" dirty="0">
                          <a:solidFill>
                            <a:srgbClr val="94573F"/>
                          </a:solidFill>
                          <a:latin typeface="Georgia" panose="02040502050405020303" pitchFamily="18" charset="0"/>
                        </a:rPr>
                        <a:t>Save environment to a file</a:t>
                      </a:r>
                    </a:p>
                  </a:txBody>
                  <a:tcPr>
                    <a:solidFill>
                      <a:srgbClr val="E4F5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list </a:t>
                      </a:r>
                      <a:r>
                        <a:rPr lang="en-US" sz="2200" b="0" dirty="0">
                          <a:solidFill>
                            <a:srgbClr val="A88C00"/>
                          </a:solidFill>
                          <a:effectLst/>
                          <a:latin typeface="Consolas" panose="020B0609020204030204" pitchFamily="49" charset="0"/>
                        </a:rPr>
                        <a:t>–-explicit &gt; </a:t>
                      </a:r>
                      <a:r>
                        <a:rPr lang="en-US" sz="2200" b="0" dirty="0" err="1">
                          <a:solidFill>
                            <a:srgbClr val="00B368"/>
                          </a:solidFill>
                          <a:effectLst/>
                          <a:latin typeface="Consolas" panose="020B0609020204030204" pitchFamily="49" charset="0"/>
                        </a:rPr>
                        <a:t>adv_python.yml</a:t>
                      </a:r>
                      <a:endParaRPr lang="en-US" sz="2200" b="0" dirty="0">
                        <a:solidFill>
                          <a:srgbClr val="005661"/>
                        </a:solidFill>
                        <a:effectLst/>
                        <a:latin typeface="Consolas" panose="020B0609020204030204" pitchFamily="49" charset="0"/>
                      </a:endParaRPr>
                    </a:p>
                  </a:txBody>
                  <a:tcPr>
                    <a:solidFill>
                      <a:srgbClr val="E4F5FF"/>
                    </a:solidFill>
                  </a:tcPr>
                </a:tc>
                <a:extLst>
                  <a:ext uri="{0D108BD9-81ED-4DB2-BD59-A6C34878D82A}">
                    <a16:rowId xmlns:a16="http://schemas.microsoft.com/office/drawing/2014/main" val="1236397026"/>
                  </a:ext>
                </a:extLst>
              </a:tr>
              <a:tr h="370840">
                <a:tc>
                  <a:txBody>
                    <a:bodyPr/>
                    <a:lstStyle/>
                    <a:p>
                      <a:pPr algn="r"/>
                      <a:r>
                        <a:rPr lang="en-US" sz="1200" dirty="0">
                          <a:solidFill>
                            <a:srgbClr val="94573F"/>
                          </a:solidFill>
                          <a:latin typeface="Georgia" panose="02040502050405020303" pitchFamily="18" charset="0"/>
                        </a:rPr>
                        <a:t>Show environment change history</a:t>
                      </a:r>
                    </a:p>
                  </a:txBody>
                  <a:tcPr>
                    <a:solidFill>
                      <a:srgbClr val="E4F5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list </a:t>
                      </a:r>
                      <a:r>
                        <a:rPr lang="en-US" sz="2200" b="0" dirty="0">
                          <a:solidFill>
                            <a:srgbClr val="A88C00"/>
                          </a:solidFill>
                          <a:effectLst/>
                          <a:latin typeface="Consolas" panose="020B0609020204030204" pitchFamily="49" charset="0"/>
                        </a:rPr>
                        <a:t>–-revisions</a:t>
                      </a:r>
                      <a:endParaRPr lang="en-US" sz="2200" b="0" dirty="0">
                        <a:solidFill>
                          <a:srgbClr val="005661"/>
                        </a:solidFill>
                        <a:effectLst/>
                        <a:latin typeface="Consolas" panose="020B0609020204030204" pitchFamily="49" charset="0"/>
                      </a:endParaRPr>
                    </a:p>
                  </a:txBody>
                  <a:tcPr>
                    <a:solidFill>
                      <a:srgbClr val="E4F5FF"/>
                    </a:solidFill>
                  </a:tcPr>
                </a:tc>
                <a:extLst>
                  <a:ext uri="{0D108BD9-81ED-4DB2-BD59-A6C34878D82A}">
                    <a16:rowId xmlns:a16="http://schemas.microsoft.com/office/drawing/2014/main" val="915173531"/>
                  </a:ext>
                </a:extLst>
              </a:tr>
              <a:tr h="370840">
                <a:tc>
                  <a:txBody>
                    <a:bodyPr/>
                    <a:lstStyle/>
                    <a:p>
                      <a:pPr algn="r"/>
                      <a:r>
                        <a:rPr lang="en-US" sz="1200" dirty="0">
                          <a:solidFill>
                            <a:srgbClr val="94573F"/>
                          </a:solidFill>
                          <a:latin typeface="Georgia" panose="02040502050405020303" pitchFamily="18" charset="0"/>
                        </a:rPr>
                        <a:t>Revert to an earlier version of </a:t>
                      </a:r>
                      <a:r>
                        <a:rPr lang="en-US" sz="1200" dirty="0" err="1">
                          <a:solidFill>
                            <a:srgbClr val="94573F"/>
                          </a:solidFill>
                          <a:latin typeface="Georgia" panose="02040502050405020303" pitchFamily="18" charset="0"/>
                        </a:rPr>
                        <a:t>enviornment</a:t>
                      </a:r>
                      <a:endParaRPr lang="en-US" sz="1200" dirty="0">
                        <a:solidFill>
                          <a:srgbClr val="94573F"/>
                        </a:solidFill>
                        <a:latin typeface="Georgia" panose="02040502050405020303" pitchFamily="18" charset="0"/>
                      </a:endParaRPr>
                    </a:p>
                  </a:txBody>
                  <a:tcPr>
                    <a:solidFill>
                      <a:srgbClr val="E4F5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install </a:t>
                      </a:r>
                      <a:r>
                        <a:rPr lang="en-US" sz="2200" b="0" dirty="0">
                          <a:solidFill>
                            <a:srgbClr val="A88C00"/>
                          </a:solidFill>
                          <a:effectLst/>
                          <a:latin typeface="Consolas" panose="020B0609020204030204" pitchFamily="49" charset="0"/>
                        </a:rPr>
                        <a:t>–-revision </a:t>
                      </a:r>
                      <a:r>
                        <a:rPr lang="en-US" sz="2200" b="0" dirty="0">
                          <a:solidFill>
                            <a:srgbClr val="5842FF"/>
                          </a:solidFill>
                          <a:effectLst/>
                          <a:latin typeface="Consolas" panose="020B0609020204030204" pitchFamily="49" charset="0"/>
                        </a:rPr>
                        <a:t>3</a:t>
                      </a:r>
                      <a:endParaRPr lang="en-US" sz="2200" b="0" dirty="0">
                        <a:solidFill>
                          <a:srgbClr val="005661"/>
                        </a:solidFill>
                        <a:effectLst/>
                        <a:latin typeface="Consolas" panose="020B0609020204030204" pitchFamily="49" charset="0"/>
                      </a:endParaRPr>
                    </a:p>
                  </a:txBody>
                  <a:tcPr>
                    <a:solidFill>
                      <a:srgbClr val="E4F5FF"/>
                    </a:solidFill>
                  </a:tcPr>
                </a:tc>
                <a:extLst>
                  <a:ext uri="{0D108BD9-81ED-4DB2-BD59-A6C34878D82A}">
                    <a16:rowId xmlns:a16="http://schemas.microsoft.com/office/drawing/2014/main" val="3125951535"/>
                  </a:ext>
                </a:extLst>
              </a:tr>
              <a:tr h="370840">
                <a:tc>
                  <a:txBody>
                    <a:bodyPr/>
                    <a:lstStyle/>
                    <a:p>
                      <a:pPr algn="r"/>
                      <a:r>
                        <a:rPr lang="en-US" sz="1200" dirty="0">
                          <a:solidFill>
                            <a:srgbClr val="94573F"/>
                          </a:solidFill>
                          <a:latin typeface="Georgia" panose="02040502050405020303" pitchFamily="18" charset="0"/>
                        </a:rPr>
                        <a:t>Activate an environment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activate</a:t>
                      </a:r>
                      <a:r>
                        <a:rPr lang="en-US" sz="2200" b="0" dirty="0">
                          <a:solidFill>
                            <a:srgbClr val="FA8900"/>
                          </a:solidFill>
                          <a:effectLst/>
                          <a:latin typeface="Consolas" panose="020B0609020204030204" pitchFamily="49" charset="0"/>
                        </a:rPr>
                        <a:t> </a:t>
                      </a:r>
                      <a:r>
                        <a:rPr lang="en-US" sz="2200" b="0" dirty="0" err="1">
                          <a:solidFill>
                            <a:srgbClr val="00B368"/>
                          </a:solidFill>
                          <a:effectLst/>
                          <a:latin typeface="Consolas" panose="020B0609020204030204" pitchFamily="49" charset="0"/>
                        </a:rPr>
                        <a:t>adv_python</a:t>
                      </a:r>
                      <a:endParaRPr lang="en-US" sz="2200" b="0" dirty="0">
                        <a:solidFill>
                          <a:srgbClr val="005661"/>
                        </a:solidFill>
                        <a:effectLst/>
                        <a:latin typeface="Consolas" panose="020B0609020204030204" pitchFamily="49" charset="0"/>
                      </a:endParaRPr>
                    </a:p>
                  </a:txBody>
                  <a:tcPr/>
                </a:tc>
                <a:extLst>
                  <a:ext uri="{0D108BD9-81ED-4DB2-BD59-A6C34878D82A}">
                    <a16:rowId xmlns:a16="http://schemas.microsoft.com/office/drawing/2014/main" val="1660403390"/>
                  </a:ext>
                </a:extLst>
              </a:tr>
              <a:tr h="370840">
                <a:tc>
                  <a:txBody>
                    <a:bodyPr/>
                    <a:lstStyle/>
                    <a:p>
                      <a:pPr algn="r"/>
                      <a:r>
                        <a:rPr lang="en-US" sz="1200" dirty="0">
                          <a:solidFill>
                            <a:srgbClr val="94573F"/>
                          </a:solidFill>
                          <a:latin typeface="Georgia" panose="02040502050405020303" pitchFamily="18" charset="0"/>
                        </a:rPr>
                        <a:t>Deactivate an environment</a:t>
                      </a:r>
                    </a:p>
                  </a:txBody>
                  <a:tcPr>
                    <a:solidFill>
                      <a:srgbClr val="E4F5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deactivate</a:t>
                      </a:r>
                      <a:endParaRPr lang="en-US" sz="2200" b="0" dirty="0">
                        <a:solidFill>
                          <a:srgbClr val="005661"/>
                        </a:solidFill>
                        <a:effectLst/>
                        <a:latin typeface="Consolas" panose="020B0609020204030204" pitchFamily="49" charset="0"/>
                      </a:endParaRPr>
                    </a:p>
                  </a:txBody>
                  <a:tcPr>
                    <a:solidFill>
                      <a:srgbClr val="E4F5FF"/>
                    </a:solidFill>
                  </a:tcPr>
                </a:tc>
                <a:extLst>
                  <a:ext uri="{0D108BD9-81ED-4DB2-BD59-A6C34878D82A}">
                    <a16:rowId xmlns:a16="http://schemas.microsoft.com/office/drawing/2014/main" val="1889715201"/>
                  </a:ext>
                </a:extLst>
              </a:tr>
              <a:tr h="370840">
                <a:tc>
                  <a:txBody>
                    <a:bodyPr/>
                    <a:lstStyle/>
                    <a:p>
                      <a:pPr algn="r"/>
                      <a:r>
                        <a:rPr lang="en-US" sz="1200" dirty="0">
                          <a:solidFill>
                            <a:srgbClr val="94573F"/>
                          </a:solidFill>
                          <a:latin typeface="Georgia" panose="02040502050405020303" pitchFamily="18" charset="0"/>
                        </a:rPr>
                        <a:t>Delete an environment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env</a:t>
                      </a:r>
                      <a:r>
                        <a:rPr lang="en-US" sz="2200" b="0" dirty="0">
                          <a:solidFill>
                            <a:srgbClr val="FA8900"/>
                          </a:solidFill>
                          <a:effectLst/>
                          <a:latin typeface="Consolas" panose="020B0609020204030204" pitchFamily="49" charset="0"/>
                        </a:rPr>
                        <a:t> </a:t>
                      </a:r>
                      <a:r>
                        <a:rPr lang="en-US" sz="2200" b="0" dirty="0">
                          <a:solidFill>
                            <a:srgbClr val="00B368"/>
                          </a:solidFill>
                          <a:effectLst/>
                          <a:latin typeface="Consolas" panose="020B0609020204030204" pitchFamily="49" charset="0"/>
                        </a:rPr>
                        <a:t>remove</a:t>
                      </a:r>
                      <a:r>
                        <a:rPr lang="en-US" sz="2200" b="0" dirty="0">
                          <a:solidFill>
                            <a:srgbClr val="FA8900"/>
                          </a:solidFill>
                          <a:effectLst/>
                          <a:latin typeface="Consolas" panose="020B0609020204030204" pitchFamily="49" charset="0"/>
                        </a:rPr>
                        <a:t> </a:t>
                      </a:r>
                      <a:r>
                        <a:rPr lang="en-US" sz="2200" b="0" dirty="0">
                          <a:solidFill>
                            <a:srgbClr val="A88C00"/>
                          </a:solidFill>
                          <a:effectLst/>
                          <a:latin typeface="Consolas" panose="020B0609020204030204" pitchFamily="49" charset="0"/>
                        </a:rPr>
                        <a:t>--name</a:t>
                      </a:r>
                      <a:r>
                        <a:rPr lang="en-US" sz="2200" b="0" dirty="0">
                          <a:solidFill>
                            <a:srgbClr val="FA8900"/>
                          </a:solidFill>
                          <a:effectLst/>
                          <a:latin typeface="Consolas" panose="020B0609020204030204" pitchFamily="49" charset="0"/>
                        </a:rPr>
                        <a:t> </a:t>
                      </a:r>
                      <a:r>
                        <a:rPr lang="en-US" sz="2200" b="0" dirty="0" err="1">
                          <a:solidFill>
                            <a:srgbClr val="00B368"/>
                          </a:solidFill>
                          <a:effectLst/>
                          <a:latin typeface="Consolas" panose="020B0609020204030204" pitchFamily="49" charset="0"/>
                        </a:rPr>
                        <a:t>adv_python</a:t>
                      </a:r>
                      <a:endParaRPr lang="en-US" sz="2200" b="0" dirty="0">
                        <a:solidFill>
                          <a:srgbClr val="00BDD6"/>
                        </a:solidFill>
                        <a:effectLst/>
                        <a:latin typeface="Consolas" panose="020B0609020204030204" pitchFamily="49" charset="0"/>
                      </a:endParaRPr>
                    </a:p>
                  </a:txBody>
                  <a:tcPr/>
                </a:tc>
                <a:extLst>
                  <a:ext uri="{0D108BD9-81ED-4DB2-BD59-A6C34878D82A}">
                    <a16:rowId xmlns:a16="http://schemas.microsoft.com/office/drawing/2014/main" val="586521668"/>
                  </a:ext>
                </a:extLst>
              </a:tr>
              <a:tr h="370840">
                <a:tc>
                  <a:txBody>
                    <a:bodyPr/>
                    <a:lstStyle/>
                    <a:p>
                      <a:pPr algn="r"/>
                      <a:endParaRPr lang="en-US" sz="1200" dirty="0">
                        <a:solidFill>
                          <a:srgbClr val="94573F"/>
                        </a:solidFill>
                        <a:latin typeface="Georgia" panose="02040502050405020303" pitchFamily="18"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2200" b="0" dirty="0">
                        <a:solidFill>
                          <a:srgbClr val="005661"/>
                        </a:solidFill>
                        <a:effectLst/>
                        <a:latin typeface="Consolas" panose="020B0609020204030204" pitchFamily="49" charset="0"/>
                      </a:endParaRPr>
                    </a:p>
                  </a:txBody>
                  <a:tcPr/>
                </a:tc>
                <a:extLst>
                  <a:ext uri="{0D108BD9-81ED-4DB2-BD59-A6C34878D82A}">
                    <a16:rowId xmlns:a16="http://schemas.microsoft.com/office/drawing/2014/main" val="1101349836"/>
                  </a:ext>
                </a:extLst>
              </a:tr>
            </a:tbl>
          </a:graphicData>
        </a:graphic>
      </p:graphicFrame>
      <p:sp>
        <p:nvSpPr>
          <p:cNvPr id="4" name="TextBox 3">
            <a:extLst>
              <a:ext uri="{FF2B5EF4-FFF2-40B4-BE49-F238E27FC236}">
                <a16:creationId xmlns:a16="http://schemas.microsoft.com/office/drawing/2014/main" id="{B3E8B8A9-E204-7A64-B4D3-4F19218B7A02}"/>
              </a:ext>
            </a:extLst>
          </p:cNvPr>
          <p:cNvSpPr txBox="1"/>
          <p:nvPr/>
        </p:nvSpPr>
        <p:spPr>
          <a:xfrm>
            <a:off x="4705182" y="6310264"/>
            <a:ext cx="7141600" cy="246221"/>
          </a:xfrm>
          <a:prstGeom prst="rect">
            <a:avLst/>
          </a:prstGeom>
          <a:noFill/>
        </p:spPr>
        <p:txBody>
          <a:bodyPr wrap="square">
            <a:spAutoFit/>
          </a:bodyPr>
          <a:lstStyle/>
          <a:p>
            <a:r>
              <a:rPr lang="en-US" sz="1000" dirty="0">
                <a:solidFill>
                  <a:srgbClr val="94573F"/>
                </a:solidFill>
                <a:latin typeface="Georgia" panose="02040502050405020303" pitchFamily="18" charset="0"/>
              </a:rPr>
              <a:t>https://docs.conda.io/projects/conda/en/4.6.0/_downloads/52a95608c49671267e40c689e0bc00ca/conda-cheatsheet.pdf</a:t>
            </a:r>
          </a:p>
        </p:txBody>
      </p:sp>
    </p:spTree>
    <p:extLst>
      <p:ext uri="{BB962C8B-B14F-4D97-AF65-F5344CB8AC3E}">
        <p14:creationId xmlns:p14="http://schemas.microsoft.com/office/powerpoint/2010/main" val="36186392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EBDA9-2AE8-407D-53DA-563F747F4A91}"/>
              </a:ext>
            </a:extLst>
          </p:cNvPr>
          <p:cNvSpPr>
            <a:spLocks noGrp="1"/>
          </p:cNvSpPr>
          <p:nvPr>
            <p:ph type="title"/>
          </p:nvPr>
        </p:nvSpPr>
        <p:spPr/>
        <p:txBody>
          <a:bodyPr/>
          <a:lstStyle/>
          <a:p>
            <a:r>
              <a:rPr lang="en-US" dirty="0"/>
              <a:t>You should know about ~/.</a:t>
            </a:r>
            <a:r>
              <a:rPr lang="en-US" dirty="0" err="1"/>
              <a:t>condarc</a:t>
            </a:r>
            <a:endParaRPr lang="en-US" dirty="0"/>
          </a:p>
        </p:txBody>
      </p:sp>
      <p:sp>
        <p:nvSpPr>
          <p:cNvPr id="7" name="TextBox 6">
            <a:extLst>
              <a:ext uri="{FF2B5EF4-FFF2-40B4-BE49-F238E27FC236}">
                <a16:creationId xmlns:a16="http://schemas.microsoft.com/office/drawing/2014/main" id="{859EFE73-0754-27BE-E115-0E3EF563D6BD}"/>
              </a:ext>
            </a:extLst>
          </p:cNvPr>
          <p:cNvSpPr txBox="1"/>
          <p:nvPr/>
        </p:nvSpPr>
        <p:spPr>
          <a:xfrm>
            <a:off x="838200" y="1961166"/>
            <a:ext cx="6094674" cy="646331"/>
          </a:xfrm>
          <a:prstGeom prst="rect">
            <a:avLst/>
          </a:prstGeom>
          <a:noFill/>
        </p:spPr>
        <p:txBody>
          <a:bodyPr wrap="square">
            <a:spAutoFit/>
          </a:bodyPr>
          <a:lstStyle/>
          <a:p>
            <a:r>
              <a:rPr lang="en-US" b="0" dirty="0">
                <a:solidFill>
                  <a:srgbClr val="E64100"/>
                </a:solidFill>
                <a:effectLst/>
                <a:latin typeface="Consolas" panose="020B0609020204030204" pitchFamily="49" charset="0"/>
              </a:rPr>
              <a:t>channels</a:t>
            </a:r>
            <a:r>
              <a:rPr lang="en-US" b="1" dirty="0">
                <a:solidFill>
                  <a:srgbClr val="004D57"/>
                </a:solidFill>
                <a:effectLst/>
                <a:latin typeface="Consolas" panose="020B0609020204030204" pitchFamily="49" charset="0"/>
              </a:rPr>
              <a:t>:</a:t>
            </a:r>
            <a:endParaRPr lang="en-US" b="0" dirty="0">
              <a:solidFill>
                <a:srgbClr val="005661"/>
              </a:solidFill>
              <a:effectLst/>
              <a:latin typeface="Consolas" panose="020B0609020204030204" pitchFamily="49" charset="0"/>
            </a:endParaRPr>
          </a:p>
          <a:p>
            <a:r>
              <a:rPr lang="en-US" b="0" dirty="0">
                <a:solidFill>
                  <a:srgbClr val="005661"/>
                </a:solidFill>
                <a:effectLst/>
                <a:latin typeface="Consolas" panose="020B0609020204030204" pitchFamily="49" charset="0"/>
              </a:rPr>
              <a:t>  </a:t>
            </a:r>
            <a:r>
              <a:rPr lang="en-US" b="0" dirty="0">
                <a:solidFill>
                  <a:srgbClr val="004D57"/>
                </a:solidFill>
                <a:effectLst/>
                <a:latin typeface="Consolas" panose="020B0609020204030204" pitchFamily="49" charset="0"/>
              </a:rPr>
              <a:t>-</a:t>
            </a:r>
            <a:r>
              <a:rPr lang="en-US" b="0" dirty="0">
                <a:solidFill>
                  <a:srgbClr val="005661"/>
                </a:solidFill>
                <a:effectLst/>
                <a:latin typeface="Consolas" panose="020B0609020204030204" pitchFamily="49" charset="0"/>
              </a:rPr>
              <a:t> </a:t>
            </a:r>
            <a:r>
              <a:rPr lang="en-US" b="0" dirty="0">
                <a:solidFill>
                  <a:srgbClr val="00B368"/>
                </a:solidFill>
                <a:effectLst/>
                <a:latin typeface="Consolas" panose="020B0609020204030204" pitchFamily="49" charset="0"/>
              </a:rPr>
              <a:t>defaults</a:t>
            </a:r>
            <a:endParaRPr lang="en-US" b="0" dirty="0">
              <a:solidFill>
                <a:srgbClr val="005661"/>
              </a:solidFill>
              <a:effectLst/>
              <a:latin typeface="Consolas" panose="020B0609020204030204" pitchFamily="49" charset="0"/>
            </a:endParaRPr>
          </a:p>
        </p:txBody>
      </p:sp>
      <p:sp>
        <p:nvSpPr>
          <p:cNvPr id="11" name="TextBox 10">
            <a:extLst>
              <a:ext uri="{FF2B5EF4-FFF2-40B4-BE49-F238E27FC236}">
                <a16:creationId xmlns:a16="http://schemas.microsoft.com/office/drawing/2014/main" id="{45E97F66-9B3F-F0E3-0D8E-AC721FCE3F17}"/>
              </a:ext>
            </a:extLst>
          </p:cNvPr>
          <p:cNvSpPr txBox="1"/>
          <p:nvPr/>
        </p:nvSpPr>
        <p:spPr>
          <a:xfrm>
            <a:off x="5760108" y="2066706"/>
            <a:ext cx="5593692" cy="3693319"/>
          </a:xfrm>
          <a:prstGeom prst="rect">
            <a:avLst/>
          </a:prstGeom>
          <a:noFill/>
        </p:spPr>
        <p:txBody>
          <a:bodyPr wrap="square">
            <a:spAutoFit/>
          </a:bodyPr>
          <a:lstStyle/>
          <a:p>
            <a:r>
              <a:rPr lang="en-US" b="0" dirty="0">
                <a:solidFill>
                  <a:srgbClr val="E64100"/>
                </a:solidFill>
                <a:effectLst/>
                <a:latin typeface="Consolas" panose="020B0609020204030204" pitchFamily="49" charset="0"/>
              </a:rPr>
              <a:t>channels</a:t>
            </a:r>
            <a:r>
              <a:rPr lang="en-US" b="1" dirty="0">
                <a:solidFill>
                  <a:srgbClr val="004D57"/>
                </a:solidFill>
                <a:effectLst/>
                <a:latin typeface="Consolas" panose="020B0609020204030204" pitchFamily="49" charset="0"/>
              </a:rPr>
              <a:t>:</a:t>
            </a:r>
            <a:endParaRPr lang="en-US" b="0" dirty="0">
              <a:solidFill>
                <a:srgbClr val="005661"/>
              </a:solidFill>
              <a:effectLst/>
              <a:latin typeface="Consolas" panose="020B0609020204030204" pitchFamily="49" charset="0"/>
            </a:endParaRPr>
          </a:p>
          <a:p>
            <a:r>
              <a:rPr lang="en-US" b="0" dirty="0">
                <a:solidFill>
                  <a:srgbClr val="005661"/>
                </a:solidFill>
                <a:effectLst/>
                <a:latin typeface="Consolas" panose="020B0609020204030204" pitchFamily="49" charset="0"/>
              </a:rPr>
              <a:t>  </a:t>
            </a:r>
            <a:r>
              <a:rPr lang="en-US" b="0" dirty="0">
                <a:solidFill>
                  <a:srgbClr val="004D57"/>
                </a:solidFill>
                <a:effectLst/>
                <a:latin typeface="Consolas" panose="020B0609020204030204" pitchFamily="49" charset="0"/>
              </a:rPr>
              <a:t>-</a:t>
            </a:r>
            <a:r>
              <a:rPr lang="en-US" b="0" dirty="0">
                <a:solidFill>
                  <a:srgbClr val="005661"/>
                </a:solidFill>
                <a:effectLst/>
                <a:latin typeface="Consolas" panose="020B0609020204030204" pitchFamily="49" charset="0"/>
              </a:rPr>
              <a:t> </a:t>
            </a:r>
            <a:r>
              <a:rPr lang="en-US" b="0" dirty="0">
                <a:solidFill>
                  <a:srgbClr val="00B368"/>
                </a:solidFill>
                <a:effectLst/>
                <a:latin typeface="Consolas" panose="020B0609020204030204" pitchFamily="49" charset="0"/>
              </a:rPr>
              <a:t>defaults</a:t>
            </a:r>
            <a:endParaRPr lang="en-US" b="0" dirty="0">
              <a:solidFill>
                <a:srgbClr val="005661"/>
              </a:solidFill>
              <a:effectLst/>
              <a:latin typeface="Consolas" panose="020B0609020204030204" pitchFamily="49" charset="0"/>
            </a:endParaRPr>
          </a:p>
          <a:p>
            <a:br>
              <a:rPr lang="en-US" b="0" dirty="0">
                <a:solidFill>
                  <a:srgbClr val="005661"/>
                </a:solidFill>
                <a:effectLst/>
                <a:latin typeface="Consolas" panose="020B0609020204030204" pitchFamily="49" charset="0"/>
              </a:rPr>
            </a:br>
            <a:r>
              <a:rPr lang="en-US" b="0" i="1" dirty="0">
                <a:solidFill>
                  <a:srgbClr val="8CA6A6"/>
                </a:solidFill>
                <a:effectLst/>
                <a:latin typeface="Consolas" panose="020B0609020204030204" pitchFamily="49" charset="0"/>
              </a:rPr>
              <a:t># </a:t>
            </a:r>
            <a:r>
              <a:rPr lang="en-US" b="0" i="1" dirty="0" err="1">
                <a:solidFill>
                  <a:srgbClr val="8CA6A6"/>
                </a:solidFill>
                <a:effectLst/>
                <a:latin typeface="Consolas" panose="020B0609020204030204" pitchFamily="49" charset="0"/>
              </a:rPr>
              <a:t>default_channels</a:t>
            </a:r>
            <a:r>
              <a:rPr lang="en-US" b="0" i="1" dirty="0">
                <a:solidFill>
                  <a:srgbClr val="8CA6A6"/>
                </a:solidFill>
                <a:effectLst/>
                <a:latin typeface="Consolas" panose="020B0609020204030204" pitchFamily="49" charset="0"/>
              </a:rPr>
              <a:t>:</a:t>
            </a:r>
            <a:endParaRPr lang="en-US" b="0" dirty="0">
              <a:solidFill>
                <a:srgbClr val="005661"/>
              </a:solidFill>
              <a:effectLst/>
              <a:latin typeface="Consolas" panose="020B0609020204030204" pitchFamily="49" charset="0"/>
            </a:endParaRPr>
          </a:p>
          <a:p>
            <a:r>
              <a:rPr lang="en-US" b="0" i="1" dirty="0">
                <a:solidFill>
                  <a:srgbClr val="8CA6A6"/>
                </a:solidFill>
                <a:effectLst/>
                <a:latin typeface="Consolas" panose="020B0609020204030204" pitchFamily="49" charset="0"/>
              </a:rPr>
              <a:t>#   - https://repo.anaconda.com/pkgs/main</a:t>
            </a:r>
            <a:endParaRPr lang="en-US" b="0" dirty="0">
              <a:solidFill>
                <a:srgbClr val="005661"/>
              </a:solidFill>
              <a:effectLst/>
              <a:latin typeface="Consolas" panose="020B0609020204030204" pitchFamily="49" charset="0"/>
            </a:endParaRPr>
          </a:p>
          <a:p>
            <a:r>
              <a:rPr lang="en-US" b="0" i="1" dirty="0">
                <a:solidFill>
                  <a:srgbClr val="8CA6A6"/>
                </a:solidFill>
                <a:effectLst/>
                <a:latin typeface="Consolas" panose="020B0609020204030204" pitchFamily="49" charset="0"/>
              </a:rPr>
              <a:t>#   - https://repo.anaconda.com/pkgs/r</a:t>
            </a:r>
            <a:endParaRPr lang="en-US" b="0" dirty="0">
              <a:solidFill>
                <a:srgbClr val="005661"/>
              </a:solidFill>
              <a:effectLst/>
              <a:latin typeface="Consolas" panose="020B0609020204030204" pitchFamily="49" charset="0"/>
            </a:endParaRPr>
          </a:p>
          <a:p>
            <a:br>
              <a:rPr lang="en-US" b="0" dirty="0">
                <a:solidFill>
                  <a:srgbClr val="005661"/>
                </a:solidFill>
                <a:effectLst/>
                <a:latin typeface="Consolas" panose="020B0609020204030204" pitchFamily="49" charset="0"/>
              </a:rPr>
            </a:br>
            <a:r>
              <a:rPr lang="en-US" b="0" dirty="0" err="1">
                <a:solidFill>
                  <a:srgbClr val="E64100"/>
                </a:solidFill>
                <a:effectLst/>
                <a:latin typeface="Consolas" panose="020B0609020204030204" pitchFamily="49" charset="0"/>
              </a:rPr>
              <a:t>envs_dirs</a:t>
            </a:r>
            <a:r>
              <a:rPr lang="en-US" b="1" dirty="0">
                <a:solidFill>
                  <a:srgbClr val="004D57"/>
                </a:solidFill>
                <a:effectLst/>
                <a:latin typeface="Consolas" panose="020B0609020204030204" pitchFamily="49" charset="0"/>
              </a:rPr>
              <a:t>:</a:t>
            </a:r>
            <a:r>
              <a:rPr lang="en-US" b="0" dirty="0">
                <a:solidFill>
                  <a:srgbClr val="005661"/>
                </a:solidFill>
                <a:effectLst/>
                <a:latin typeface="Consolas" panose="020B0609020204030204" pitchFamily="49" charset="0"/>
              </a:rPr>
              <a:t> </a:t>
            </a:r>
            <a:r>
              <a:rPr lang="en-US" b="0" dirty="0">
                <a:solidFill>
                  <a:srgbClr val="004D57"/>
                </a:solidFill>
                <a:effectLst/>
                <a:latin typeface="Consolas" panose="020B0609020204030204" pitchFamily="49" charset="0"/>
              </a:rPr>
              <a:t>[]</a:t>
            </a:r>
            <a:endParaRPr lang="en-US" b="0" dirty="0">
              <a:solidFill>
                <a:srgbClr val="005661"/>
              </a:solidFill>
              <a:effectLst/>
              <a:latin typeface="Consolas" panose="020B0609020204030204" pitchFamily="49" charset="0"/>
            </a:endParaRPr>
          </a:p>
          <a:p>
            <a:r>
              <a:rPr lang="en-US" b="0" dirty="0" err="1">
                <a:solidFill>
                  <a:srgbClr val="E64100"/>
                </a:solidFill>
                <a:effectLst/>
                <a:latin typeface="Consolas" panose="020B0609020204030204" pitchFamily="49" charset="0"/>
              </a:rPr>
              <a:t>pkgs_dirs</a:t>
            </a:r>
            <a:r>
              <a:rPr lang="en-US" b="1" dirty="0">
                <a:solidFill>
                  <a:srgbClr val="004D57"/>
                </a:solidFill>
                <a:effectLst/>
                <a:latin typeface="Consolas" panose="020B0609020204030204" pitchFamily="49" charset="0"/>
              </a:rPr>
              <a:t>:</a:t>
            </a:r>
            <a:r>
              <a:rPr lang="en-US" b="0" dirty="0">
                <a:solidFill>
                  <a:srgbClr val="005661"/>
                </a:solidFill>
                <a:effectLst/>
                <a:latin typeface="Consolas" panose="020B0609020204030204" pitchFamily="49" charset="0"/>
              </a:rPr>
              <a:t> </a:t>
            </a:r>
            <a:r>
              <a:rPr lang="en-US" b="0" dirty="0">
                <a:solidFill>
                  <a:srgbClr val="004D57"/>
                </a:solidFill>
                <a:effectLst/>
                <a:latin typeface="Consolas" panose="020B0609020204030204" pitchFamily="49" charset="0"/>
              </a:rPr>
              <a:t>[]</a:t>
            </a:r>
            <a:endParaRPr lang="en-US" b="0" dirty="0">
              <a:solidFill>
                <a:srgbClr val="005661"/>
              </a:solidFill>
              <a:effectLst/>
              <a:latin typeface="Consolas" panose="020B0609020204030204" pitchFamily="49" charset="0"/>
            </a:endParaRPr>
          </a:p>
          <a:p>
            <a:r>
              <a:rPr lang="en-US" b="0" i="1" dirty="0">
                <a:solidFill>
                  <a:srgbClr val="8CA6A6"/>
                </a:solidFill>
                <a:effectLst/>
                <a:latin typeface="Consolas" panose="020B0609020204030204" pitchFamily="49" charset="0"/>
              </a:rPr>
              <a:t># </a:t>
            </a:r>
            <a:r>
              <a:rPr lang="en-US" b="0" i="1" dirty="0" err="1">
                <a:solidFill>
                  <a:srgbClr val="8CA6A6"/>
                </a:solidFill>
                <a:effectLst/>
                <a:latin typeface="Consolas" panose="020B0609020204030204" pitchFamily="49" charset="0"/>
              </a:rPr>
              <a:t>client_ssl_cert</a:t>
            </a:r>
            <a:r>
              <a:rPr lang="en-US" b="0" i="1" dirty="0">
                <a:solidFill>
                  <a:srgbClr val="8CA6A6"/>
                </a:solidFill>
                <a:effectLst/>
                <a:latin typeface="Consolas" panose="020B0609020204030204" pitchFamily="49" charset="0"/>
              </a:rPr>
              <a:t>:</a:t>
            </a:r>
            <a:endParaRPr lang="en-US" b="0" dirty="0">
              <a:solidFill>
                <a:srgbClr val="005661"/>
              </a:solidFill>
              <a:effectLst/>
              <a:latin typeface="Consolas" panose="020B0609020204030204" pitchFamily="49" charset="0"/>
            </a:endParaRPr>
          </a:p>
          <a:p>
            <a:r>
              <a:rPr lang="en-US" b="0" i="1" dirty="0">
                <a:solidFill>
                  <a:srgbClr val="8CA6A6"/>
                </a:solidFill>
                <a:effectLst/>
                <a:latin typeface="Consolas" panose="020B0609020204030204" pitchFamily="49" charset="0"/>
              </a:rPr>
              <a:t># </a:t>
            </a:r>
            <a:r>
              <a:rPr lang="en-US" b="0" i="1" dirty="0" err="1">
                <a:solidFill>
                  <a:srgbClr val="8CA6A6"/>
                </a:solidFill>
                <a:effectLst/>
                <a:latin typeface="Consolas" panose="020B0609020204030204" pitchFamily="49" charset="0"/>
              </a:rPr>
              <a:t>client_ssl_cert_key</a:t>
            </a:r>
            <a:r>
              <a:rPr lang="en-US" b="0" i="1" dirty="0">
                <a:solidFill>
                  <a:srgbClr val="8CA6A6"/>
                </a:solidFill>
                <a:effectLst/>
                <a:latin typeface="Consolas" panose="020B0609020204030204" pitchFamily="49" charset="0"/>
              </a:rPr>
              <a:t>:</a:t>
            </a:r>
            <a:endParaRPr lang="en-US" b="0" dirty="0">
              <a:solidFill>
                <a:srgbClr val="005661"/>
              </a:solidFill>
              <a:effectLst/>
              <a:latin typeface="Consolas" panose="020B0609020204030204" pitchFamily="49" charset="0"/>
            </a:endParaRPr>
          </a:p>
          <a:p>
            <a:r>
              <a:rPr lang="en-US" b="0" dirty="0" err="1">
                <a:solidFill>
                  <a:srgbClr val="E64100"/>
                </a:solidFill>
                <a:effectLst/>
                <a:latin typeface="Consolas" panose="020B0609020204030204" pitchFamily="49" charset="0"/>
              </a:rPr>
              <a:t>proxy_servers</a:t>
            </a:r>
            <a:r>
              <a:rPr lang="en-US" b="1" dirty="0">
                <a:solidFill>
                  <a:srgbClr val="004D57"/>
                </a:solidFill>
                <a:effectLst/>
                <a:latin typeface="Consolas" panose="020B0609020204030204" pitchFamily="49" charset="0"/>
              </a:rPr>
              <a:t>:</a:t>
            </a:r>
            <a:r>
              <a:rPr lang="en-US" b="0" dirty="0">
                <a:solidFill>
                  <a:srgbClr val="005661"/>
                </a:solidFill>
                <a:effectLst/>
                <a:latin typeface="Consolas" panose="020B0609020204030204" pitchFamily="49" charset="0"/>
              </a:rPr>
              <a:t> </a:t>
            </a:r>
            <a:r>
              <a:rPr lang="en-US" b="0" dirty="0">
                <a:solidFill>
                  <a:srgbClr val="004D57"/>
                </a:solidFill>
                <a:effectLst/>
                <a:latin typeface="Consolas" panose="020B0609020204030204" pitchFamily="49" charset="0"/>
              </a:rPr>
              <a:t>{}</a:t>
            </a:r>
            <a:endParaRPr lang="en-US" b="0" dirty="0">
              <a:solidFill>
                <a:srgbClr val="005661"/>
              </a:solidFill>
              <a:effectLst/>
              <a:latin typeface="Consolas" panose="020B0609020204030204" pitchFamily="49" charset="0"/>
            </a:endParaRPr>
          </a:p>
          <a:p>
            <a:r>
              <a:rPr lang="en-US" b="0" dirty="0" err="1">
                <a:solidFill>
                  <a:srgbClr val="E64100"/>
                </a:solidFill>
                <a:effectLst/>
                <a:latin typeface="Consolas" panose="020B0609020204030204" pitchFamily="49" charset="0"/>
              </a:rPr>
              <a:t>ssl_verify</a:t>
            </a:r>
            <a:r>
              <a:rPr lang="en-US" b="1" dirty="0">
                <a:solidFill>
                  <a:srgbClr val="004D57"/>
                </a:solidFill>
                <a:effectLst/>
                <a:latin typeface="Consolas" panose="020B0609020204030204" pitchFamily="49" charset="0"/>
              </a:rPr>
              <a:t>:</a:t>
            </a:r>
            <a:r>
              <a:rPr lang="en-US" b="0" dirty="0">
                <a:solidFill>
                  <a:srgbClr val="005661"/>
                </a:solidFill>
                <a:effectLst/>
                <a:latin typeface="Consolas" panose="020B0609020204030204" pitchFamily="49" charset="0"/>
              </a:rPr>
              <a:t> </a:t>
            </a:r>
            <a:r>
              <a:rPr lang="en-US" b="0" dirty="0">
                <a:solidFill>
                  <a:srgbClr val="5842FF"/>
                </a:solidFill>
                <a:effectLst/>
                <a:latin typeface="Consolas" panose="020B0609020204030204" pitchFamily="49" charset="0"/>
              </a:rPr>
              <a:t>true</a:t>
            </a:r>
            <a:endParaRPr lang="en-US" b="0" dirty="0">
              <a:solidFill>
                <a:srgbClr val="005661"/>
              </a:solidFill>
              <a:effectLst/>
              <a:latin typeface="Consolas" panose="020B0609020204030204" pitchFamily="49" charset="0"/>
            </a:endParaRPr>
          </a:p>
        </p:txBody>
      </p:sp>
      <p:sp>
        <p:nvSpPr>
          <p:cNvPr id="12" name="TextBox 11">
            <a:extLst>
              <a:ext uri="{FF2B5EF4-FFF2-40B4-BE49-F238E27FC236}">
                <a16:creationId xmlns:a16="http://schemas.microsoft.com/office/drawing/2014/main" id="{7A058B41-0B20-43CE-40CB-298C080C34AD}"/>
              </a:ext>
            </a:extLst>
          </p:cNvPr>
          <p:cNvSpPr txBox="1"/>
          <p:nvPr/>
        </p:nvSpPr>
        <p:spPr>
          <a:xfrm>
            <a:off x="838200" y="1542888"/>
            <a:ext cx="1874231" cy="369332"/>
          </a:xfrm>
          <a:prstGeom prst="rect">
            <a:avLst/>
          </a:prstGeom>
          <a:noFill/>
        </p:spPr>
        <p:txBody>
          <a:bodyPr wrap="none" rtlCol="0">
            <a:spAutoFit/>
          </a:bodyPr>
          <a:lstStyle/>
          <a:p>
            <a:r>
              <a:rPr lang="en-US" dirty="0">
                <a:solidFill>
                  <a:srgbClr val="94573F"/>
                </a:solidFill>
                <a:latin typeface="Georgia" panose="02040502050405020303" pitchFamily="18" charset="0"/>
              </a:rPr>
              <a:t>Default .</a:t>
            </a:r>
            <a:r>
              <a:rPr lang="en-US" dirty="0" err="1">
                <a:solidFill>
                  <a:srgbClr val="94573F"/>
                </a:solidFill>
                <a:latin typeface="Georgia" panose="02040502050405020303" pitchFamily="18" charset="0"/>
              </a:rPr>
              <a:t>condarc</a:t>
            </a:r>
            <a:endParaRPr lang="en-US" dirty="0">
              <a:solidFill>
                <a:srgbClr val="94573F"/>
              </a:solidFill>
              <a:latin typeface="Georgia" panose="02040502050405020303" pitchFamily="18" charset="0"/>
            </a:endParaRPr>
          </a:p>
        </p:txBody>
      </p:sp>
      <p:sp>
        <p:nvSpPr>
          <p:cNvPr id="13" name="TextBox 12">
            <a:extLst>
              <a:ext uri="{FF2B5EF4-FFF2-40B4-BE49-F238E27FC236}">
                <a16:creationId xmlns:a16="http://schemas.microsoft.com/office/drawing/2014/main" id="{749960C4-2287-DCA6-CEDD-783CD2156042}"/>
              </a:ext>
            </a:extLst>
          </p:cNvPr>
          <p:cNvSpPr txBox="1"/>
          <p:nvPr/>
        </p:nvSpPr>
        <p:spPr>
          <a:xfrm>
            <a:off x="5760108" y="1639766"/>
            <a:ext cx="3047629" cy="369332"/>
          </a:xfrm>
          <a:prstGeom prst="rect">
            <a:avLst/>
          </a:prstGeom>
          <a:noFill/>
        </p:spPr>
        <p:txBody>
          <a:bodyPr wrap="none" rtlCol="0">
            <a:spAutoFit/>
          </a:bodyPr>
          <a:lstStyle/>
          <a:p>
            <a:r>
              <a:rPr lang="en-US" dirty="0">
                <a:solidFill>
                  <a:srgbClr val="94573F"/>
                </a:solidFill>
                <a:latin typeface="Georgia" panose="02040502050405020303" pitchFamily="18" charset="0"/>
              </a:rPr>
              <a:t>Useful additional properties</a:t>
            </a:r>
          </a:p>
        </p:txBody>
      </p:sp>
      <p:sp>
        <p:nvSpPr>
          <p:cNvPr id="15" name="TextBox 14">
            <a:extLst>
              <a:ext uri="{FF2B5EF4-FFF2-40B4-BE49-F238E27FC236}">
                <a16:creationId xmlns:a16="http://schemas.microsoft.com/office/drawing/2014/main" id="{73804821-CAE6-9E09-5BC3-A38A20CFCD56}"/>
              </a:ext>
            </a:extLst>
          </p:cNvPr>
          <p:cNvSpPr txBox="1"/>
          <p:nvPr/>
        </p:nvSpPr>
        <p:spPr>
          <a:xfrm>
            <a:off x="838200" y="6094632"/>
            <a:ext cx="9701613" cy="369332"/>
          </a:xfrm>
          <a:prstGeom prst="rect">
            <a:avLst/>
          </a:prstGeom>
          <a:noFill/>
        </p:spPr>
        <p:txBody>
          <a:bodyPr wrap="square">
            <a:spAutoFit/>
          </a:bodyPr>
          <a:lstStyle/>
          <a:p>
            <a:r>
              <a:rPr lang="en-US" dirty="0">
                <a:solidFill>
                  <a:srgbClr val="94573F"/>
                </a:solidFill>
                <a:latin typeface="Georgia" panose="02040502050405020303" pitchFamily="18" charset="0"/>
              </a:rPr>
              <a:t>All available options: https://conda.io/projects/conda/en/latest/configuration.html</a:t>
            </a:r>
          </a:p>
        </p:txBody>
      </p:sp>
      <p:sp>
        <p:nvSpPr>
          <p:cNvPr id="16" name="TextBox 15">
            <a:extLst>
              <a:ext uri="{FF2B5EF4-FFF2-40B4-BE49-F238E27FC236}">
                <a16:creationId xmlns:a16="http://schemas.microsoft.com/office/drawing/2014/main" id="{FA830215-426F-357D-6ACD-F2937B8DFE72}"/>
              </a:ext>
            </a:extLst>
          </p:cNvPr>
          <p:cNvSpPr txBox="1"/>
          <p:nvPr/>
        </p:nvSpPr>
        <p:spPr>
          <a:xfrm>
            <a:off x="1972663" y="4005516"/>
            <a:ext cx="2422229" cy="646331"/>
          </a:xfrm>
          <a:prstGeom prst="rect">
            <a:avLst/>
          </a:prstGeom>
          <a:noFill/>
        </p:spPr>
        <p:txBody>
          <a:bodyPr wrap="square">
            <a:spAutoFit/>
          </a:bodyPr>
          <a:lstStyle/>
          <a:p>
            <a:r>
              <a:rPr lang="en-US" sz="1200" dirty="0">
                <a:solidFill>
                  <a:srgbClr val="236356"/>
                </a:solidFill>
                <a:latin typeface="Georgia" panose="02040502050405020303" pitchFamily="18" charset="0"/>
              </a:rPr>
              <a:t>If your company has firewalls which don’t allow direct internet connections, use a proxy</a:t>
            </a:r>
          </a:p>
        </p:txBody>
      </p:sp>
      <p:sp>
        <p:nvSpPr>
          <p:cNvPr id="17" name="TextBox 16">
            <a:extLst>
              <a:ext uri="{FF2B5EF4-FFF2-40B4-BE49-F238E27FC236}">
                <a16:creationId xmlns:a16="http://schemas.microsoft.com/office/drawing/2014/main" id="{D4E5B457-D2D5-261D-642D-C711362AFC81}"/>
              </a:ext>
            </a:extLst>
          </p:cNvPr>
          <p:cNvSpPr txBox="1"/>
          <p:nvPr/>
        </p:nvSpPr>
        <p:spPr>
          <a:xfrm>
            <a:off x="3071014" y="2809096"/>
            <a:ext cx="1913189" cy="461665"/>
          </a:xfrm>
          <a:prstGeom prst="rect">
            <a:avLst/>
          </a:prstGeom>
          <a:noFill/>
        </p:spPr>
        <p:txBody>
          <a:bodyPr wrap="square">
            <a:spAutoFit/>
          </a:bodyPr>
          <a:lstStyle/>
          <a:p>
            <a:r>
              <a:rPr lang="en-US" sz="1200" dirty="0">
                <a:solidFill>
                  <a:srgbClr val="236356"/>
                </a:solidFill>
                <a:latin typeface="Georgia" panose="02040502050405020303" pitchFamily="18" charset="0"/>
              </a:rPr>
              <a:t>Your company may have its own package repo</a:t>
            </a:r>
          </a:p>
        </p:txBody>
      </p:sp>
      <p:sp>
        <p:nvSpPr>
          <p:cNvPr id="18" name="TextBox 17">
            <a:extLst>
              <a:ext uri="{FF2B5EF4-FFF2-40B4-BE49-F238E27FC236}">
                <a16:creationId xmlns:a16="http://schemas.microsoft.com/office/drawing/2014/main" id="{F14E75B6-15DD-FA06-6489-713072F7821A}"/>
              </a:ext>
            </a:extLst>
          </p:cNvPr>
          <p:cNvSpPr txBox="1"/>
          <p:nvPr/>
        </p:nvSpPr>
        <p:spPr>
          <a:xfrm>
            <a:off x="2475957" y="4932003"/>
            <a:ext cx="1913189" cy="830997"/>
          </a:xfrm>
          <a:prstGeom prst="rect">
            <a:avLst/>
          </a:prstGeom>
          <a:noFill/>
        </p:spPr>
        <p:txBody>
          <a:bodyPr wrap="square">
            <a:spAutoFit/>
          </a:bodyPr>
          <a:lstStyle/>
          <a:p>
            <a:r>
              <a:rPr lang="en-US" sz="1200" dirty="0">
                <a:solidFill>
                  <a:srgbClr val="236356"/>
                </a:solidFill>
                <a:latin typeface="Georgia" panose="02040502050405020303" pitchFamily="18" charset="0"/>
              </a:rPr>
              <a:t>Sometimes SSL connections are more pain than they are worth (don’t do this in prod!)</a:t>
            </a:r>
          </a:p>
        </p:txBody>
      </p:sp>
      <p:cxnSp>
        <p:nvCxnSpPr>
          <p:cNvPr id="20" name="Straight Arrow Connector 19">
            <a:extLst>
              <a:ext uri="{FF2B5EF4-FFF2-40B4-BE49-F238E27FC236}">
                <a16:creationId xmlns:a16="http://schemas.microsoft.com/office/drawing/2014/main" id="{29DE3B7D-6473-EF7A-88EC-7704A854E032}"/>
              </a:ext>
            </a:extLst>
          </p:cNvPr>
          <p:cNvCxnSpPr>
            <a:cxnSpLocks/>
          </p:cNvCxnSpPr>
          <p:nvPr/>
        </p:nvCxnSpPr>
        <p:spPr>
          <a:xfrm>
            <a:off x="4777099" y="5315111"/>
            <a:ext cx="983009" cy="2311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51BF7B20-D161-DB63-CD1D-D4F147C9C92B}"/>
              </a:ext>
            </a:extLst>
          </p:cNvPr>
          <p:cNvCxnSpPr>
            <a:cxnSpLocks/>
          </p:cNvCxnSpPr>
          <p:nvPr/>
        </p:nvCxnSpPr>
        <p:spPr>
          <a:xfrm>
            <a:off x="4460248" y="4328682"/>
            <a:ext cx="1294114" cy="9864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FA3B93BB-93F8-60B1-6B04-22AAD31EC172}"/>
              </a:ext>
            </a:extLst>
          </p:cNvPr>
          <p:cNvCxnSpPr>
            <a:cxnSpLocks/>
          </p:cNvCxnSpPr>
          <p:nvPr/>
        </p:nvCxnSpPr>
        <p:spPr>
          <a:xfrm flipV="1">
            <a:off x="4888194" y="2615460"/>
            <a:ext cx="800812" cy="5180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59536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16E96-FFFE-B64A-7523-FDFF95E2C2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AAF117-F73C-B07F-98BA-00CB6DA9AC74}"/>
              </a:ext>
            </a:extLst>
          </p:cNvPr>
          <p:cNvSpPr>
            <a:spLocks noGrp="1"/>
          </p:cNvSpPr>
          <p:nvPr>
            <p:ph type="title"/>
          </p:nvPr>
        </p:nvSpPr>
        <p:spPr/>
        <p:txBody>
          <a:bodyPr>
            <a:normAutofit/>
          </a:bodyPr>
          <a:lstStyle/>
          <a:p>
            <a:r>
              <a:rPr lang="en-US" dirty="0"/>
              <a:t>Enter </a:t>
            </a:r>
            <a:r>
              <a:rPr lang="en-US" dirty="0" err="1">
                <a:latin typeface="Consolas" panose="020B0609020204030204" pitchFamily="49" charset="0"/>
                <a:cs typeface="Consolas" panose="020B0609020204030204" pitchFamily="49" charset="0"/>
              </a:rPr>
              <a:t>uv</a:t>
            </a:r>
            <a:r>
              <a:rPr lang="en-US" dirty="0"/>
              <a:t> – emerging alternative to </a:t>
            </a:r>
            <a:r>
              <a:rPr lang="en-US" dirty="0" err="1"/>
              <a:t>conda</a:t>
            </a:r>
            <a:br>
              <a:rPr lang="en-US" dirty="0"/>
            </a:br>
            <a:r>
              <a:rPr lang="en-US" sz="2800" dirty="0"/>
              <a:t>(some would say it has already supplanted </a:t>
            </a:r>
            <a:r>
              <a:rPr lang="en-US" sz="2800" dirty="0" err="1"/>
              <a:t>conda</a:t>
            </a:r>
            <a:r>
              <a:rPr lang="en-US" sz="2800" dirty="0"/>
              <a:t>)</a:t>
            </a:r>
          </a:p>
        </p:txBody>
      </p:sp>
      <p:sp>
        <p:nvSpPr>
          <p:cNvPr id="3" name="TextBox 2">
            <a:extLst>
              <a:ext uri="{FF2B5EF4-FFF2-40B4-BE49-F238E27FC236}">
                <a16:creationId xmlns:a16="http://schemas.microsoft.com/office/drawing/2014/main" id="{5C152825-DE4C-AD64-EB1F-F9C8FB0CD4DE}"/>
              </a:ext>
            </a:extLst>
          </p:cNvPr>
          <p:cNvSpPr txBox="1"/>
          <p:nvPr/>
        </p:nvSpPr>
        <p:spPr>
          <a:xfrm>
            <a:off x="838200" y="1928880"/>
            <a:ext cx="10090527" cy="4524315"/>
          </a:xfrm>
          <a:prstGeom prst="rect">
            <a:avLst/>
          </a:prstGeom>
          <a:noFill/>
        </p:spPr>
        <p:txBody>
          <a:bodyPr wrap="square" rtlCol="0">
            <a:spAutoFit/>
          </a:bodyPr>
          <a:lstStyle/>
          <a:p>
            <a:r>
              <a:rPr lang="en-US" dirty="0">
                <a:solidFill>
                  <a:srgbClr val="94573F"/>
                </a:solidFill>
                <a:latin typeface="Georgia" panose="02040502050405020303" pitchFamily="18" charset="0"/>
                <a:sym typeface="Wingdings" panose="05000000000000000000" pitchFamily="2" charset="2"/>
              </a:rPr>
              <a:t>Compatible with pip, but 10-100x faster. A package manager and well as an environment manager (replaces pip and </a:t>
            </a:r>
            <a:r>
              <a:rPr lang="en-US" dirty="0" err="1">
                <a:solidFill>
                  <a:srgbClr val="94573F"/>
                </a:solidFill>
                <a:latin typeface="Georgia" panose="02040502050405020303" pitchFamily="18" charset="0"/>
                <a:sym typeface="Wingdings" panose="05000000000000000000" pitchFamily="2" charset="2"/>
              </a:rPr>
              <a:t>venv</a:t>
            </a:r>
            <a:r>
              <a:rPr lang="en-US" dirty="0">
                <a:solidFill>
                  <a:srgbClr val="94573F"/>
                </a:solidFill>
                <a:latin typeface="Georgia" panose="02040502050405020303" pitchFamily="18" charset="0"/>
                <a:sym typeface="Wingdings" panose="05000000000000000000" pitchFamily="2" charset="2"/>
              </a:rPr>
              <a:t>)</a:t>
            </a:r>
          </a:p>
          <a:p>
            <a:endParaRPr lang="en-US" dirty="0">
              <a:solidFill>
                <a:srgbClr val="94573F"/>
              </a:solidFill>
              <a:latin typeface="Georgia" panose="02040502050405020303" pitchFamily="18" charset="0"/>
              <a:sym typeface="Wingdings" panose="05000000000000000000" pitchFamily="2" charset="2"/>
            </a:endParaRPr>
          </a:p>
          <a:p>
            <a:r>
              <a:rPr lang="en-US" dirty="0">
                <a:solidFill>
                  <a:srgbClr val="94573F"/>
                </a:solidFill>
                <a:latin typeface="Georgia" panose="02040502050405020303" pitchFamily="18" charset="0"/>
                <a:sym typeface="Wingdings" panose="05000000000000000000" pitchFamily="2" charset="2"/>
              </a:rPr>
              <a:t>Warning: </a:t>
            </a:r>
            <a:r>
              <a:rPr lang="en-US" dirty="0" err="1">
                <a:solidFill>
                  <a:srgbClr val="94573F"/>
                </a:solidFill>
                <a:latin typeface="Georgia" panose="02040502050405020303" pitchFamily="18" charset="0"/>
                <a:sym typeface="Wingdings" panose="05000000000000000000" pitchFamily="2" charset="2"/>
              </a:rPr>
              <a:t>uv</a:t>
            </a:r>
            <a:r>
              <a:rPr lang="en-US" dirty="0">
                <a:solidFill>
                  <a:srgbClr val="94573F"/>
                </a:solidFill>
                <a:latin typeface="Georgia" panose="02040502050405020303" pitchFamily="18" charset="0"/>
                <a:sym typeface="Wingdings" panose="05000000000000000000" pitchFamily="2" charset="2"/>
              </a:rPr>
              <a:t> is not just a faster tool, it is a different way of thinking about environment and package management</a:t>
            </a:r>
          </a:p>
          <a:p>
            <a:endParaRPr lang="en-US" dirty="0">
              <a:solidFill>
                <a:srgbClr val="94573F"/>
              </a:solidFill>
              <a:latin typeface="Georgia" panose="02040502050405020303" pitchFamily="18" charset="0"/>
              <a:sym typeface="Wingdings" panose="05000000000000000000" pitchFamily="2" charset="2"/>
            </a:endParaRPr>
          </a:p>
          <a:p>
            <a:r>
              <a:rPr lang="en-US" b="1" dirty="0">
                <a:solidFill>
                  <a:srgbClr val="236356"/>
                </a:solidFill>
                <a:latin typeface="Georgia" panose="02040502050405020303" pitchFamily="18" charset="0"/>
                <a:sym typeface="Wingdings" panose="05000000000000000000" pitchFamily="2" charset="2"/>
              </a:rPr>
              <a:t>Environments live in project folders</a:t>
            </a:r>
          </a:p>
          <a:p>
            <a:r>
              <a:rPr lang="en-US" dirty="0">
                <a:solidFill>
                  <a:srgbClr val="94573F"/>
                </a:solidFill>
                <a:latin typeface="Georgia" panose="02040502050405020303" pitchFamily="18" charset="0"/>
                <a:sym typeface="Wingdings" panose="05000000000000000000" pitchFamily="2" charset="2"/>
              </a:rPr>
              <a:t>In </a:t>
            </a:r>
            <a:r>
              <a:rPr lang="en-US" dirty="0" err="1">
                <a:solidFill>
                  <a:srgbClr val="94573F"/>
                </a:solidFill>
                <a:latin typeface="Georgia" panose="02040502050405020303" pitchFamily="18" charset="0"/>
                <a:sym typeface="Wingdings" panose="05000000000000000000" pitchFamily="2" charset="2"/>
              </a:rPr>
              <a:t>conda</a:t>
            </a:r>
            <a:r>
              <a:rPr lang="en-US" dirty="0">
                <a:solidFill>
                  <a:srgbClr val="94573F"/>
                </a:solidFill>
                <a:latin typeface="Georgia" panose="02040502050405020303" pitchFamily="18" charset="0"/>
                <a:sym typeface="Wingdings" panose="05000000000000000000" pitchFamily="2" charset="2"/>
              </a:rPr>
              <a:t> you create new global environments </a:t>
            </a:r>
            <a:r>
              <a:rPr lang="en-US" dirty="0" err="1">
                <a:solidFill>
                  <a:srgbClr val="00BDD6"/>
                </a:solidFill>
                <a:latin typeface="Consolas" panose="020B0609020204030204" pitchFamily="49" charset="0"/>
              </a:rPr>
              <a:t>conda</a:t>
            </a:r>
            <a:r>
              <a:rPr lang="en-US" dirty="0">
                <a:solidFill>
                  <a:srgbClr val="00BDD6"/>
                </a:solidFill>
                <a:latin typeface="Consolas" panose="020B0609020204030204" pitchFamily="49" charset="0"/>
              </a:rPr>
              <a:t> create</a:t>
            </a:r>
            <a:r>
              <a:rPr lang="en-US" dirty="0">
                <a:solidFill>
                  <a:srgbClr val="FA8900"/>
                </a:solidFill>
                <a:latin typeface="Consolas" panose="020B0609020204030204" pitchFamily="49" charset="0"/>
              </a:rPr>
              <a:t> </a:t>
            </a:r>
            <a:r>
              <a:rPr lang="en-US" dirty="0">
                <a:solidFill>
                  <a:srgbClr val="A88C00"/>
                </a:solidFill>
                <a:latin typeface="Consolas" panose="020B0609020204030204" pitchFamily="49" charset="0"/>
              </a:rPr>
              <a:t>-name</a:t>
            </a:r>
            <a:r>
              <a:rPr lang="en-US" dirty="0">
                <a:solidFill>
                  <a:srgbClr val="FA8900"/>
                </a:solidFill>
                <a:latin typeface="Consolas" panose="020B0609020204030204" pitchFamily="49" charset="0"/>
              </a:rPr>
              <a:t> </a:t>
            </a:r>
            <a:r>
              <a:rPr lang="en-US" dirty="0" err="1">
                <a:solidFill>
                  <a:srgbClr val="00B368"/>
                </a:solidFill>
                <a:latin typeface="Consolas" panose="020B0609020204030204" pitchFamily="49" charset="0"/>
              </a:rPr>
              <a:t>my_env</a:t>
            </a:r>
            <a:r>
              <a:rPr lang="en-US" dirty="0">
                <a:solidFill>
                  <a:srgbClr val="94573F"/>
                </a:solidFill>
                <a:latin typeface="Georgia" panose="02040502050405020303" pitchFamily="18" charset="0"/>
                <a:sym typeface="Wingdings" panose="05000000000000000000" pitchFamily="2" charset="2"/>
              </a:rPr>
              <a:t>; however, in </a:t>
            </a:r>
            <a:r>
              <a:rPr lang="en-US" dirty="0" err="1">
                <a:solidFill>
                  <a:srgbClr val="94573F"/>
                </a:solidFill>
                <a:latin typeface="Georgia" panose="02040502050405020303" pitchFamily="18" charset="0"/>
                <a:sym typeface="Wingdings" panose="05000000000000000000" pitchFamily="2" charset="2"/>
              </a:rPr>
              <a:t>uv</a:t>
            </a:r>
            <a:r>
              <a:rPr lang="en-US" dirty="0">
                <a:solidFill>
                  <a:srgbClr val="94573F"/>
                </a:solidFill>
                <a:latin typeface="Georgia" panose="02040502050405020303" pitchFamily="18" charset="0"/>
                <a:sym typeface="Wingdings" panose="05000000000000000000" pitchFamily="2" charset="2"/>
              </a:rPr>
              <a:t>, you create the environment in the project directory. Say you are in ~/projects/</a:t>
            </a:r>
            <a:r>
              <a:rPr lang="en-US" dirty="0" err="1">
                <a:solidFill>
                  <a:srgbClr val="94573F"/>
                </a:solidFill>
                <a:latin typeface="Georgia" panose="02040502050405020303" pitchFamily="18" charset="0"/>
                <a:sym typeface="Wingdings" panose="05000000000000000000" pitchFamily="2" charset="2"/>
              </a:rPr>
              <a:t>client_clustering</a:t>
            </a:r>
            <a:r>
              <a:rPr lang="en-US" dirty="0">
                <a:solidFill>
                  <a:srgbClr val="94573F"/>
                </a:solidFill>
                <a:latin typeface="Georgia" panose="02040502050405020303" pitchFamily="18" charset="0"/>
                <a:sym typeface="Wingdings" panose="05000000000000000000" pitchFamily="2" charset="2"/>
              </a:rPr>
              <a:t>. Inside that folder, you will execute </a:t>
            </a:r>
            <a:r>
              <a:rPr lang="en-US" dirty="0" err="1">
                <a:solidFill>
                  <a:srgbClr val="00BDD6"/>
                </a:solidFill>
                <a:latin typeface="Consolas" panose="020B0609020204030204" pitchFamily="49" charset="0"/>
              </a:rPr>
              <a:t>uv</a:t>
            </a:r>
            <a:r>
              <a:rPr lang="en-US" dirty="0">
                <a:solidFill>
                  <a:srgbClr val="00BDD6"/>
                </a:solidFill>
                <a:latin typeface="Consolas" panose="020B0609020204030204" pitchFamily="49" charset="0"/>
              </a:rPr>
              <a:t> </a:t>
            </a:r>
            <a:r>
              <a:rPr lang="en-US" dirty="0" err="1">
                <a:solidFill>
                  <a:srgbClr val="00BDD6"/>
                </a:solidFill>
                <a:latin typeface="Consolas" panose="020B0609020204030204" pitchFamily="49" charset="0"/>
              </a:rPr>
              <a:t>venv</a:t>
            </a:r>
            <a:r>
              <a:rPr lang="en-US" dirty="0">
                <a:solidFill>
                  <a:srgbClr val="FA8900"/>
                </a:solidFill>
                <a:latin typeface="Consolas" panose="020B0609020204030204" pitchFamily="49" charset="0"/>
              </a:rPr>
              <a:t> </a:t>
            </a:r>
            <a:r>
              <a:rPr lang="en-US" dirty="0">
                <a:solidFill>
                  <a:srgbClr val="A88C00"/>
                </a:solidFill>
                <a:latin typeface="Consolas" panose="020B0609020204030204" pitchFamily="49" charset="0"/>
              </a:rPr>
              <a:t>--python</a:t>
            </a:r>
            <a:r>
              <a:rPr lang="en-US" dirty="0">
                <a:solidFill>
                  <a:srgbClr val="FA8900"/>
                </a:solidFill>
                <a:latin typeface="Consolas" panose="020B0609020204030204" pitchFamily="49" charset="0"/>
              </a:rPr>
              <a:t> </a:t>
            </a:r>
            <a:r>
              <a:rPr lang="en-US" dirty="0">
                <a:solidFill>
                  <a:srgbClr val="00B368"/>
                </a:solidFill>
                <a:latin typeface="Consolas" panose="020B0609020204030204" pitchFamily="49" charset="0"/>
              </a:rPr>
              <a:t>3.12</a:t>
            </a:r>
            <a:r>
              <a:rPr lang="en-US" dirty="0">
                <a:solidFill>
                  <a:srgbClr val="94573F"/>
                </a:solidFill>
                <a:latin typeface="Georgia" panose="02040502050405020303" pitchFamily="18" charset="0"/>
                <a:sym typeface="Wingdings" panose="05000000000000000000" pitchFamily="2" charset="2"/>
              </a:rPr>
              <a:t>.</a:t>
            </a:r>
          </a:p>
          <a:p>
            <a:endParaRPr lang="en-US" dirty="0">
              <a:solidFill>
                <a:srgbClr val="94573F"/>
              </a:solidFill>
              <a:latin typeface="Georgia" panose="02040502050405020303" pitchFamily="18" charset="0"/>
              <a:sym typeface="Wingdings" panose="05000000000000000000" pitchFamily="2" charset="2"/>
            </a:endParaRPr>
          </a:p>
          <a:p>
            <a:r>
              <a:rPr lang="en-US" b="1" dirty="0">
                <a:solidFill>
                  <a:srgbClr val="236356"/>
                </a:solidFill>
                <a:latin typeface="Georgia" panose="02040502050405020303" pitchFamily="18" charset="0"/>
                <a:sym typeface="Wingdings" panose="05000000000000000000" pitchFamily="2" charset="2"/>
              </a:rPr>
              <a:t>add vs install</a:t>
            </a:r>
            <a:endParaRPr lang="en-US" dirty="0">
              <a:solidFill>
                <a:srgbClr val="236356"/>
              </a:solidFill>
              <a:latin typeface="Georgia" panose="02040502050405020303" pitchFamily="18" charset="0"/>
              <a:sym typeface="Wingdings" panose="05000000000000000000" pitchFamily="2" charset="2"/>
            </a:endParaRPr>
          </a:p>
          <a:p>
            <a:r>
              <a:rPr lang="en-US" dirty="0">
                <a:solidFill>
                  <a:srgbClr val="94573F"/>
                </a:solidFill>
                <a:latin typeface="Georgia" panose="02040502050405020303" pitchFamily="18" charset="0"/>
                <a:sym typeface="Wingdings" panose="05000000000000000000" pitchFamily="2" charset="2"/>
              </a:rPr>
              <a:t>You can install packages to your newly created env (after activating it) via </a:t>
            </a:r>
            <a:r>
              <a:rPr lang="en-US" dirty="0">
                <a:solidFill>
                  <a:srgbClr val="00BDD6"/>
                </a:solidFill>
                <a:latin typeface="Consolas" panose="020B0609020204030204" pitchFamily="49" charset="0"/>
              </a:rPr>
              <a:t>pip install …</a:t>
            </a:r>
            <a:r>
              <a:rPr lang="en-US" dirty="0">
                <a:solidFill>
                  <a:srgbClr val="94573F"/>
                </a:solidFill>
                <a:latin typeface="Georgia" panose="02040502050405020303" pitchFamily="18" charset="0"/>
                <a:sym typeface="Wingdings" panose="05000000000000000000" pitchFamily="2" charset="2"/>
              </a:rPr>
              <a:t>, in reality you will see a 10-100x speed improvement if you do </a:t>
            </a:r>
            <a:r>
              <a:rPr lang="en-US" dirty="0" err="1">
                <a:solidFill>
                  <a:srgbClr val="00BDD6"/>
                </a:solidFill>
                <a:latin typeface="Consolas" panose="020B0609020204030204" pitchFamily="49" charset="0"/>
              </a:rPr>
              <a:t>uv</a:t>
            </a:r>
            <a:r>
              <a:rPr lang="en-US" dirty="0">
                <a:solidFill>
                  <a:srgbClr val="00BDD6"/>
                </a:solidFill>
                <a:latin typeface="Consolas" panose="020B0609020204030204" pitchFamily="49" charset="0"/>
              </a:rPr>
              <a:t> pip </a:t>
            </a:r>
            <a:r>
              <a:rPr lang="en-US" dirty="0">
                <a:solidFill>
                  <a:srgbClr val="00B368"/>
                </a:solidFill>
                <a:latin typeface="Consolas" panose="020B0609020204030204" pitchFamily="49" charset="0"/>
              </a:rPr>
              <a:t>install</a:t>
            </a:r>
            <a:r>
              <a:rPr lang="en-US" dirty="0">
                <a:solidFill>
                  <a:srgbClr val="00BDD6"/>
                </a:solidFill>
                <a:latin typeface="Consolas" panose="020B0609020204030204" pitchFamily="49" charset="0"/>
              </a:rPr>
              <a:t> …</a:t>
            </a:r>
            <a:r>
              <a:rPr lang="en-US" dirty="0">
                <a:solidFill>
                  <a:srgbClr val="94573F"/>
                </a:solidFill>
                <a:latin typeface="Georgia" panose="02040502050405020303" pitchFamily="18" charset="0"/>
                <a:sym typeface="Wingdings" panose="05000000000000000000" pitchFamily="2" charset="2"/>
              </a:rPr>
              <a:t>. However, the </a:t>
            </a:r>
            <a:r>
              <a:rPr lang="en-US" i="1" dirty="0">
                <a:solidFill>
                  <a:srgbClr val="94573F"/>
                </a:solidFill>
                <a:latin typeface="Georgia" panose="02040502050405020303" pitchFamily="18" charset="0"/>
                <a:sym typeface="Wingdings" panose="05000000000000000000" pitchFamily="2" charset="2"/>
              </a:rPr>
              <a:t>correct</a:t>
            </a:r>
            <a:r>
              <a:rPr lang="en-US" dirty="0">
                <a:solidFill>
                  <a:srgbClr val="94573F"/>
                </a:solidFill>
                <a:latin typeface="Georgia" panose="02040502050405020303" pitchFamily="18" charset="0"/>
                <a:sym typeface="Wingdings" panose="05000000000000000000" pitchFamily="2" charset="2"/>
              </a:rPr>
              <a:t> thing to do is </a:t>
            </a:r>
            <a:r>
              <a:rPr lang="en-US" dirty="0" err="1">
                <a:solidFill>
                  <a:srgbClr val="00BDD6"/>
                </a:solidFill>
                <a:latin typeface="Consolas" panose="020B0609020204030204" pitchFamily="49" charset="0"/>
              </a:rPr>
              <a:t>uv</a:t>
            </a:r>
            <a:r>
              <a:rPr lang="en-US" dirty="0">
                <a:solidFill>
                  <a:srgbClr val="00BDD6"/>
                </a:solidFill>
                <a:latin typeface="Consolas" panose="020B0609020204030204" pitchFamily="49" charset="0"/>
              </a:rPr>
              <a:t> pip </a:t>
            </a:r>
            <a:r>
              <a:rPr lang="en-US" dirty="0">
                <a:solidFill>
                  <a:srgbClr val="00B368"/>
                </a:solidFill>
                <a:latin typeface="Consolas" panose="020B0609020204030204" pitchFamily="49" charset="0"/>
              </a:rPr>
              <a:t>add</a:t>
            </a:r>
            <a:r>
              <a:rPr lang="en-US" dirty="0">
                <a:solidFill>
                  <a:srgbClr val="00BDD6"/>
                </a:solidFill>
                <a:latin typeface="Consolas" panose="020B0609020204030204" pitchFamily="49" charset="0"/>
              </a:rPr>
              <a:t> …</a:t>
            </a:r>
            <a:r>
              <a:rPr lang="en-US" dirty="0">
                <a:solidFill>
                  <a:srgbClr val="94573F"/>
                </a:solidFill>
                <a:latin typeface="Georgia" panose="02040502050405020303" pitchFamily="18" charset="0"/>
                <a:sym typeface="Wingdings" panose="05000000000000000000" pitchFamily="2" charset="2"/>
              </a:rPr>
              <a:t>. The add command will update the </a:t>
            </a:r>
            <a:r>
              <a:rPr lang="en-US" dirty="0" err="1">
                <a:solidFill>
                  <a:srgbClr val="94573F"/>
                </a:solidFill>
                <a:latin typeface="Georgia" panose="02040502050405020303" pitchFamily="18" charset="0"/>
                <a:sym typeface="Wingdings" panose="05000000000000000000" pitchFamily="2" charset="2"/>
              </a:rPr>
              <a:t>project.toml</a:t>
            </a:r>
            <a:r>
              <a:rPr lang="en-US" dirty="0">
                <a:solidFill>
                  <a:srgbClr val="94573F"/>
                </a:solidFill>
                <a:latin typeface="Georgia" panose="02040502050405020303" pitchFamily="18" charset="0"/>
                <a:sym typeface="Wingdings" panose="05000000000000000000" pitchFamily="2" charset="2"/>
              </a:rPr>
              <a:t> file, update the </a:t>
            </a:r>
            <a:r>
              <a:rPr lang="en-US" dirty="0" err="1">
                <a:solidFill>
                  <a:srgbClr val="94573F"/>
                </a:solidFill>
                <a:latin typeface="Georgia" panose="02040502050405020303" pitchFamily="18" charset="0"/>
                <a:sym typeface="Wingdings" panose="05000000000000000000" pitchFamily="2" charset="2"/>
              </a:rPr>
              <a:t>uv.lock</a:t>
            </a:r>
            <a:r>
              <a:rPr lang="en-US" dirty="0">
                <a:solidFill>
                  <a:srgbClr val="94573F"/>
                </a:solidFill>
                <a:latin typeface="Georgia" panose="02040502050405020303" pitchFamily="18" charset="0"/>
                <a:sym typeface="Wingdings" panose="05000000000000000000" pitchFamily="2" charset="2"/>
              </a:rPr>
              <a:t> file and will do a </a:t>
            </a:r>
            <a:r>
              <a:rPr lang="en-US" dirty="0">
                <a:solidFill>
                  <a:srgbClr val="00BDD6"/>
                </a:solidFill>
                <a:latin typeface="Consolas" panose="020B0609020204030204" pitchFamily="49" charset="0"/>
              </a:rPr>
              <a:t>pip install </a:t>
            </a:r>
            <a:r>
              <a:rPr lang="en-US" dirty="0">
                <a:solidFill>
                  <a:srgbClr val="94573F"/>
                </a:solidFill>
                <a:latin typeface="Georgia" panose="02040502050405020303" pitchFamily="18" charset="0"/>
                <a:sym typeface="Wingdings" panose="05000000000000000000" pitchFamily="2" charset="2"/>
              </a:rPr>
              <a:t>.</a:t>
            </a:r>
          </a:p>
        </p:txBody>
      </p:sp>
    </p:spTree>
    <p:extLst>
      <p:ext uri="{BB962C8B-B14F-4D97-AF65-F5344CB8AC3E}">
        <p14:creationId xmlns:p14="http://schemas.microsoft.com/office/powerpoint/2010/main" val="35632119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76E80-449D-4D4C-7751-E8AEBD60C3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D146FE-8A74-A534-1372-2A5180D06056}"/>
              </a:ext>
            </a:extLst>
          </p:cNvPr>
          <p:cNvSpPr>
            <a:spLocks noGrp="1"/>
          </p:cNvSpPr>
          <p:nvPr>
            <p:ph type="title"/>
          </p:nvPr>
        </p:nvSpPr>
        <p:spPr/>
        <p:txBody>
          <a:bodyPr/>
          <a:lstStyle/>
          <a:p>
            <a:r>
              <a:rPr lang="en-US" dirty="0" err="1"/>
              <a:t>requirements.txt</a:t>
            </a:r>
            <a:r>
              <a:rPr lang="en-US" dirty="0"/>
              <a:t>, </a:t>
            </a:r>
            <a:r>
              <a:rPr lang="en-US" dirty="0" err="1"/>
              <a:t>pyproject.toml</a:t>
            </a:r>
            <a:r>
              <a:rPr lang="en-US" dirty="0"/>
              <a:t> and </a:t>
            </a:r>
            <a:r>
              <a:rPr lang="en-US" dirty="0" err="1"/>
              <a:t>environment.yaml</a:t>
            </a:r>
            <a:endParaRPr lang="en-US" dirty="0"/>
          </a:p>
        </p:txBody>
      </p:sp>
      <p:sp>
        <p:nvSpPr>
          <p:cNvPr id="3" name="TextBox 2">
            <a:extLst>
              <a:ext uri="{FF2B5EF4-FFF2-40B4-BE49-F238E27FC236}">
                <a16:creationId xmlns:a16="http://schemas.microsoft.com/office/drawing/2014/main" id="{ADC4EA0A-B7E5-15DB-6B1C-3530AFCB6AA8}"/>
              </a:ext>
            </a:extLst>
          </p:cNvPr>
          <p:cNvSpPr txBox="1"/>
          <p:nvPr/>
        </p:nvSpPr>
        <p:spPr>
          <a:xfrm>
            <a:off x="838200" y="1565467"/>
            <a:ext cx="10090527" cy="1477328"/>
          </a:xfrm>
          <a:prstGeom prst="rect">
            <a:avLst/>
          </a:prstGeom>
          <a:noFill/>
        </p:spPr>
        <p:txBody>
          <a:bodyPr wrap="square" rtlCol="0">
            <a:spAutoFit/>
          </a:bodyPr>
          <a:lstStyle/>
          <a:p>
            <a:r>
              <a:rPr lang="en-US" dirty="0">
                <a:solidFill>
                  <a:srgbClr val="94573F"/>
                </a:solidFill>
                <a:latin typeface="Georgia" panose="02040502050405020303" pitchFamily="18" charset="0"/>
                <a:sym typeface="Wingdings" panose="05000000000000000000" pitchFamily="2" charset="2"/>
              </a:rPr>
              <a:t>Reproducibility is </a:t>
            </a:r>
            <a:r>
              <a:rPr lang="en-US" i="1" dirty="0">
                <a:solidFill>
                  <a:srgbClr val="94573F"/>
                </a:solidFill>
                <a:latin typeface="Georgia" panose="02040502050405020303" pitchFamily="18" charset="0"/>
                <a:sym typeface="Wingdings" panose="05000000000000000000" pitchFamily="2" charset="2"/>
              </a:rPr>
              <a:t>extremely</a:t>
            </a:r>
            <a:r>
              <a:rPr lang="en-US" dirty="0">
                <a:solidFill>
                  <a:srgbClr val="94573F"/>
                </a:solidFill>
                <a:latin typeface="Georgia" panose="02040502050405020303" pitchFamily="18" charset="0"/>
                <a:sym typeface="Wingdings" panose="05000000000000000000" pitchFamily="2" charset="2"/>
              </a:rPr>
              <a:t> important for professional code.</a:t>
            </a:r>
          </a:p>
          <a:p>
            <a:endParaRPr lang="en-US" dirty="0">
              <a:solidFill>
                <a:srgbClr val="94573F"/>
              </a:solidFill>
              <a:latin typeface="Georgia" panose="02040502050405020303" pitchFamily="18" charset="0"/>
              <a:sym typeface="Wingdings" panose="05000000000000000000" pitchFamily="2" charset="2"/>
            </a:endParaRPr>
          </a:p>
          <a:p>
            <a:r>
              <a:rPr lang="en-US" dirty="0">
                <a:solidFill>
                  <a:srgbClr val="94573F"/>
                </a:solidFill>
                <a:latin typeface="Georgia" panose="02040502050405020303" pitchFamily="18" charset="0"/>
                <a:sym typeface="Wingdings" panose="05000000000000000000" pitchFamily="2" charset="2"/>
              </a:rPr>
              <a:t>Environment management wouldn’t mean much if we couldn’t track the versions of Python and the libraries used in the environment (and dependencies of those libraries!). There are two main ways of recording such details</a:t>
            </a:r>
          </a:p>
        </p:txBody>
      </p:sp>
      <p:sp>
        <p:nvSpPr>
          <p:cNvPr id="5" name="TextBox 4">
            <a:extLst>
              <a:ext uri="{FF2B5EF4-FFF2-40B4-BE49-F238E27FC236}">
                <a16:creationId xmlns:a16="http://schemas.microsoft.com/office/drawing/2014/main" id="{E541AEAC-09F0-DF99-96A3-BE4567A00C39}"/>
              </a:ext>
            </a:extLst>
          </p:cNvPr>
          <p:cNvSpPr txBox="1"/>
          <p:nvPr/>
        </p:nvSpPr>
        <p:spPr>
          <a:xfrm>
            <a:off x="865988" y="3169615"/>
            <a:ext cx="2485292" cy="553998"/>
          </a:xfrm>
          <a:prstGeom prst="rect">
            <a:avLst/>
          </a:prstGeom>
          <a:noFill/>
        </p:spPr>
        <p:txBody>
          <a:bodyPr wrap="square">
            <a:spAutoFit/>
          </a:bodyPr>
          <a:lstStyle/>
          <a:p>
            <a:r>
              <a:rPr lang="en-US" b="1" dirty="0" err="1">
                <a:solidFill>
                  <a:srgbClr val="236356"/>
                </a:solidFill>
                <a:latin typeface="Georgia" panose="02040502050405020303" pitchFamily="18" charset="0"/>
                <a:sym typeface="Wingdings" panose="05000000000000000000" pitchFamily="2" charset="2"/>
              </a:rPr>
              <a:t>requirements.txt</a:t>
            </a:r>
            <a:endParaRPr lang="en-US" b="1" dirty="0">
              <a:solidFill>
                <a:srgbClr val="236356"/>
              </a:solidFill>
              <a:latin typeface="Georgia" panose="02040502050405020303" pitchFamily="18" charset="0"/>
              <a:sym typeface="Wingdings" panose="05000000000000000000" pitchFamily="2" charset="2"/>
            </a:endParaRPr>
          </a:p>
          <a:p>
            <a:r>
              <a:rPr lang="en-US" sz="1200" dirty="0">
                <a:solidFill>
                  <a:srgbClr val="94573F"/>
                </a:solidFill>
                <a:latin typeface="Georgia" panose="02040502050405020303" pitchFamily="18" charset="0"/>
                <a:sym typeface="Wingdings" panose="05000000000000000000" pitchFamily="2" charset="2"/>
              </a:rPr>
              <a:t>(legacy solution)</a:t>
            </a:r>
            <a:endParaRPr lang="en-US" sz="1200" dirty="0">
              <a:solidFill>
                <a:srgbClr val="94573F"/>
              </a:solidFill>
            </a:endParaRPr>
          </a:p>
        </p:txBody>
      </p:sp>
      <p:sp>
        <p:nvSpPr>
          <p:cNvPr id="6" name="TextBox 5">
            <a:extLst>
              <a:ext uri="{FF2B5EF4-FFF2-40B4-BE49-F238E27FC236}">
                <a16:creationId xmlns:a16="http://schemas.microsoft.com/office/drawing/2014/main" id="{53B0D49A-B18A-7ECF-F912-7549C7C12CF4}"/>
              </a:ext>
            </a:extLst>
          </p:cNvPr>
          <p:cNvSpPr txBox="1"/>
          <p:nvPr/>
        </p:nvSpPr>
        <p:spPr>
          <a:xfrm>
            <a:off x="4724408" y="3042795"/>
            <a:ext cx="2485292" cy="553998"/>
          </a:xfrm>
          <a:prstGeom prst="rect">
            <a:avLst/>
          </a:prstGeom>
          <a:noFill/>
        </p:spPr>
        <p:txBody>
          <a:bodyPr wrap="square">
            <a:spAutoFit/>
          </a:bodyPr>
          <a:lstStyle/>
          <a:p>
            <a:r>
              <a:rPr lang="en-US" b="1" dirty="0" err="1">
                <a:solidFill>
                  <a:srgbClr val="236356"/>
                </a:solidFill>
                <a:latin typeface="Georgia" panose="02040502050405020303" pitchFamily="18" charset="0"/>
                <a:sym typeface="Wingdings" panose="05000000000000000000" pitchFamily="2" charset="2"/>
              </a:rPr>
              <a:t>pyprojecjt.toml</a:t>
            </a:r>
            <a:endParaRPr lang="en-US" b="1" dirty="0">
              <a:solidFill>
                <a:srgbClr val="236356"/>
              </a:solidFill>
              <a:latin typeface="Georgia" panose="02040502050405020303" pitchFamily="18" charset="0"/>
              <a:sym typeface="Wingdings" panose="05000000000000000000" pitchFamily="2" charset="2"/>
            </a:endParaRPr>
          </a:p>
          <a:p>
            <a:r>
              <a:rPr lang="en-US" sz="1200" dirty="0">
                <a:solidFill>
                  <a:srgbClr val="94573F"/>
                </a:solidFill>
                <a:latin typeface="Georgia" panose="02040502050405020303" pitchFamily="18" charset="0"/>
                <a:sym typeface="Wingdings" panose="05000000000000000000" pitchFamily="2" charset="2"/>
              </a:rPr>
              <a:t>(modern solution)</a:t>
            </a:r>
            <a:endParaRPr lang="en-US" sz="1200" dirty="0">
              <a:solidFill>
                <a:srgbClr val="94573F"/>
              </a:solidFill>
            </a:endParaRPr>
          </a:p>
        </p:txBody>
      </p:sp>
      <p:sp>
        <p:nvSpPr>
          <p:cNvPr id="9" name="TextBox 8">
            <a:extLst>
              <a:ext uri="{FF2B5EF4-FFF2-40B4-BE49-F238E27FC236}">
                <a16:creationId xmlns:a16="http://schemas.microsoft.com/office/drawing/2014/main" id="{06AB44D6-38DC-C0D6-F647-D417C7D8460C}"/>
              </a:ext>
            </a:extLst>
          </p:cNvPr>
          <p:cNvSpPr txBox="1"/>
          <p:nvPr/>
        </p:nvSpPr>
        <p:spPr>
          <a:xfrm>
            <a:off x="4724408" y="3644400"/>
            <a:ext cx="4478217" cy="3016210"/>
          </a:xfrm>
          <a:prstGeom prst="rect">
            <a:avLst/>
          </a:prstGeom>
          <a:noFill/>
        </p:spPr>
        <p:txBody>
          <a:bodyPr wrap="square">
            <a:spAutoFit/>
          </a:bodyPr>
          <a:lstStyle/>
          <a:p>
            <a:r>
              <a:rPr lang="en-US" sz="1000" dirty="0">
                <a:latin typeface="Consolas" panose="020B0609020204030204" pitchFamily="49" charset="0"/>
                <a:cs typeface="Consolas" panose="020B0609020204030204" pitchFamily="49" charset="0"/>
              </a:rPr>
              <a:t>[project]</a:t>
            </a:r>
          </a:p>
          <a:p>
            <a:r>
              <a:rPr lang="en-US" sz="1000" dirty="0">
                <a:latin typeface="Consolas" panose="020B0609020204030204" pitchFamily="49" charset="0"/>
                <a:cs typeface="Consolas" panose="020B0609020204030204" pitchFamily="49" charset="0"/>
              </a:rPr>
              <a:t>name = "my-data-app"</a:t>
            </a:r>
          </a:p>
          <a:p>
            <a:r>
              <a:rPr lang="en-US" sz="1000" dirty="0">
                <a:latin typeface="Consolas" panose="020B0609020204030204" pitchFamily="49" charset="0"/>
                <a:cs typeface="Consolas" panose="020B0609020204030204" pitchFamily="49" charset="0"/>
              </a:rPr>
              <a:t>version = "0.1.0"</a:t>
            </a:r>
          </a:p>
          <a:p>
            <a:r>
              <a:rPr lang="en-US" sz="1000" dirty="0">
                <a:latin typeface="Consolas" panose="020B0609020204030204" pitchFamily="49" charset="0"/>
                <a:cs typeface="Consolas" panose="020B0609020204030204" pitchFamily="49" charset="0"/>
              </a:rPr>
              <a:t>description = "A simple data analysis tool"</a:t>
            </a:r>
          </a:p>
          <a:p>
            <a:r>
              <a:rPr lang="en-US" sz="1000" dirty="0">
                <a:latin typeface="Consolas" panose="020B0609020204030204" pitchFamily="49" charset="0"/>
                <a:cs typeface="Consolas" panose="020B0609020204030204" pitchFamily="49" charset="0"/>
              </a:rPr>
              <a:t>requires-python = "&gt;=3.10"</a:t>
            </a:r>
          </a:p>
          <a:p>
            <a:endParaRPr lang="en-US" sz="1000" dirty="0">
              <a:latin typeface="Consolas" panose="020B0609020204030204" pitchFamily="49" charset="0"/>
              <a:cs typeface="Consolas" panose="020B0609020204030204" pitchFamily="49" charset="0"/>
            </a:endParaRPr>
          </a:p>
          <a:p>
            <a:r>
              <a:rPr lang="en-US" sz="1000" dirty="0">
                <a:latin typeface="Consolas" panose="020B0609020204030204" pitchFamily="49" charset="0"/>
                <a:cs typeface="Consolas" panose="020B0609020204030204" pitchFamily="49" charset="0"/>
              </a:rPr>
              <a:t># These replace </a:t>
            </a:r>
            <a:r>
              <a:rPr lang="en-US" sz="1000" dirty="0" err="1">
                <a:latin typeface="Consolas" panose="020B0609020204030204" pitchFamily="49" charset="0"/>
                <a:cs typeface="Consolas" panose="020B0609020204030204" pitchFamily="49" charset="0"/>
              </a:rPr>
              <a:t>requirements.txt</a:t>
            </a:r>
            <a:endParaRPr lang="en-US" sz="1000" dirty="0">
              <a:latin typeface="Consolas" panose="020B0609020204030204" pitchFamily="49" charset="0"/>
              <a:cs typeface="Consolas" panose="020B0609020204030204" pitchFamily="49" charset="0"/>
            </a:endParaRPr>
          </a:p>
          <a:p>
            <a:r>
              <a:rPr lang="en-US" sz="1000" dirty="0">
                <a:latin typeface="Consolas" panose="020B0609020204030204" pitchFamily="49" charset="0"/>
                <a:cs typeface="Consolas" panose="020B0609020204030204" pitchFamily="49" charset="0"/>
              </a:rPr>
              <a:t>dependencies = [</a:t>
            </a:r>
          </a:p>
          <a:p>
            <a:r>
              <a:rPr lang="en-US" sz="1000" dirty="0">
                <a:latin typeface="Consolas" panose="020B0609020204030204" pitchFamily="49" charset="0"/>
                <a:cs typeface="Consolas" panose="020B0609020204030204" pitchFamily="49" charset="0"/>
              </a:rPr>
              <a:t>    "pandas&gt;=2.0.0",</a:t>
            </a:r>
          </a:p>
          <a:p>
            <a:r>
              <a:rPr lang="en-US" sz="1000" dirty="0">
                <a:latin typeface="Consolas" panose="020B0609020204030204" pitchFamily="49" charset="0"/>
                <a:cs typeface="Consolas" panose="020B0609020204030204" pitchFamily="49" charset="0"/>
              </a:rPr>
              <a:t>    "requests",</a:t>
            </a:r>
          </a:p>
          <a:p>
            <a:r>
              <a:rPr lang="en-US" sz="1000" dirty="0">
                <a:latin typeface="Consolas" panose="020B0609020204030204" pitchFamily="49" charset="0"/>
                <a:cs typeface="Consolas" panose="020B0609020204030204" pitchFamily="49" charset="0"/>
              </a:rPr>
              <a:t>]</a:t>
            </a:r>
          </a:p>
          <a:p>
            <a:endParaRPr lang="en-US" sz="1000" dirty="0">
              <a:latin typeface="Consolas" panose="020B0609020204030204" pitchFamily="49" charset="0"/>
              <a:cs typeface="Consolas" panose="020B0609020204030204" pitchFamily="49" charset="0"/>
            </a:endParaRPr>
          </a:p>
          <a:p>
            <a:r>
              <a:rPr lang="en-US" sz="1000" dirty="0">
                <a:latin typeface="Consolas" panose="020B0609020204030204" pitchFamily="49" charset="0"/>
                <a:cs typeface="Consolas" panose="020B0609020204030204" pitchFamily="49" charset="0"/>
              </a:rPr>
              <a:t># You can define optional dependencies (e.g., for testing)</a:t>
            </a:r>
          </a:p>
          <a:p>
            <a:r>
              <a:rPr lang="en-US" sz="1000" dirty="0">
                <a:latin typeface="Consolas" panose="020B0609020204030204" pitchFamily="49" charset="0"/>
                <a:cs typeface="Consolas" panose="020B0609020204030204" pitchFamily="49" charset="0"/>
              </a:rPr>
              <a:t>[</a:t>
            </a:r>
            <a:r>
              <a:rPr lang="en-US" sz="1000" dirty="0" err="1">
                <a:latin typeface="Consolas" panose="020B0609020204030204" pitchFamily="49" charset="0"/>
                <a:cs typeface="Consolas" panose="020B0609020204030204" pitchFamily="49" charset="0"/>
              </a:rPr>
              <a:t>project.optional</a:t>
            </a:r>
            <a:r>
              <a:rPr lang="en-US" sz="1000" dirty="0">
                <a:latin typeface="Consolas" panose="020B0609020204030204" pitchFamily="49" charset="0"/>
                <a:cs typeface="Consolas" panose="020B0609020204030204" pitchFamily="49" charset="0"/>
              </a:rPr>
              <a:t>-dependencies]</a:t>
            </a:r>
          </a:p>
          <a:p>
            <a:r>
              <a:rPr lang="en-US" sz="1000" dirty="0">
                <a:latin typeface="Consolas" panose="020B0609020204030204" pitchFamily="49" charset="0"/>
                <a:cs typeface="Consolas" panose="020B0609020204030204" pitchFamily="49" charset="0"/>
              </a:rPr>
              <a:t>dev = ["</a:t>
            </a:r>
            <a:r>
              <a:rPr lang="en-US" sz="1000" dirty="0" err="1">
                <a:latin typeface="Consolas" panose="020B0609020204030204" pitchFamily="49" charset="0"/>
                <a:cs typeface="Consolas" panose="020B0609020204030204" pitchFamily="49" charset="0"/>
              </a:rPr>
              <a:t>pytest</a:t>
            </a:r>
            <a:r>
              <a:rPr lang="en-US" sz="1000" dirty="0">
                <a:latin typeface="Consolas" panose="020B0609020204030204" pitchFamily="49" charset="0"/>
                <a:cs typeface="Consolas" panose="020B0609020204030204" pitchFamily="49" charset="0"/>
              </a:rPr>
              <a:t>", "ruff"]</a:t>
            </a:r>
          </a:p>
          <a:p>
            <a:endParaRPr lang="en-US" sz="1000" dirty="0">
              <a:latin typeface="Consolas" panose="020B0609020204030204" pitchFamily="49" charset="0"/>
              <a:cs typeface="Consolas" panose="020B0609020204030204" pitchFamily="49" charset="0"/>
            </a:endParaRPr>
          </a:p>
          <a:p>
            <a:r>
              <a:rPr lang="en-US" sz="1000" dirty="0">
                <a:latin typeface="Consolas" panose="020B0609020204030204" pitchFamily="49" charset="0"/>
                <a:cs typeface="Consolas" panose="020B0609020204030204" pitchFamily="49" charset="0"/>
              </a:rPr>
              <a:t># You can configure tools right in the same file!</a:t>
            </a:r>
          </a:p>
          <a:p>
            <a:r>
              <a:rPr lang="en-US" sz="1000" dirty="0">
                <a:latin typeface="Consolas" panose="020B0609020204030204" pitchFamily="49" charset="0"/>
                <a:cs typeface="Consolas" panose="020B0609020204030204" pitchFamily="49" charset="0"/>
              </a:rPr>
              <a:t>[</a:t>
            </a:r>
            <a:r>
              <a:rPr lang="en-US" sz="1000" dirty="0" err="1">
                <a:latin typeface="Consolas" panose="020B0609020204030204" pitchFamily="49" charset="0"/>
                <a:cs typeface="Consolas" panose="020B0609020204030204" pitchFamily="49" charset="0"/>
              </a:rPr>
              <a:t>tool.ruff</a:t>
            </a:r>
            <a:r>
              <a:rPr lang="en-US" sz="1000" dirty="0">
                <a:latin typeface="Consolas" panose="020B0609020204030204" pitchFamily="49" charset="0"/>
                <a:cs typeface="Consolas" panose="020B0609020204030204" pitchFamily="49" charset="0"/>
              </a:rPr>
              <a:t>]</a:t>
            </a:r>
          </a:p>
          <a:p>
            <a:r>
              <a:rPr lang="en-US" sz="1000" dirty="0">
                <a:latin typeface="Consolas" panose="020B0609020204030204" pitchFamily="49" charset="0"/>
                <a:cs typeface="Consolas" panose="020B0609020204030204" pitchFamily="49" charset="0"/>
              </a:rPr>
              <a:t>line-length = 88</a:t>
            </a:r>
          </a:p>
        </p:txBody>
      </p:sp>
      <p:sp>
        <p:nvSpPr>
          <p:cNvPr id="14" name="TextBox 13">
            <a:extLst>
              <a:ext uri="{FF2B5EF4-FFF2-40B4-BE49-F238E27FC236}">
                <a16:creationId xmlns:a16="http://schemas.microsoft.com/office/drawing/2014/main" id="{669FD4B4-7D6F-5173-8F0C-ED849F708EA9}"/>
              </a:ext>
            </a:extLst>
          </p:cNvPr>
          <p:cNvSpPr txBox="1"/>
          <p:nvPr/>
        </p:nvSpPr>
        <p:spPr>
          <a:xfrm>
            <a:off x="865989" y="3850434"/>
            <a:ext cx="3729458" cy="1477328"/>
          </a:xfrm>
          <a:prstGeom prst="rect">
            <a:avLst/>
          </a:prstGeom>
          <a:noFill/>
        </p:spPr>
        <p:txBody>
          <a:bodyPr wrap="square">
            <a:spAutoFit/>
          </a:bodyPr>
          <a:lstStyle/>
          <a:p>
            <a:r>
              <a:rPr lang="en-US" sz="1000" dirty="0">
                <a:latin typeface="Consolas" panose="020B0609020204030204" pitchFamily="49" charset="0"/>
                <a:cs typeface="Consolas" panose="020B0609020204030204" pitchFamily="49" charset="0"/>
              </a:rPr>
              <a:t># Exact version pinning (use pip freeze)</a:t>
            </a:r>
          </a:p>
          <a:p>
            <a:r>
              <a:rPr lang="en-US" sz="1000" dirty="0">
                <a:latin typeface="Consolas" panose="020B0609020204030204" pitchFamily="49" charset="0"/>
                <a:cs typeface="Consolas" panose="020B0609020204030204" pitchFamily="49" charset="0"/>
              </a:rPr>
              <a:t>pandas==2.2.0</a:t>
            </a:r>
          </a:p>
          <a:p>
            <a:r>
              <a:rPr lang="en-US" sz="1000" dirty="0" err="1">
                <a:latin typeface="Consolas" panose="020B0609020204030204" pitchFamily="49" charset="0"/>
                <a:cs typeface="Consolas" panose="020B0609020204030204" pitchFamily="49" charset="0"/>
              </a:rPr>
              <a:t>numpy</a:t>
            </a:r>
            <a:r>
              <a:rPr lang="en-US" sz="1000" dirty="0">
                <a:latin typeface="Consolas" panose="020B0609020204030204" pitchFamily="49" charset="0"/>
                <a:cs typeface="Consolas" panose="020B0609020204030204" pitchFamily="49" charset="0"/>
              </a:rPr>
              <a:t>==1.26.4</a:t>
            </a:r>
          </a:p>
          <a:p>
            <a:endParaRPr lang="en-US" sz="1000" dirty="0">
              <a:latin typeface="Consolas" panose="020B0609020204030204" pitchFamily="49" charset="0"/>
              <a:cs typeface="Consolas" panose="020B0609020204030204" pitchFamily="49" charset="0"/>
            </a:endParaRPr>
          </a:p>
          <a:p>
            <a:r>
              <a:rPr lang="en-US" sz="1000" dirty="0">
                <a:latin typeface="Consolas" panose="020B0609020204030204" pitchFamily="49" charset="0"/>
                <a:cs typeface="Consolas" panose="020B0609020204030204" pitchFamily="49" charset="0"/>
              </a:rPr>
              <a:t># Minimum version constraints (often hand-written)</a:t>
            </a:r>
          </a:p>
          <a:p>
            <a:r>
              <a:rPr lang="en-US" sz="1000" dirty="0">
                <a:latin typeface="Consolas" panose="020B0609020204030204" pitchFamily="49" charset="0"/>
                <a:cs typeface="Consolas" panose="020B0609020204030204" pitchFamily="49" charset="0"/>
              </a:rPr>
              <a:t>requests&gt;=2.30.0</a:t>
            </a:r>
          </a:p>
          <a:p>
            <a:endParaRPr lang="en-US" sz="1000" dirty="0">
              <a:latin typeface="Consolas" panose="020B0609020204030204" pitchFamily="49" charset="0"/>
              <a:cs typeface="Consolas" panose="020B0609020204030204" pitchFamily="49" charset="0"/>
            </a:endParaRPr>
          </a:p>
          <a:p>
            <a:r>
              <a:rPr lang="en-US" sz="1000" dirty="0">
                <a:latin typeface="Consolas" panose="020B0609020204030204" pitchFamily="49" charset="0"/>
                <a:cs typeface="Consolas" panose="020B0609020204030204" pitchFamily="49" charset="0"/>
              </a:rPr>
              <a:t># Direct URLs or local paths</a:t>
            </a:r>
          </a:p>
          <a:p>
            <a:r>
              <a:rPr lang="en-US" sz="1000" dirty="0">
                <a:latin typeface="Consolas" panose="020B0609020204030204" pitchFamily="49" charset="0"/>
                <a:cs typeface="Consolas" panose="020B0609020204030204" pitchFamily="49" charset="0"/>
              </a:rPr>
              <a:t>my-local-package @ file:///path/to/local/</a:t>
            </a:r>
            <a:r>
              <a:rPr lang="en-US" sz="1000" dirty="0" err="1">
                <a:latin typeface="Consolas" panose="020B0609020204030204" pitchFamily="49" charset="0"/>
                <a:cs typeface="Consolas" panose="020B0609020204030204" pitchFamily="49" charset="0"/>
              </a:rPr>
              <a:t>dir</a:t>
            </a:r>
            <a:endParaRPr lang="en-US" sz="1000" dirty="0">
              <a:latin typeface="Consolas" panose="020B0609020204030204" pitchFamily="49" charset="0"/>
              <a:cs typeface="Consolas" panose="020B0609020204030204" pitchFamily="49" charset="0"/>
            </a:endParaRPr>
          </a:p>
        </p:txBody>
      </p:sp>
      <p:sp>
        <p:nvSpPr>
          <p:cNvPr id="21" name="TextBox 20">
            <a:extLst>
              <a:ext uri="{FF2B5EF4-FFF2-40B4-BE49-F238E27FC236}">
                <a16:creationId xmlns:a16="http://schemas.microsoft.com/office/drawing/2014/main" id="{FE5DF2D0-6C3B-3583-ACBA-8D1E9F3A40D3}"/>
              </a:ext>
            </a:extLst>
          </p:cNvPr>
          <p:cNvSpPr txBox="1"/>
          <p:nvPr/>
        </p:nvSpPr>
        <p:spPr>
          <a:xfrm>
            <a:off x="8802523" y="3785470"/>
            <a:ext cx="3062749" cy="1477328"/>
          </a:xfrm>
          <a:prstGeom prst="rect">
            <a:avLst/>
          </a:prstGeom>
          <a:noFill/>
        </p:spPr>
        <p:txBody>
          <a:bodyPr wrap="square">
            <a:spAutoFit/>
          </a:bodyPr>
          <a:lstStyle/>
          <a:p>
            <a:r>
              <a:rPr lang="en-US" sz="1000" dirty="0">
                <a:latin typeface="Consolas" panose="020B0609020204030204" pitchFamily="49" charset="0"/>
                <a:cs typeface="Consolas" panose="020B0609020204030204" pitchFamily="49" charset="0"/>
              </a:rPr>
              <a:t>name: </a:t>
            </a:r>
            <a:r>
              <a:rPr lang="en-US" sz="1000" dirty="0" err="1">
                <a:latin typeface="Consolas" panose="020B0609020204030204" pitchFamily="49" charset="0"/>
                <a:cs typeface="Consolas" panose="020B0609020204030204" pitchFamily="49" charset="0"/>
              </a:rPr>
              <a:t>my_hybrid_env</a:t>
            </a:r>
            <a:endParaRPr lang="en-US" sz="1000" dirty="0">
              <a:latin typeface="Consolas" panose="020B0609020204030204" pitchFamily="49" charset="0"/>
              <a:cs typeface="Consolas" panose="020B0609020204030204" pitchFamily="49" charset="0"/>
            </a:endParaRPr>
          </a:p>
          <a:p>
            <a:r>
              <a:rPr lang="en-US" sz="1000" dirty="0">
                <a:latin typeface="Consolas" panose="020B0609020204030204" pitchFamily="49" charset="0"/>
                <a:cs typeface="Consolas" panose="020B0609020204030204" pitchFamily="49" charset="0"/>
              </a:rPr>
              <a:t>channels:</a:t>
            </a:r>
          </a:p>
          <a:p>
            <a:r>
              <a:rPr lang="en-US" sz="1000" dirty="0">
                <a:latin typeface="Consolas" panose="020B0609020204030204" pitchFamily="49" charset="0"/>
                <a:cs typeface="Consolas" panose="020B0609020204030204" pitchFamily="49" charset="0"/>
              </a:rPr>
              <a:t>  - </a:t>
            </a:r>
            <a:r>
              <a:rPr lang="en-US" sz="1000" dirty="0" err="1">
                <a:latin typeface="Consolas" panose="020B0609020204030204" pitchFamily="49" charset="0"/>
                <a:cs typeface="Consolas" panose="020B0609020204030204" pitchFamily="49" charset="0"/>
              </a:rPr>
              <a:t>conda</a:t>
            </a:r>
            <a:r>
              <a:rPr lang="en-US" sz="1000" dirty="0">
                <a:latin typeface="Consolas" panose="020B0609020204030204" pitchFamily="49" charset="0"/>
                <a:cs typeface="Consolas" panose="020B0609020204030204" pitchFamily="49" charset="0"/>
              </a:rPr>
              <a:t>-forge</a:t>
            </a:r>
          </a:p>
          <a:p>
            <a:r>
              <a:rPr lang="en-US" sz="1000" dirty="0">
                <a:latin typeface="Consolas" panose="020B0609020204030204" pitchFamily="49" charset="0"/>
                <a:cs typeface="Consolas" panose="020B0609020204030204" pitchFamily="49" charset="0"/>
              </a:rPr>
              <a:t>dependencies:</a:t>
            </a:r>
          </a:p>
          <a:p>
            <a:r>
              <a:rPr lang="en-US" sz="1000" dirty="0">
                <a:latin typeface="Consolas" panose="020B0609020204030204" pitchFamily="49" charset="0"/>
                <a:cs typeface="Consolas" panose="020B0609020204030204" pitchFamily="49" charset="0"/>
              </a:rPr>
              <a:t>  - python=3.10</a:t>
            </a:r>
          </a:p>
          <a:p>
            <a:r>
              <a:rPr lang="en-US" sz="1000" dirty="0">
                <a:latin typeface="Consolas" panose="020B0609020204030204" pitchFamily="49" charset="0"/>
                <a:cs typeface="Consolas" panose="020B0609020204030204" pitchFamily="49" charset="0"/>
              </a:rPr>
              <a:t>  - pandas</a:t>
            </a:r>
          </a:p>
          <a:p>
            <a:r>
              <a:rPr lang="en-US" sz="1000" dirty="0">
                <a:latin typeface="Consolas" panose="020B0609020204030204" pitchFamily="49" charset="0"/>
                <a:cs typeface="Consolas" panose="020B0609020204030204" pitchFamily="49" charset="0"/>
              </a:rPr>
              <a:t>  # Tell </a:t>
            </a:r>
            <a:r>
              <a:rPr lang="en-US" sz="1000" dirty="0" err="1">
                <a:latin typeface="Consolas" panose="020B0609020204030204" pitchFamily="49" charset="0"/>
                <a:cs typeface="Consolas" panose="020B0609020204030204" pitchFamily="49" charset="0"/>
              </a:rPr>
              <a:t>conda</a:t>
            </a:r>
            <a:r>
              <a:rPr lang="en-US" sz="1000" dirty="0">
                <a:latin typeface="Consolas" panose="020B0609020204030204" pitchFamily="49" charset="0"/>
                <a:cs typeface="Consolas" panose="020B0609020204030204" pitchFamily="49" charset="0"/>
              </a:rPr>
              <a:t> to use pip for the rest!</a:t>
            </a:r>
          </a:p>
          <a:p>
            <a:r>
              <a:rPr lang="en-US" sz="1000" dirty="0">
                <a:latin typeface="Consolas" panose="020B0609020204030204" pitchFamily="49" charset="0"/>
                <a:cs typeface="Consolas" panose="020B0609020204030204" pitchFamily="49" charset="0"/>
              </a:rPr>
              <a:t>  - pip:</a:t>
            </a:r>
          </a:p>
          <a:p>
            <a:r>
              <a:rPr lang="en-US" sz="1000" dirty="0">
                <a:latin typeface="Consolas" panose="020B0609020204030204" pitchFamily="49" charset="0"/>
                <a:cs typeface="Consolas" panose="020B0609020204030204" pitchFamily="49" charset="0"/>
              </a:rPr>
              <a:t>    - -r </a:t>
            </a:r>
            <a:r>
              <a:rPr lang="en-US" sz="1000" dirty="0" err="1">
                <a:latin typeface="Consolas" panose="020B0609020204030204" pitchFamily="49" charset="0"/>
                <a:cs typeface="Consolas" panose="020B0609020204030204" pitchFamily="49" charset="0"/>
              </a:rPr>
              <a:t>requirements.txt</a:t>
            </a:r>
            <a:endParaRPr lang="en-US" sz="1000" dirty="0">
              <a:latin typeface="Consolas" panose="020B0609020204030204" pitchFamily="49" charset="0"/>
              <a:cs typeface="Consolas" panose="020B0609020204030204" pitchFamily="49" charset="0"/>
            </a:endParaRPr>
          </a:p>
        </p:txBody>
      </p:sp>
      <p:sp>
        <p:nvSpPr>
          <p:cNvPr id="23" name="TextBox 22">
            <a:extLst>
              <a:ext uri="{FF2B5EF4-FFF2-40B4-BE49-F238E27FC236}">
                <a16:creationId xmlns:a16="http://schemas.microsoft.com/office/drawing/2014/main" id="{E8390B20-C6D9-1D1E-A67F-4EC7C563E6FA}"/>
              </a:ext>
            </a:extLst>
          </p:cNvPr>
          <p:cNvSpPr txBox="1"/>
          <p:nvPr/>
        </p:nvSpPr>
        <p:spPr>
          <a:xfrm>
            <a:off x="8802523" y="3169615"/>
            <a:ext cx="2485292" cy="553998"/>
          </a:xfrm>
          <a:prstGeom prst="rect">
            <a:avLst/>
          </a:prstGeom>
          <a:noFill/>
        </p:spPr>
        <p:txBody>
          <a:bodyPr wrap="square">
            <a:spAutoFit/>
          </a:bodyPr>
          <a:lstStyle/>
          <a:p>
            <a:r>
              <a:rPr lang="en-US" b="1" dirty="0" err="1">
                <a:solidFill>
                  <a:srgbClr val="236356"/>
                </a:solidFill>
                <a:latin typeface="Georgia" panose="02040502050405020303" pitchFamily="18" charset="0"/>
                <a:sym typeface="Wingdings" panose="05000000000000000000" pitchFamily="2" charset="2"/>
              </a:rPr>
              <a:t>environment.yml</a:t>
            </a:r>
            <a:endParaRPr lang="en-US" b="1" dirty="0">
              <a:solidFill>
                <a:srgbClr val="236356"/>
              </a:solidFill>
              <a:latin typeface="Georgia" panose="02040502050405020303" pitchFamily="18" charset="0"/>
              <a:sym typeface="Wingdings" panose="05000000000000000000" pitchFamily="2" charset="2"/>
            </a:endParaRPr>
          </a:p>
          <a:p>
            <a:r>
              <a:rPr lang="en-US" sz="1200" dirty="0">
                <a:solidFill>
                  <a:srgbClr val="94573F"/>
                </a:solidFill>
                <a:latin typeface="Georgia" panose="02040502050405020303" pitchFamily="18" charset="0"/>
                <a:sym typeface="Wingdings" panose="05000000000000000000" pitchFamily="2" charset="2"/>
              </a:rPr>
              <a:t>(</a:t>
            </a:r>
            <a:r>
              <a:rPr lang="en-US" sz="1200" dirty="0" err="1">
                <a:solidFill>
                  <a:srgbClr val="94573F"/>
                </a:solidFill>
                <a:latin typeface="Georgia" panose="02040502050405020303" pitchFamily="18" charset="0"/>
                <a:sym typeface="Wingdings" panose="05000000000000000000" pitchFamily="2" charset="2"/>
              </a:rPr>
              <a:t>conda</a:t>
            </a:r>
            <a:r>
              <a:rPr lang="en-US" sz="1200" dirty="0">
                <a:solidFill>
                  <a:srgbClr val="94573F"/>
                </a:solidFill>
                <a:latin typeface="Georgia" panose="02040502050405020303" pitchFamily="18" charset="0"/>
                <a:sym typeface="Wingdings" panose="05000000000000000000" pitchFamily="2" charset="2"/>
              </a:rPr>
              <a:t> solution)</a:t>
            </a:r>
            <a:endParaRPr lang="en-US" sz="1200" dirty="0">
              <a:solidFill>
                <a:srgbClr val="94573F"/>
              </a:solidFill>
            </a:endParaRPr>
          </a:p>
        </p:txBody>
      </p:sp>
      <p:sp>
        <p:nvSpPr>
          <p:cNvPr id="24" name="TextBox 23">
            <a:extLst>
              <a:ext uri="{FF2B5EF4-FFF2-40B4-BE49-F238E27FC236}">
                <a16:creationId xmlns:a16="http://schemas.microsoft.com/office/drawing/2014/main" id="{B91C8AE2-5B14-680F-7B97-93E725C6620B}"/>
              </a:ext>
            </a:extLst>
          </p:cNvPr>
          <p:cNvSpPr txBox="1"/>
          <p:nvPr/>
        </p:nvSpPr>
        <p:spPr>
          <a:xfrm>
            <a:off x="865988" y="5595260"/>
            <a:ext cx="3612227" cy="523220"/>
          </a:xfrm>
          <a:prstGeom prst="rect">
            <a:avLst/>
          </a:prstGeom>
          <a:noFill/>
        </p:spPr>
        <p:txBody>
          <a:bodyPr wrap="square" rtlCol="0">
            <a:spAutoFit/>
          </a:bodyPr>
          <a:lstStyle/>
          <a:p>
            <a:r>
              <a:rPr lang="en-US" sz="1400" dirty="0">
                <a:solidFill>
                  <a:srgbClr val="94573F"/>
                </a:solidFill>
                <a:latin typeface="Georgia" panose="02040502050405020303" pitchFamily="18" charset="0"/>
                <a:sym typeface="Wingdings" panose="05000000000000000000" pitchFamily="2" charset="2"/>
              </a:rPr>
              <a:t>* Use </a:t>
            </a:r>
            <a:r>
              <a:rPr lang="en-US" sz="1400" dirty="0">
                <a:solidFill>
                  <a:srgbClr val="00BDD6"/>
                </a:solidFill>
                <a:latin typeface="Consolas" panose="020B0609020204030204" pitchFamily="49" charset="0"/>
              </a:rPr>
              <a:t>pip freeze</a:t>
            </a:r>
            <a:r>
              <a:rPr lang="en-US" sz="1400" dirty="0">
                <a:solidFill>
                  <a:srgbClr val="FA8900"/>
                </a:solidFill>
                <a:latin typeface="Consolas" panose="020B0609020204030204" pitchFamily="49" charset="0"/>
              </a:rPr>
              <a:t> </a:t>
            </a:r>
            <a:r>
              <a:rPr lang="en-US" sz="1400" dirty="0">
                <a:solidFill>
                  <a:srgbClr val="A88C00"/>
                </a:solidFill>
                <a:latin typeface="Consolas" panose="020B0609020204030204" pitchFamily="49" charset="0"/>
              </a:rPr>
              <a:t>&gt;</a:t>
            </a:r>
            <a:r>
              <a:rPr lang="en-US" sz="1400" dirty="0">
                <a:solidFill>
                  <a:srgbClr val="FA8900"/>
                </a:solidFill>
                <a:latin typeface="Consolas" panose="020B0609020204030204" pitchFamily="49" charset="0"/>
              </a:rPr>
              <a:t> </a:t>
            </a:r>
            <a:r>
              <a:rPr lang="en-US" sz="1400" dirty="0" err="1">
                <a:solidFill>
                  <a:srgbClr val="00B368"/>
                </a:solidFill>
                <a:latin typeface="Consolas" panose="020B0609020204030204" pitchFamily="49" charset="0"/>
              </a:rPr>
              <a:t>requirements.txt</a:t>
            </a:r>
            <a:r>
              <a:rPr lang="en-US" sz="1400" dirty="0">
                <a:solidFill>
                  <a:srgbClr val="00B368"/>
                </a:solidFill>
                <a:latin typeface="Consolas" panose="020B0609020204030204" pitchFamily="49" charset="0"/>
              </a:rPr>
              <a:t> </a:t>
            </a:r>
            <a:r>
              <a:rPr lang="en-US" sz="1400" dirty="0">
                <a:solidFill>
                  <a:srgbClr val="94573F"/>
                </a:solidFill>
                <a:latin typeface="Georgia" panose="02040502050405020303" pitchFamily="18" charset="0"/>
                <a:sym typeface="Wingdings" panose="05000000000000000000" pitchFamily="2" charset="2"/>
              </a:rPr>
              <a:t>to generate this file!</a:t>
            </a:r>
          </a:p>
        </p:txBody>
      </p:sp>
      <p:sp>
        <p:nvSpPr>
          <p:cNvPr id="25" name="TextBox 24">
            <a:extLst>
              <a:ext uri="{FF2B5EF4-FFF2-40B4-BE49-F238E27FC236}">
                <a16:creationId xmlns:a16="http://schemas.microsoft.com/office/drawing/2014/main" id="{91A88CC4-F251-E042-2C44-6294D569222F}"/>
              </a:ext>
            </a:extLst>
          </p:cNvPr>
          <p:cNvSpPr txBox="1"/>
          <p:nvPr/>
        </p:nvSpPr>
        <p:spPr>
          <a:xfrm>
            <a:off x="8579773" y="5856870"/>
            <a:ext cx="3612227" cy="954107"/>
          </a:xfrm>
          <a:prstGeom prst="rect">
            <a:avLst/>
          </a:prstGeom>
          <a:noFill/>
        </p:spPr>
        <p:txBody>
          <a:bodyPr wrap="square" rtlCol="0">
            <a:spAutoFit/>
          </a:bodyPr>
          <a:lstStyle/>
          <a:p>
            <a:r>
              <a:rPr lang="en-US" sz="1400" dirty="0">
                <a:solidFill>
                  <a:srgbClr val="94573F"/>
                </a:solidFill>
                <a:latin typeface="Georgia" panose="02040502050405020303" pitchFamily="18" charset="0"/>
                <a:sym typeface="Wingdings" panose="05000000000000000000" pitchFamily="2" charset="2"/>
              </a:rPr>
              <a:t>&lt; Use </a:t>
            </a:r>
            <a:r>
              <a:rPr lang="en-US" sz="1400" dirty="0" err="1">
                <a:solidFill>
                  <a:srgbClr val="00BDD6"/>
                </a:solidFill>
                <a:latin typeface="Consolas" panose="020B0609020204030204" pitchFamily="49" charset="0"/>
              </a:rPr>
              <a:t>uv</a:t>
            </a:r>
            <a:r>
              <a:rPr lang="en-US" sz="1400" dirty="0">
                <a:solidFill>
                  <a:srgbClr val="00BDD6"/>
                </a:solidFill>
                <a:latin typeface="Consolas" panose="020B0609020204030204" pitchFamily="49" charset="0"/>
              </a:rPr>
              <a:t> </a:t>
            </a:r>
            <a:r>
              <a:rPr lang="en-US" sz="1400" dirty="0" err="1">
                <a:solidFill>
                  <a:srgbClr val="00BDD6"/>
                </a:solidFill>
                <a:latin typeface="Consolas" panose="020B0609020204030204" pitchFamily="49" charset="0"/>
              </a:rPr>
              <a:t>init</a:t>
            </a:r>
            <a:r>
              <a:rPr lang="en-US" sz="1400" dirty="0">
                <a:solidFill>
                  <a:srgbClr val="FA8900"/>
                </a:solidFill>
                <a:latin typeface="Consolas" panose="020B0609020204030204" pitchFamily="49" charset="0"/>
              </a:rPr>
              <a:t> </a:t>
            </a:r>
            <a:r>
              <a:rPr lang="en-US" sz="1400" dirty="0">
                <a:solidFill>
                  <a:srgbClr val="94573F"/>
                </a:solidFill>
                <a:latin typeface="Georgia" panose="02040502050405020303" pitchFamily="18" charset="0"/>
                <a:sym typeface="Wingdings" panose="05000000000000000000" pitchFamily="2" charset="2"/>
              </a:rPr>
              <a:t>to create a skeleton </a:t>
            </a:r>
            <a:r>
              <a:rPr lang="en-US" sz="1400" dirty="0" err="1">
                <a:solidFill>
                  <a:srgbClr val="94573F"/>
                </a:solidFill>
                <a:latin typeface="Georgia" panose="02040502050405020303" pitchFamily="18" charset="0"/>
                <a:sym typeface="Wingdings" panose="05000000000000000000" pitchFamily="2" charset="2"/>
              </a:rPr>
              <a:t>pyproject.toml</a:t>
            </a:r>
            <a:r>
              <a:rPr lang="en-US" sz="1400" dirty="0">
                <a:solidFill>
                  <a:srgbClr val="94573F"/>
                </a:solidFill>
                <a:latin typeface="Georgia" panose="02040502050405020303" pitchFamily="18" charset="0"/>
                <a:sym typeface="Wingdings" panose="05000000000000000000" pitchFamily="2" charset="2"/>
              </a:rPr>
              <a:t> and</a:t>
            </a:r>
            <a:r>
              <a:rPr lang="en-US" sz="1400" dirty="0">
                <a:solidFill>
                  <a:srgbClr val="FA8900"/>
                </a:solidFill>
                <a:latin typeface="Consolas" panose="020B0609020204030204" pitchFamily="49" charset="0"/>
              </a:rPr>
              <a:t> </a:t>
            </a:r>
            <a:r>
              <a:rPr lang="en-US" sz="1400" dirty="0" err="1">
                <a:solidFill>
                  <a:srgbClr val="00BDD6"/>
                </a:solidFill>
                <a:latin typeface="Consolas" panose="020B0609020204030204" pitchFamily="49" charset="0"/>
              </a:rPr>
              <a:t>uv</a:t>
            </a:r>
            <a:r>
              <a:rPr lang="en-US" sz="1400" dirty="0">
                <a:solidFill>
                  <a:srgbClr val="00BDD6"/>
                </a:solidFill>
                <a:latin typeface="Consolas" panose="020B0609020204030204" pitchFamily="49" charset="0"/>
              </a:rPr>
              <a:t> add</a:t>
            </a:r>
            <a:r>
              <a:rPr lang="en-US" sz="1400" dirty="0">
                <a:solidFill>
                  <a:srgbClr val="FA8900"/>
                </a:solidFill>
                <a:latin typeface="Consolas" panose="020B0609020204030204" pitchFamily="49" charset="0"/>
              </a:rPr>
              <a:t> </a:t>
            </a:r>
            <a:r>
              <a:rPr lang="en-US" sz="1400" dirty="0">
                <a:solidFill>
                  <a:srgbClr val="A88C00"/>
                </a:solidFill>
                <a:latin typeface="Consolas" panose="020B0609020204030204" pitchFamily="49" charset="0"/>
              </a:rPr>
              <a:t>-r</a:t>
            </a:r>
            <a:r>
              <a:rPr lang="en-US" sz="1400" dirty="0">
                <a:solidFill>
                  <a:srgbClr val="FA8900"/>
                </a:solidFill>
                <a:latin typeface="Consolas" panose="020B0609020204030204" pitchFamily="49" charset="0"/>
              </a:rPr>
              <a:t> </a:t>
            </a:r>
            <a:r>
              <a:rPr lang="en-US" sz="1400" dirty="0" err="1">
                <a:solidFill>
                  <a:srgbClr val="00B368"/>
                </a:solidFill>
                <a:latin typeface="Consolas" panose="020B0609020204030204" pitchFamily="49" charset="0"/>
              </a:rPr>
              <a:t>requirements.txt</a:t>
            </a:r>
            <a:r>
              <a:rPr lang="en-US" sz="1400" dirty="0">
                <a:solidFill>
                  <a:srgbClr val="00B368"/>
                </a:solidFill>
                <a:latin typeface="Consolas" panose="020B0609020204030204" pitchFamily="49" charset="0"/>
              </a:rPr>
              <a:t> </a:t>
            </a:r>
            <a:r>
              <a:rPr lang="en-US" sz="1400" dirty="0">
                <a:solidFill>
                  <a:srgbClr val="94573F"/>
                </a:solidFill>
                <a:latin typeface="Georgia" panose="02040502050405020303" pitchFamily="18" charset="0"/>
                <a:sym typeface="Wingdings" panose="05000000000000000000" pitchFamily="2" charset="2"/>
              </a:rPr>
              <a:t>to populate with package list!</a:t>
            </a:r>
          </a:p>
        </p:txBody>
      </p:sp>
    </p:spTree>
    <p:extLst>
      <p:ext uri="{BB962C8B-B14F-4D97-AF65-F5344CB8AC3E}">
        <p14:creationId xmlns:p14="http://schemas.microsoft.com/office/powerpoint/2010/main" val="30209266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A5D1F-AE43-9FCE-AB48-CD5B0ADB128D}"/>
              </a:ext>
            </a:extLst>
          </p:cNvPr>
          <p:cNvSpPr>
            <a:spLocks noGrp="1"/>
          </p:cNvSpPr>
          <p:nvPr>
            <p:ph type="title"/>
          </p:nvPr>
        </p:nvSpPr>
        <p:spPr/>
        <p:txBody>
          <a:bodyPr/>
          <a:lstStyle/>
          <a:p>
            <a:r>
              <a:rPr lang="en-US" dirty="0"/>
              <a:t>Package management</a:t>
            </a:r>
          </a:p>
        </p:txBody>
      </p:sp>
      <p:sp>
        <p:nvSpPr>
          <p:cNvPr id="3" name="Text Placeholder 2">
            <a:extLst>
              <a:ext uri="{FF2B5EF4-FFF2-40B4-BE49-F238E27FC236}">
                <a16:creationId xmlns:a16="http://schemas.microsoft.com/office/drawing/2014/main" id="{7161D3DC-8C3E-A8D1-5CA3-1560FD8CE27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458034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AC40FE-D783-D2E9-242B-93106C643FD3}"/>
              </a:ext>
            </a:extLst>
          </p:cNvPr>
          <p:cNvSpPr>
            <a:spLocks noGrp="1"/>
          </p:cNvSpPr>
          <p:nvPr>
            <p:ph type="title"/>
          </p:nvPr>
        </p:nvSpPr>
        <p:spPr/>
        <p:txBody>
          <a:bodyPr/>
          <a:lstStyle/>
          <a:p>
            <a:r>
              <a:rPr lang="en-US" dirty="0"/>
              <a:t>Package managers download and install packages, and their dependencies</a:t>
            </a:r>
          </a:p>
        </p:txBody>
      </p:sp>
      <p:sp>
        <p:nvSpPr>
          <p:cNvPr id="3" name="Content Placeholder 2">
            <a:extLst>
              <a:ext uri="{FF2B5EF4-FFF2-40B4-BE49-F238E27FC236}">
                <a16:creationId xmlns:a16="http://schemas.microsoft.com/office/drawing/2014/main" id="{4F828D17-8099-39F1-08C1-073C2FDB85DD}"/>
              </a:ext>
            </a:extLst>
          </p:cNvPr>
          <p:cNvSpPr>
            <a:spLocks noGrp="1"/>
          </p:cNvSpPr>
          <p:nvPr>
            <p:ph idx="1"/>
          </p:nvPr>
        </p:nvSpPr>
        <p:spPr/>
        <p:txBody>
          <a:bodyPr/>
          <a:lstStyle/>
          <a:p>
            <a:endParaRPr lang="en-US" dirty="0"/>
          </a:p>
          <a:p>
            <a:endParaRPr lang="en-US" dirty="0"/>
          </a:p>
          <a:p>
            <a:pPr marL="0" indent="0">
              <a:buNone/>
            </a:pPr>
            <a:r>
              <a:rPr lang="en-US" dirty="0"/>
              <a:t>Python has two main package managers: </a:t>
            </a:r>
          </a:p>
          <a:p>
            <a:pPr marL="457200" lvl="1" indent="0">
              <a:buNone/>
            </a:pPr>
            <a:r>
              <a:rPr lang="en-US" dirty="0">
                <a:latin typeface="Consolas" panose="020B0609020204030204" pitchFamily="49" charset="0"/>
              </a:rPr>
              <a:t>pip</a:t>
            </a:r>
            <a:r>
              <a:rPr lang="en-US" dirty="0"/>
              <a:t> (the official package manager) </a:t>
            </a:r>
          </a:p>
          <a:p>
            <a:pPr marL="457200" lvl="1" indent="0">
              <a:buNone/>
            </a:pPr>
            <a:r>
              <a:rPr lang="en-US" dirty="0" err="1">
                <a:latin typeface="Consolas" panose="020B0609020204030204" pitchFamily="49" charset="0"/>
              </a:rPr>
              <a:t>conda</a:t>
            </a:r>
            <a:r>
              <a:rPr lang="en-US" dirty="0"/>
              <a:t> (the one most data scientists use)</a:t>
            </a:r>
          </a:p>
        </p:txBody>
      </p:sp>
      <p:pic>
        <p:nvPicPr>
          <p:cNvPr id="6" name="Picture 5">
            <a:extLst>
              <a:ext uri="{FF2B5EF4-FFF2-40B4-BE49-F238E27FC236}">
                <a16:creationId xmlns:a16="http://schemas.microsoft.com/office/drawing/2014/main" id="{84314F0D-FFB5-CA2D-89E3-D853DB12BAA4}"/>
              </a:ext>
            </a:extLst>
          </p:cNvPr>
          <p:cNvPicPr>
            <a:picLocks noChangeAspect="1"/>
          </p:cNvPicPr>
          <p:nvPr/>
        </p:nvPicPr>
        <p:blipFill>
          <a:blip r:embed="rId2"/>
          <a:stretch>
            <a:fillRect/>
          </a:stretch>
        </p:blipFill>
        <p:spPr>
          <a:xfrm>
            <a:off x="1052104" y="3697223"/>
            <a:ext cx="325810" cy="325810"/>
          </a:xfrm>
          <a:prstGeom prst="rect">
            <a:avLst/>
          </a:prstGeom>
        </p:spPr>
      </p:pic>
      <p:pic>
        <p:nvPicPr>
          <p:cNvPr id="8" name="Picture 7">
            <a:extLst>
              <a:ext uri="{FF2B5EF4-FFF2-40B4-BE49-F238E27FC236}">
                <a16:creationId xmlns:a16="http://schemas.microsoft.com/office/drawing/2014/main" id="{A8277D9D-8FC1-BEEA-434D-33DB532E060E}"/>
              </a:ext>
            </a:extLst>
          </p:cNvPr>
          <p:cNvPicPr>
            <a:picLocks noChangeAspect="1"/>
          </p:cNvPicPr>
          <p:nvPr/>
        </p:nvPicPr>
        <p:blipFill>
          <a:blip r:embed="rId3"/>
          <a:stretch>
            <a:fillRect/>
          </a:stretch>
        </p:blipFill>
        <p:spPr>
          <a:xfrm>
            <a:off x="1052104" y="3371413"/>
            <a:ext cx="325810" cy="325810"/>
          </a:xfrm>
          <a:prstGeom prst="rect">
            <a:avLst/>
          </a:prstGeom>
        </p:spPr>
      </p:pic>
      <p:sp>
        <p:nvSpPr>
          <p:cNvPr id="9" name="Arrow: Left 8">
            <a:extLst>
              <a:ext uri="{FF2B5EF4-FFF2-40B4-BE49-F238E27FC236}">
                <a16:creationId xmlns:a16="http://schemas.microsoft.com/office/drawing/2014/main" id="{26A56975-A573-0B80-3BFF-60A11E05E315}"/>
              </a:ext>
            </a:extLst>
          </p:cNvPr>
          <p:cNvSpPr/>
          <p:nvPr/>
        </p:nvSpPr>
        <p:spPr>
          <a:xfrm rot="3894317">
            <a:off x="1946705" y="3955873"/>
            <a:ext cx="1218305" cy="451821"/>
          </a:xfrm>
          <a:prstGeom prst="leftArrow">
            <a:avLst/>
          </a:prstGeom>
          <a:solidFill>
            <a:srgbClr val="9457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57FE3BA-E81D-7C94-E551-7B5C91041023}"/>
              </a:ext>
            </a:extLst>
          </p:cNvPr>
          <p:cNvSpPr txBox="1"/>
          <p:nvPr/>
        </p:nvSpPr>
        <p:spPr>
          <a:xfrm>
            <a:off x="1377914" y="4779202"/>
            <a:ext cx="2985113" cy="369332"/>
          </a:xfrm>
          <a:prstGeom prst="rect">
            <a:avLst/>
          </a:prstGeom>
          <a:noFill/>
        </p:spPr>
        <p:txBody>
          <a:bodyPr wrap="none" rtlCol="0">
            <a:spAutoFit/>
          </a:bodyPr>
          <a:lstStyle/>
          <a:p>
            <a:r>
              <a:rPr lang="en-US" dirty="0">
                <a:solidFill>
                  <a:srgbClr val="94573F"/>
                </a:solidFill>
                <a:latin typeface="Georgia" panose="02040502050405020303" pitchFamily="18" charset="0"/>
              </a:rPr>
              <a:t>This is what you should use</a:t>
            </a:r>
          </a:p>
        </p:txBody>
      </p:sp>
    </p:spTree>
    <p:extLst>
      <p:ext uri="{BB962C8B-B14F-4D97-AF65-F5344CB8AC3E}">
        <p14:creationId xmlns:p14="http://schemas.microsoft.com/office/powerpoint/2010/main" val="31732689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4A5D1F-4AC9-2725-5D96-653B9B6065D6}"/>
              </a:ext>
            </a:extLst>
          </p:cNvPr>
          <p:cNvSpPr>
            <a:spLocks noGrp="1"/>
          </p:cNvSpPr>
          <p:nvPr>
            <p:ph type="title"/>
          </p:nvPr>
        </p:nvSpPr>
        <p:spPr/>
        <p:txBody>
          <a:bodyPr>
            <a:normAutofit fontScale="90000"/>
          </a:bodyPr>
          <a:lstStyle/>
          <a:p>
            <a:r>
              <a:rPr lang="en-US" dirty="0"/>
              <a:t>Before package managers</a:t>
            </a:r>
            <a:br>
              <a:rPr lang="en-US" dirty="0"/>
            </a:br>
            <a:r>
              <a:rPr lang="en-US" sz="3100" dirty="0"/>
              <a:t>Every software came with all dependencies (leading to duplication)</a:t>
            </a:r>
          </a:p>
        </p:txBody>
      </p:sp>
      <p:pic>
        <p:nvPicPr>
          <p:cNvPr id="10" name="Picture 9">
            <a:extLst>
              <a:ext uri="{FF2B5EF4-FFF2-40B4-BE49-F238E27FC236}">
                <a16:creationId xmlns:a16="http://schemas.microsoft.com/office/drawing/2014/main" id="{86352290-B899-4D9C-40FB-1C13F4038C38}"/>
              </a:ext>
            </a:extLst>
          </p:cNvPr>
          <p:cNvPicPr>
            <a:picLocks noChangeAspect="1"/>
          </p:cNvPicPr>
          <p:nvPr/>
        </p:nvPicPr>
        <p:blipFill>
          <a:blip r:embed="rId2"/>
          <a:stretch>
            <a:fillRect/>
          </a:stretch>
        </p:blipFill>
        <p:spPr>
          <a:xfrm>
            <a:off x="1401938" y="1800810"/>
            <a:ext cx="8798965" cy="4758568"/>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9428068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93B5A9-13E1-BF07-A85B-E524ED28A68F}"/>
              </a:ext>
            </a:extLst>
          </p:cNvPr>
          <p:cNvSpPr>
            <a:spLocks noGrp="1"/>
          </p:cNvSpPr>
          <p:nvPr>
            <p:ph type="title"/>
          </p:nvPr>
        </p:nvSpPr>
        <p:spPr/>
        <p:txBody>
          <a:bodyPr/>
          <a:lstStyle/>
          <a:p>
            <a:r>
              <a:rPr lang="en-US" dirty="0"/>
              <a:t>Sometimes there were mismatches with libraries</a:t>
            </a:r>
          </a:p>
        </p:txBody>
      </p:sp>
      <p:pic>
        <p:nvPicPr>
          <p:cNvPr id="4" name="Picture 3">
            <a:extLst>
              <a:ext uri="{FF2B5EF4-FFF2-40B4-BE49-F238E27FC236}">
                <a16:creationId xmlns:a16="http://schemas.microsoft.com/office/drawing/2014/main" id="{104ED8DA-9E97-90F4-9F21-82E5B773E66C}"/>
              </a:ext>
            </a:extLst>
          </p:cNvPr>
          <p:cNvPicPr>
            <a:picLocks noChangeAspect="1"/>
          </p:cNvPicPr>
          <p:nvPr/>
        </p:nvPicPr>
        <p:blipFill>
          <a:blip r:embed="rId2"/>
          <a:stretch>
            <a:fillRect/>
          </a:stretch>
        </p:blipFill>
        <p:spPr>
          <a:xfrm>
            <a:off x="2515848" y="1965770"/>
            <a:ext cx="6192114" cy="4324954"/>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562923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1DF1F-3D6F-2910-A18E-158BEA65DD4A}"/>
              </a:ext>
            </a:extLst>
          </p:cNvPr>
          <p:cNvSpPr>
            <a:spLocks noGrp="1"/>
          </p:cNvSpPr>
          <p:nvPr>
            <p:ph type="title"/>
          </p:nvPr>
        </p:nvSpPr>
        <p:spPr/>
        <p:txBody>
          <a:bodyPr/>
          <a:lstStyle/>
          <a:p>
            <a:r>
              <a:rPr lang="en-US" dirty="0"/>
              <a:t>The world is full of package managers</a:t>
            </a:r>
          </a:p>
        </p:txBody>
      </p:sp>
      <p:pic>
        <p:nvPicPr>
          <p:cNvPr id="5" name="Content Placeholder 4">
            <a:extLst>
              <a:ext uri="{FF2B5EF4-FFF2-40B4-BE49-F238E27FC236}">
                <a16:creationId xmlns:a16="http://schemas.microsoft.com/office/drawing/2014/main" id="{DC581E08-1C3F-CDD6-D3F6-5B6A37743518}"/>
              </a:ext>
            </a:extLst>
          </p:cNvPr>
          <p:cNvPicPr>
            <a:picLocks noGrp="1" noChangeAspect="1"/>
          </p:cNvPicPr>
          <p:nvPr>
            <p:ph idx="1"/>
          </p:nvPr>
        </p:nvPicPr>
        <p:blipFill>
          <a:blip r:embed="rId2"/>
          <a:stretch>
            <a:fillRect/>
          </a:stretch>
        </p:blipFill>
        <p:spPr>
          <a:xfrm>
            <a:off x="8453939" y="1893491"/>
            <a:ext cx="952500" cy="952500"/>
          </a:xfrm>
        </p:spPr>
      </p:pic>
      <p:pic>
        <p:nvPicPr>
          <p:cNvPr id="7" name="Picture 6">
            <a:extLst>
              <a:ext uri="{FF2B5EF4-FFF2-40B4-BE49-F238E27FC236}">
                <a16:creationId xmlns:a16="http://schemas.microsoft.com/office/drawing/2014/main" id="{C3542887-24E6-C306-B92F-6D28DA728F56}"/>
              </a:ext>
            </a:extLst>
          </p:cNvPr>
          <p:cNvPicPr>
            <a:picLocks noChangeAspect="1"/>
          </p:cNvPicPr>
          <p:nvPr/>
        </p:nvPicPr>
        <p:blipFill>
          <a:blip r:embed="rId3"/>
          <a:stretch>
            <a:fillRect/>
          </a:stretch>
        </p:blipFill>
        <p:spPr>
          <a:xfrm>
            <a:off x="4909744" y="1893491"/>
            <a:ext cx="952500" cy="952500"/>
          </a:xfrm>
          <a:prstGeom prst="rect">
            <a:avLst/>
          </a:prstGeom>
        </p:spPr>
      </p:pic>
      <p:pic>
        <p:nvPicPr>
          <p:cNvPr id="9" name="Picture 8">
            <a:extLst>
              <a:ext uri="{FF2B5EF4-FFF2-40B4-BE49-F238E27FC236}">
                <a16:creationId xmlns:a16="http://schemas.microsoft.com/office/drawing/2014/main" id="{1D3F5511-9ADE-D172-C02E-F50ED2CF601A}"/>
              </a:ext>
            </a:extLst>
          </p:cNvPr>
          <p:cNvPicPr>
            <a:picLocks noChangeAspect="1"/>
          </p:cNvPicPr>
          <p:nvPr/>
        </p:nvPicPr>
        <p:blipFill>
          <a:blip r:embed="rId4"/>
          <a:stretch>
            <a:fillRect/>
          </a:stretch>
        </p:blipFill>
        <p:spPr>
          <a:xfrm>
            <a:off x="1365549" y="1893491"/>
            <a:ext cx="952500" cy="952500"/>
          </a:xfrm>
          <a:prstGeom prst="rect">
            <a:avLst/>
          </a:prstGeom>
        </p:spPr>
      </p:pic>
      <p:sp>
        <p:nvSpPr>
          <p:cNvPr id="10" name="TextBox 9">
            <a:extLst>
              <a:ext uri="{FF2B5EF4-FFF2-40B4-BE49-F238E27FC236}">
                <a16:creationId xmlns:a16="http://schemas.microsoft.com/office/drawing/2014/main" id="{55664E97-3293-6BAF-C130-C409CCC12E3E}"/>
              </a:ext>
            </a:extLst>
          </p:cNvPr>
          <p:cNvSpPr txBox="1"/>
          <p:nvPr/>
        </p:nvSpPr>
        <p:spPr>
          <a:xfrm>
            <a:off x="838200" y="2879517"/>
            <a:ext cx="2428870" cy="338554"/>
          </a:xfrm>
          <a:prstGeom prst="rect">
            <a:avLst/>
          </a:prstGeom>
          <a:noFill/>
        </p:spPr>
        <p:txBody>
          <a:bodyPr wrap="none" rtlCol="0">
            <a:spAutoFit/>
          </a:bodyPr>
          <a:lstStyle/>
          <a:p>
            <a:r>
              <a:rPr lang="en-US" sz="1600" dirty="0">
                <a:solidFill>
                  <a:srgbClr val="94573F"/>
                </a:solidFill>
                <a:latin typeface="Consolas" panose="020B0609020204030204" pitchFamily="49" charset="0"/>
              </a:rPr>
              <a:t>apt install software</a:t>
            </a:r>
            <a:endParaRPr lang="en-US" sz="1600" dirty="0">
              <a:solidFill>
                <a:schemeClr val="tx1">
                  <a:lumMod val="75000"/>
                  <a:lumOff val="25000"/>
                </a:schemeClr>
              </a:solidFill>
              <a:latin typeface="Consolas" panose="020B0609020204030204" pitchFamily="49" charset="0"/>
            </a:endParaRPr>
          </a:p>
        </p:txBody>
      </p:sp>
      <p:sp>
        <p:nvSpPr>
          <p:cNvPr id="11" name="TextBox 10">
            <a:extLst>
              <a:ext uri="{FF2B5EF4-FFF2-40B4-BE49-F238E27FC236}">
                <a16:creationId xmlns:a16="http://schemas.microsoft.com/office/drawing/2014/main" id="{FCB03040-8FB8-E1BB-0BA6-B468B5B143A5}"/>
              </a:ext>
            </a:extLst>
          </p:cNvPr>
          <p:cNvSpPr txBox="1"/>
          <p:nvPr/>
        </p:nvSpPr>
        <p:spPr>
          <a:xfrm>
            <a:off x="838200" y="3429000"/>
            <a:ext cx="2428870" cy="338554"/>
          </a:xfrm>
          <a:prstGeom prst="rect">
            <a:avLst/>
          </a:prstGeom>
          <a:noFill/>
        </p:spPr>
        <p:txBody>
          <a:bodyPr wrap="none" rtlCol="0">
            <a:spAutoFit/>
          </a:bodyPr>
          <a:lstStyle/>
          <a:p>
            <a:r>
              <a:rPr lang="en-US" sz="1600" dirty="0">
                <a:solidFill>
                  <a:srgbClr val="94573F"/>
                </a:solidFill>
                <a:latin typeface="Consolas" panose="020B0609020204030204" pitchFamily="49" charset="0"/>
              </a:rPr>
              <a:t>yum install software</a:t>
            </a:r>
            <a:endParaRPr lang="en-US" sz="1600" dirty="0">
              <a:solidFill>
                <a:schemeClr val="tx1">
                  <a:lumMod val="75000"/>
                  <a:lumOff val="25000"/>
                </a:schemeClr>
              </a:solidFill>
              <a:latin typeface="Consolas" panose="020B0609020204030204" pitchFamily="49" charset="0"/>
            </a:endParaRPr>
          </a:p>
        </p:txBody>
      </p:sp>
      <p:sp>
        <p:nvSpPr>
          <p:cNvPr id="12" name="TextBox 11">
            <a:extLst>
              <a:ext uri="{FF2B5EF4-FFF2-40B4-BE49-F238E27FC236}">
                <a16:creationId xmlns:a16="http://schemas.microsoft.com/office/drawing/2014/main" id="{82542B0A-46A8-FE98-B6AE-C95F97E25216}"/>
              </a:ext>
            </a:extLst>
          </p:cNvPr>
          <p:cNvSpPr txBox="1"/>
          <p:nvPr/>
        </p:nvSpPr>
        <p:spPr>
          <a:xfrm>
            <a:off x="3977921" y="2879517"/>
            <a:ext cx="3326552" cy="338554"/>
          </a:xfrm>
          <a:prstGeom prst="rect">
            <a:avLst/>
          </a:prstGeom>
          <a:noFill/>
        </p:spPr>
        <p:txBody>
          <a:bodyPr wrap="none" rtlCol="0">
            <a:spAutoFit/>
          </a:bodyPr>
          <a:lstStyle/>
          <a:p>
            <a:r>
              <a:rPr lang="en-US" sz="1600" dirty="0">
                <a:solidFill>
                  <a:srgbClr val="94573F"/>
                </a:solidFill>
                <a:latin typeface="Consolas" panose="020B0609020204030204" pitchFamily="49" charset="0"/>
              </a:rPr>
              <a:t>brew install –cask software</a:t>
            </a:r>
            <a:endParaRPr lang="en-US" sz="1600" dirty="0">
              <a:solidFill>
                <a:schemeClr val="tx1">
                  <a:lumMod val="75000"/>
                  <a:lumOff val="25000"/>
                </a:schemeClr>
              </a:solidFill>
              <a:latin typeface="Consolas" panose="020B0609020204030204" pitchFamily="49" charset="0"/>
            </a:endParaRPr>
          </a:p>
        </p:txBody>
      </p:sp>
      <p:sp>
        <p:nvSpPr>
          <p:cNvPr id="13" name="TextBox 12">
            <a:extLst>
              <a:ext uri="{FF2B5EF4-FFF2-40B4-BE49-F238E27FC236}">
                <a16:creationId xmlns:a16="http://schemas.microsoft.com/office/drawing/2014/main" id="{73522E86-AEF6-0688-58B7-D8DDEEEC8587}"/>
              </a:ext>
            </a:extLst>
          </p:cNvPr>
          <p:cNvSpPr txBox="1"/>
          <p:nvPr/>
        </p:nvSpPr>
        <p:spPr>
          <a:xfrm>
            <a:off x="7559754" y="2842459"/>
            <a:ext cx="3214341" cy="338554"/>
          </a:xfrm>
          <a:prstGeom prst="rect">
            <a:avLst/>
          </a:prstGeom>
          <a:noFill/>
        </p:spPr>
        <p:txBody>
          <a:bodyPr wrap="none" rtlCol="0">
            <a:spAutoFit/>
          </a:bodyPr>
          <a:lstStyle/>
          <a:p>
            <a:r>
              <a:rPr lang="en-US" sz="1600" dirty="0">
                <a:solidFill>
                  <a:srgbClr val="94573F"/>
                </a:solidFill>
                <a:latin typeface="Consolas" panose="020B0609020204030204" pitchFamily="49" charset="0"/>
              </a:rPr>
              <a:t>chocolatey install software</a:t>
            </a:r>
            <a:endParaRPr lang="en-US" sz="1600" dirty="0">
              <a:solidFill>
                <a:schemeClr val="tx1">
                  <a:lumMod val="75000"/>
                  <a:lumOff val="25000"/>
                </a:schemeClr>
              </a:solidFill>
              <a:latin typeface="Consolas" panose="020B0609020204030204" pitchFamily="49" charset="0"/>
            </a:endParaRPr>
          </a:p>
        </p:txBody>
      </p:sp>
    </p:spTree>
    <p:extLst>
      <p:ext uri="{BB962C8B-B14F-4D97-AF65-F5344CB8AC3E}">
        <p14:creationId xmlns:p14="http://schemas.microsoft.com/office/powerpoint/2010/main" val="30143556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88A69F-15C4-AF66-696E-D65B49D6884C}"/>
              </a:ext>
            </a:extLst>
          </p:cNvPr>
          <p:cNvSpPr>
            <a:spLocks noGrp="1"/>
          </p:cNvSpPr>
          <p:nvPr>
            <p:ph type="title"/>
          </p:nvPr>
        </p:nvSpPr>
        <p:spPr/>
        <p:txBody>
          <a:bodyPr>
            <a:normAutofit fontScale="90000"/>
          </a:bodyPr>
          <a:lstStyle/>
          <a:p>
            <a:r>
              <a:rPr lang="en-US" dirty="0"/>
              <a:t>Python’s official package manager is </a:t>
            </a:r>
            <a:r>
              <a:rPr lang="en-US" i="1" dirty="0"/>
              <a:t>pip</a:t>
            </a:r>
            <a:br>
              <a:rPr lang="en-US" i="1" dirty="0"/>
            </a:br>
            <a:r>
              <a:rPr lang="en-US" sz="3200" dirty="0">
                <a:solidFill>
                  <a:srgbClr val="94573F"/>
                </a:solidFill>
              </a:rPr>
              <a:t>pypi.org is the official repo with over half a million packages</a:t>
            </a:r>
          </a:p>
        </p:txBody>
      </p:sp>
      <p:pic>
        <p:nvPicPr>
          <p:cNvPr id="6" name="Picture 5">
            <a:extLst>
              <a:ext uri="{FF2B5EF4-FFF2-40B4-BE49-F238E27FC236}">
                <a16:creationId xmlns:a16="http://schemas.microsoft.com/office/drawing/2014/main" id="{8D05A83C-0BF2-3606-6D9D-298CB80571B7}"/>
              </a:ext>
            </a:extLst>
          </p:cNvPr>
          <p:cNvPicPr>
            <a:picLocks noChangeAspect="1"/>
          </p:cNvPicPr>
          <p:nvPr/>
        </p:nvPicPr>
        <p:blipFill>
          <a:blip r:embed="rId2"/>
          <a:stretch>
            <a:fillRect/>
          </a:stretch>
        </p:blipFill>
        <p:spPr>
          <a:xfrm>
            <a:off x="1896590" y="1942074"/>
            <a:ext cx="8049443" cy="4550801"/>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2859968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A11DB2-FA9E-CB35-0330-CCBEF25F9D58}"/>
              </a:ext>
            </a:extLst>
          </p:cNvPr>
          <p:cNvSpPr>
            <a:spLocks noGrp="1"/>
          </p:cNvSpPr>
          <p:nvPr>
            <p:ph type="title"/>
          </p:nvPr>
        </p:nvSpPr>
        <p:spPr/>
        <p:txBody>
          <a:bodyPr>
            <a:normAutofit/>
          </a:bodyPr>
          <a:lstStyle/>
          <a:p>
            <a:r>
              <a:rPr lang="en-US" dirty="0"/>
              <a:t>Let’s try pip</a:t>
            </a:r>
            <a:br>
              <a:rPr lang="en-US" dirty="0"/>
            </a:br>
            <a:r>
              <a:rPr lang="en-US" sz="2800" dirty="0">
                <a:solidFill>
                  <a:srgbClr val="94573F"/>
                </a:solidFill>
              </a:rPr>
              <a:t>First create an experimental environment (explained later)</a:t>
            </a:r>
          </a:p>
        </p:txBody>
      </p:sp>
      <p:sp>
        <p:nvSpPr>
          <p:cNvPr id="5" name="TextBox 4">
            <a:extLst>
              <a:ext uri="{FF2B5EF4-FFF2-40B4-BE49-F238E27FC236}">
                <a16:creationId xmlns:a16="http://schemas.microsoft.com/office/drawing/2014/main" id="{478F7A0B-4476-0BEE-6AA0-A25154ABDB75}"/>
              </a:ext>
            </a:extLst>
          </p:cNvPr>
          <p:cNvSpPr txBox="1"/>
          <p:nvPr/>
        </p:nvSpPr>
        <p:spPr>
          <a:xfrm>
            <a:off x="838200" y="2191901"/>
            <a:ext cx="9195146" cy="954107"/>
          </a:xfrm>
          <a:prstGeom prst="rect">
            <a:avLst/>
          </a:prstGeom>
          <a:noFill/>
        </p:spPr>
        <p:txBody>
          <a:bodyPr wrap="none" rtlCol="0">
            <a:spAutoFit/>
          </a:bodyPr>
          <a:lstStyle/>
          <a:p>
            <a:r>
              <a:rPr lang="en-US" sz="2800" dirty="0">
                <a:solidFill>
                  <a:srgbClr val="236356"/>
                </a:solidFill>
                <a:latin typeface="Georgia" panose="02040502050405020303" pitchFamily="18" charset="0"/>
              </a:rPr>
              <a:t>Create* new environment to protect your existing system</a:t>
            </a:r>
          </a:p>
          <a:p>
            <a:r>
              <a:rPr lang="en-US" sz="2800" b="0" dirty="0" err="1">
                <a:solidFill>
                  <a:srgbClr val="00BDD6"/>
                </a:solidFill>
                <a:effectLst/>
                <a:latin typeface="Consolas" panose="020B0609020204030204" pitchFamily="49" charset="0"/>
              </a:rPr>
              <a:t>conda</a:t>
            </a:r>
            <a:r>
              <a:rPr lang="en-US" sz="2800" b="0" dirty="0">
                <a:solidFill>
                  <a:srgbClr val="FA8900"/>
                </a:solidFill>
                <a:effectLst/>
                <a:latin typeface="Consolas" panose="020B0609020204030204" pitchFamily="49" charset="0"/>
              </a:rPr>
              <a:t> </a:t>
            </a:r>
            <a:r>
              <a:rPr lang="en-US" sz="2800" b="0" dirty="0">
                <a:solidFill>
                  <a:srgbClr val="00B368"/>
                </a:solidFill>
                <a:effectLst/>
                <a:latin typeface="Consolas" panose="020B0609020204030204" pitchFamily="49" charset="0"/>
              </a:rPr>
              <a:t>create</a:t>
            </a:r>
            <a:r>
              <a:rPr lang="en-US" sz="2800" b="0" dirty="0">
                <a:solidFill>
                  <a:srgbClr val="FA8900"/>
                </a:solidFill>
                <a:effectLst/>
                <a:latin typeface="Consolas" panose="020B0609020204030204" pitchFamily="49" charset="0"/>
              </a:rPr>
              <a:t> </a:t>
            </a:r>
            <a:r>
              <a:rPr lang="en-US" sz="2800" b="0" dirty="0">
                <a:solidFill>
                  <a:srgbClr val="A88C00"/>
                </a:solidFill>
                <a:effectLst/>
                <a:latin typeface="Consolas" panose="020B0609020204030204" pitchFamily="49" charset="0"/>
              </a:rPr>
              <a:t>--name</a:t>
            </a:r>
            <a:r>
              <a:rPr lang="en-US" sz="2800" b="0" dirty="0">
                <a:solidFill>
                  <a:srgbClr val="FA8900"/>
                </a:solidFill>
                <a:effectLst/>
                <a:latin typeface="Consolas" panose="020B0609020204030204" pitchFamily="49" charset="0"/>
              </a:rPr>
              <a:t> </a:t>
            </a:r>
            <a:r>
              <a:rPr lang="en-US" sz="2800" b="0" dirty="0" err="1">
                <a:solidFill>
                  <a:srgbClr val="00B368"/>
                </a:solidFill>
                <a:effectLst/>
                <a:latin typeface="Consolas" panose="020B0609020204030204" pitchFamily="49" charset="0"/>
              </a:rPr>
              <a:t>adv_python</a:t>
            </a:r>
            <a:r>
              <a:rPr lang="en-US" sz="2800" b="0" dirty="0">
                <a:solidFill>
                  <a:srgbClr val="FA8900"/>
                </a:solidFill>
                <a:effectLst/>
                <a:latin typeface="Consolas" panose="020B0609020204030204" pitchFamily="49" charset="0"/>
              </a:rPr>
              <a:t> </a:t>
            </a:r>
            <a:r>
              <a:rPr lang="en-US" sz="2800" b="0" dirty="0">
                <a:solidFill>
                  <a:srgbClr val="00B368"/>
                </a:solidFill>
                <a:effectLst/>
                <a:latin typeface="Consolas" panose="020B0609020204030204" pitchFamily="49" charset="0"/>
              </a:rPr>
              <a:t>python=</a:t>
            </a:r>
            <a:r>
              <a:rPr lang="en-US" sz="2800" b="0" dirty="0">
                <a:solidFill>
                  <a:srgbClr val="5842FF"/>
                </a:solidFill>
                <a:effectLst/>
                <a:latin typeface="Consolas" panose="020B0609020204030204" pitchFamily="49" charset="0"/>
              </a:rPr>
              <a:t>3.10</a:t>
            </a:r>
            <a:endParaRPr lang="en-US" sz="2800" b="0" dirty="0">
              <a:solidFill>
                <a:srgbClr val="005661"/>
              </a:solidFill>
              <a:effectLst/>
              <a:latin typeface="Consolas" panose="020B0609020204030204" pitchFamily="49" charset="0"/>
            </a:endParaRPr>
          </a:p>
        </p:txBody>
      </p:sp>
      <p:sp>
        <p:nvSpPr>
          <p:cNvPr id="6" name="TextBox 5">
            <a:extLst>
              <a:ext uri="{FF2B5EF4-FFF2-40B4-BE49-F238E27FC236}">
                <a16:creationId xmlns:a16="http://schemas.microsoft.com/office/drawing/2014/main" id="{A850A63A-7CCE-EC93-21DF-54BD38E9AACF}"/>
              </a:ext>
            </a:extLst>
          </p:cNvPr>
          <p:cNvSpPr txBox="1"/>
          <p:nvPr/>
        </p:nvSpPr>
        <p:spPr>
          <a:xfrm>
            <a:off x="569537" y="6231265"/>
            <a:ext cx="3073277" cy="461665"/>
          </a:xfrm>
          <a:prstGeom prst="rect">
            <a:avLst/>
          </a:prstGeom>
          <a:noFill/>
        </p:spPr>
        <p:txBody>
          <a:bodyPr wrap="none" rtlCol="0">
            <a:spAutoFit/>
          </a:bodyPr>
          <a:lstStyle/>
          <a:p>
            <a:r>
              <a:rPr lang="en-US" sz="1200" dirty="0">
                <a:solidFill>
                  <a:srgbClr val="236356"/>
                </a:solidFill>
                <a:latin typeface="Georgia" panose="02040502050405020303" pitchFamily="18" charset="0"/>
              </a:rPr>
              <a:t>*Delete this environment, if needed:</a:t>
            </a:r>
            <a:br>
              <a:rPr lang="en-US" sz="1200" dirty="0">
                <a:solidFill>
                  <a:srgbClr val="236356"/>
                </a:solidFill>
                <a:latin typeface="Georgia" panose="02040502050405020303" pitchFamily="18" charset="0"/>
              </a:rPr>
            </a:br>
            <a:r>
              <a:rPr lang="en-US" sz="1200" dirty="0" err="1">
                <a:solidFill>
                  <a:srgbClr val="236356"/>
                </a:solidFill>
                <a:latin typeface="Consolas" panose="020B0609020204030204" pitchFamily="49" charset="0"/>
              </a:rPr>
              <a:t>conda</a:t>
            </a:r>
            <a:r>
              <a:rPr lang="en-US" sz="1200" dirty="0">
                <a:solidFill>
                  <a:srgbClr val="236356"/>
                </a:solidFill>
                <a:latin typeface="Consolas" panose="020B0609020204030204" pitchFamily="49" charset="0"/>
              </a:rPr>
              <a:t> env remove --name </a:t>
            </a:r>
            <a:r>
              <a:rPr lang="en-US" sz="1200" dirty="0" err="1">
                <a:solidFill>
                  <a:srgbClr val="236356"/>
                </a:solidFill>
                <a:latin typeface="Consolas" panose="020B0609020204030204" pitchFamily="49" charset="0"/>
              </a:rPr>
              <a:t>adv_python</a:t>
            </a:r>
            <a:endParaRPr lang="en-US" sz="1200" dirty="0">
              <a:solidFill>
                <a:srgbClr val="236356"/>
              </a:solidFill>
              <a:latin typeface="Consolas" panose="020B0609020204030204" pitchFamily="49" charset="0"/>
            </a:endParaRPr>
          </a:p>
        </p:txBody>
      </p:sp>
      <p:sp>
        <p:nvSpPr>
          <p:cNvPr id="7" name="TextBox 6">
            <a:extLst>
              <a:ext uri="{FF2B5EF4-FFF2-40B4-BE49-F238E27FC236}">
                <a16:creationId xmlns:a16="http://schemas.microsoft.com/office/drawing/2014/main" id="{33715F7E-4B6B-6FF8-C19D-34088D292F47}"/>
              </a:ext>
            </a:extLst>
          </p:cNvPr>
          <p:cNvSpPr txBox="1"/>
          <p:nvPr/>
        </p:nvSpPr>
        <p:spPr>
          <a:xfrm>
            <a:off x="838200" y="3645844"/>
            <a:ext cx="6590266" cy="954107"/>
          </a:xfrm>
          <a:prstGeom prst="rect">
            <a:avLst/>
          </a:prstGeom>
          <a:noFill/>
        </p:spPr>
        <p:txBody>
          <a:bodyPr wrap="none" rtlCol="0">
            <a:spAutoFit/>
          </a:bodyPr>
          <a:lstStyle/>
          <a:p>
            <a:r>
              <a:rPr lang="en-US" sz="2800" dirty="0">
                <a:solidFill>
                  <a:srgbClr val="236356"/>
                </a:solidFill>
                <a:latin typeface="Georgia" panose="02040502050405020303" pitchFamily="18" charset="0"/>
              </a:rPr>
              <a:t>Activate this environment (aka ‘enter’ it)</a:t>
            </a:r>
          </a:p>
          <a:p>
            <a:r>
              <a:rPr lang="en-US" sz="2800" b="0" dirty="0" err="1">
                <a:solidFill>
                  <a:srgbClr val="00BDD6"/>
                </a:solidFill>
                <a:effectLst/>
                <a:latin typeface="Consolas" panose="020B0609020204030204" pitchFamily="49" charset="0"/>
              </a:rPr>
              <a:t>conda</a:t>
            </a:r>
            <a:r>
              <a:rPr lang="en-US" sz="2800" b="0" dirty="0">
                <a:solidFill>
                  <a:srgbClr val="FA8900"/>
                </a:solidFill>
                <a:effectLst/>
                <a:latin typeface="Consolas" panose="020B0609020204030204" pitchFamily="49" charset="0"/>
              </a:rPr>
              <a:t> </a:t>
            </a:r>
            <a:r>
              <a:rPr lang="en-US" sz="2800" b="0" dirty="0">
                <a:solidFill>
                  <a:srgbClr val="00B368"/>
                </a:solidFill>
                <a:effectLst/>
                <a:latin typeface="Consolas" panose="020B0609020204030204" pitchFamily="49" charset="0"/>
              </a:rPr>
              <a:t>activate</a:t>
            </a:r>
            <a:r>
              <a:rPr lang="en-US" sz="2800" b="0" dirty="0">
                <a:solidFill>
                  <a:srgbClr val="FA8900"/>
                </a:solidFill>
                <a:effectLst/>
                <a:latin typeface="Consolas" panose="020B0609020204030204" pitchFamily="49" charset="0"/>
              </a:rPr>
              <a:t> </a:t>
            </a:r>
            <a:r>
              <a:rPr lang="en-US" sz="2800" b="0" dirty="0" err="1">
                <a:solidFill>
                  <a:srgbClr val="00B368"/>
                </a:solidFill>
                <a:effectLst/>
                <a:latin typeface="Consolas" panose="020B0609020204030204" pitchFamily="49" charset="0"/>
              </a:rPr>
              <a:t>adv_python</a:t>
            </a:r>
            <a:endParaRPr lang="en-US" sz="2800" b="0" dirty="0">
              <a:solidFill>
                <a:srgbClr val="005661"/>
              </a:solidFill>
              <a:effectLst/>
              <a:latin typeface="Consolas" panose="020B0609020204030204" pitchFamily="49" charset="0"/>
            </a:endParaRPr>
          </a:p>
        </p:txBody>
      </p:sp>
      <p:sp>
        <p:nvSpPr>
          <p:cNvPr id="8" name="TextBox 7">
            <a:extLst>
              <a:ext uri="{FF2B5EF4-FFF2-40B4-BE49-F238E27FC236}">
                <a16:creationId xmlns:a16="http://schemas.microsoft.com/office/drawing/2014/main" id="{E7295C6C-09C9-E93C-E52B-4B773CFCC7AD}"/>
              </a:ext>
            </a:extLst>
          </p:cNvPr>
          <p:cNvSpPr txBox="1"/>
          <p:nvPr/>
        </p:nvSpPr>
        <p:spPr>
          <a:xfrm>
            <a:off x="838200" y="4958276"/>
            <a:ext cx="4007828" cy="954107"/>
          </a:xfrm>
          <a:prstGeom prst="rect">
            <a:avLst/>
          </a:prstGeom>
          <a:noFill/>
        </p:spPr>
        <p:txBody>
          <a:bodyPr wrap="none" rtlCol="0">
            <a:spAutoFit/>
          </a:bodyPr>
          <a:lstStyle/>
          <a:p>
            <a:r>
              <a:rPr lang="en-US" sz="2800" dirty="0">
                <a:solidFill>
                  <a:srgbClr val="236356"/>
                </a:solidFill>
                <a:latin typeface="Georgia" panose="02040502050405020303" pitchFamily="18" charset="0"/>
              </a:rPr>
              <a:t>Confirm the current env</a:t>
            </a:r>
          </a:p>
          <a:p>
            <a:r>
              <a:rPr lang="en-US" sz="2800" b="0" dirty="0" err="1">
                <a:solidFill>
                  <a:srgbClr val="00BDD6"/>
                </a:solidFill>
                <a:effectLst/>
                <a:latin typeface="Consolas" panose="020B0609020204030204" pitchFamily="49" charset="0"/>
              </a:rPr>
              <a:t>conda</a:t>
            </a:r>
            <a:r>
              <a:rPr lang="en-US" sz="2800" b="0" dirty="0">
                <a:solidFill>
                  <a:srgbClr val="FA8900"/>
                </a:solidFill>
                <a:effectLst/>
                <a:latin typeface="Consolas" panose="020B0609020204030204" pitchFamily="49" charset="0"/>
              </a:rPr>
              <a:t> </a:t>
            </a:r>
            <a:r>
              <a:rPr lang="en-US" sz="2800" b="0" dirty="0">
                <a:solidFill>
                  <a:srgbClr val="00B368"/>
                </a:solidFill>
                <a:effectLst/>
                <a:latin typeface="Consolas" panose="020B0609020204030204" pitchFamily="49" charset="0"/>
              </a:rPr>
              <a:t>env</a:t>
            </a:r>
            <a:r>
              <a:rPr lang="en-US" sz="2800" b="0" dirty="0">
                <a:solidFill>
                  <a:srgbClr val="FA8900"/>
                </a:solidFill>
                <a:effectLst/>
                <a:latin typeface="Consolas" panose="020B0609020204030204" pitchFamily="49" charset="0"/>
              </a:rPr>
              <a:t> </a:t>
            </a:r>
            <a:r>
              <a:rPr lang="en-US" sz="2800" b="0" dirty="0">
                <a:solidFill>
                  <a:srgbClr val="00B368"/>
                </a:solidFill>
                <a:effectLst/>
                <a:latin typeface="Consolas" panose="020B0609020204030204" pitchFamily="49" charset="0"/>
              </a:rPr>
              <a:t>list</a:t>
            </a:r>
            <a:endParaRPr lang="en-US" sz="2800" b="0" dirty="0">
              <a:solidFill>
                <a:srgbClr val="005661"/>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0C247B17-4820-3223-177D-EB878006CC88}"/>
              </a:ext>
            </a:extLst>
          </p:cNvPr>
          <p:cNvSpPr txBox="1"/>
          <p:nvPr/>
        </p:nvSpPr>
        <p:spPr>
          <a:xfrm>
            <a:off x="5026511" y="5099787"/>
            <a:ext cx="6828416" cy="1169551"/>
          </a:xfrm>
          <a:prstGeom prst="rect">
            <a:avLst/>
          </a:prstGeom>
          <a:noFill/>
        </p:spPr>
        <p:txBody>
          <a:bodyPr wrap="square">
            <a:spAutoFit/>
          </a:bodyPr>
          <a:lstStyle/>
          <a:p>
            <a:r>
              <a:rPr lang="en-US" sz="1400" dirty="0">
                <a:solidFill>
                  <a:srgbClr val="94573F"/>
                </a:solidFill>
                <a:latin typeface="Consolas" panose="020B0609020204030204" pitchFamily="49" charset="0"/>
              </a:rPr>
              <a:t>(base) C:\Users\shahb&gt;conda env list</a:t>
            </a:r>
          </a:p>
          <a:p>
            <a:r>
              <a:rPr lang="en-US" sz="1400" dirty="0">
                <a:solidFill>
                  <a:srgbClr val="94573F"/>
                </a:solidFill>
                <a:latin typeface="Consolas" panose="020B0609020204030204" pitchFamily="49" charset="0"/>
              </a:rPr>
              <a:t># </a:t>
            </a:r>
            <a:r>
              <a:rPr lang="en-US" sz="1400" dirty="0" err="1">
                <a:solidFill>
                  <a:srgbClr val="94573F"/>
                </a:solidFill>
                <a:latin typeface="Consolas" panose="020B0609020204030204" pitchFamily="49" charset="0"/>
              </a:rPr>
              <a:t>conda</a:t>
            </a:r>
            <a:r>
              <a:rPr lang="en-US" sz="1400" dirty="0">
                <a:solidFill>
                  <a:srgbClr val="94573F"/>
                </a:solidFill>
                <a:latin typeface="Consolas" panose="020B0609020204030204" pitchFamily="49" charset="0"/>
              </a:rPr>
              <a:t> environments:</a:t>
            </a:r>
          </a:p>
          <a:p>
            <a:r>
              <a:rPr lang="en-US" sz="1400" dirty="0">
                <a:solidFill>
                  <a:srgbClr val="94573F"/>
                </a:solidFill>
                <a:latin typeface="Consolas" panose="020B0609020204030204" pitchFamily="49" charset="0"/>
              </a:rPr>
              <a:t>#</a:t>
            </a:r>
          </a:p>
          <a:p>
            <a:r>
              <a:rPr lang="en-US" sz="1400" dirty="0">
                <a:solidFill>
                  <a:srgbClr val="94573F"/>
                </a:solidFill>
                <a:latin typeface="Consolas" panose="020B0609020204030204" pitchFamily="49" charset="0"/>
              </a:rPr>
              <a:t>base 	         C:\Users\shahb\anaconda3</a:t>
            </a:r>
          </a:p>
          <a:p>
            <a:r>
              <a:rPr lang="en-US" sz="1400" dirty="0" err="1">
                <a:solidFill>
                  <a:srgbClr val="94573F"/>
                </a:solidFill>
                <a:latin typeface="Consolas" panose="020B0609020204030204" pitchFamily="49" charset="0"/>
              </a:rPr>
              <a:t>adv_python</a:t>
            </a:r>
            <a:r>
              <a:rPr lang="en-US" sz="1400" dirty="0">
                <a:solidFill>
                  <a:srgbClr val="94573F"/>
                </a:solidFill>
                <a:latin typeface="Consolas" panose="020B0609020204030204" pitchFamily="49" charset="0"/>
              </a:rPr>
              <a:t>      *  C:\Users\shahb\anaconda3\envs\adv_python</a:t>
            </a:r>
          </a:p>
        </p:txBody>
      </p:sp>
    </p:spTree>
    <p:extLst>
      <p:ext uri="{BB962C8B-B14F-4D97-AF65-F5344CB8AC3E}">
        <p14:creationId xmlns:p14="http://schemas.microsoft.com/office/powerpoint/2010/main" val="26946068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05EA63-3576-2D80-C076-981DDED430F3}"/>
              </a:ext>
            </a:extLst>
          </p:cNvPr>
          <p:cNvSpPr>
            <a:spLocks noGrp="1"/>
          </p:cNvSpPr>
          <p:nvPr>
            <p:ph type="title"/>
          </p:nvPr>
        </p:nvSpPr>
        <p:spPr/>
        <p:txBody>
          <a:bodyPr/>
          <a:lstStyle/>
          <a:p>
            <a:r>
              <a:rPr lang="en-US" dirty="0"/>
              <a:t>Try installing a package</a:t>
            </a:r>
            <a:br>
              <a:rPr lang="en-US" dirty="0"/>
            </a:br>
            <a:r>
              <a:rPr lang="en-US" sz="2400" dirty="0"/>
              <a:t>(btw: look at the location of site-packages)</a:t>
            </a:r>
            <a:endParaRPr lang="en-US" sz="2400" dirty="0">
              <a:latin typeface="Consolas" panose="020B0609020204030204" pitchFamily="49" charset="0"/>
            </a:endParaRPr>
          </a:p>
        </p:txBody>
      </p:sp>
      <p:sp>
        <p:nvSpPr>
          <p:cNvPr id="4" name="TextBox 3">
            <a:extLst>
              <a:ext uri="{FF2B5EF4-FFF2-40B4-BE49-F238E27FC236}">
                <a16:creationId xmlns:a16="http://schemas.microsoft.com/office/drawing/2014/main" id="{B0485D80-E330-C9A8-7326-60538CEE090C}"/>
              </a:ext>
            </a:extLst>
          </p:cNvPr>
          <p:cNvSpPr txBox="1"/>
          <p:nvPr/>
        </p:nvSpPr>
        <p:spPr>
          <a:xfrm>
            <a:off x="838200" y="1827802"/>
            <a:ext cx="4289957" cy="646331"/>
          </a:xfrm>
          <a:prstGeom prst="rect">
            <a:avLst/>
          </a:prstGeom>
          <a:noFill/>
        </p:spPr>
        <p:txBody>
          <a:bodyPr wrap="none" rtlCol="0">
            <a:spAutoFit/>
          </a:bodyPr>
          <a:lstStyle/>
          <a:p>
            <a:r>
              <a:rPr lang="en-US" dirty="0">
                <a:solidFill>
                  <a:srgbClr val="236356"/>
                </a:solidFill>
                <a:latin typeface="Georgia" panose="02040502050405020303" pitchFamily="18" charset="0"/>
              </a:rPr>
              <a:t>List all pip packages installed in this env</a:t>
            </a:r>
          </a:p>
          <a:p>
            <a:r>
              <a:rPr lang="en-US" b="0" dirty="0">
                <a:solidFill>
                  <a:srgbClr val="00BDD6"/>
                </a:solidFill>
                <a:effectLst/>
                <a:latin typeface="Consolas" panose="020B0609020204030204" pitchFamily="49" charset="0"/>
              </a:rPr>
              <a:t>pip</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list</a:t>
            </a:r>
            <a:endParaRPr lang="en-US" b="0" dirty="0">
              <a:solidFill>
                <a:srgbClr val="005661"/>
              </a:solidFill>
              <a:effectLst/>
              <a:latin typeface="Consolas" panose="020B0609020204030204" pitchFamily="49" charset="0"/>
            </a:endParaRPr>
          </a:p>
        </p:txBody>
      </p:sp>
      <p:sp>
        <p:nvSpPr>
          <p:cNvPr id="7" name="TextBox 6">
            <a:extLst>
              <a:ext uri="{FF2B5EF4-FFF2-40B4-BE49-F238E27FC236}">
                <a16:creationId xmlns:a16="http://schemas.microsoft.com/office/drawing/2014/main" id="{B48B7E08-082F-A185-C011-A4EF6DBE17FC}"/>
              </a:ext>
            </a:extLst>
          </p:cNvPr>
          <p:cNvSpPr txBox="1"/>
          <p:nvPr/>
        </p:nvSpPr>
        <p:spPr>
          <a:xfrm>
            <a:off x="5994699" y="1919825"/>
            <a:ext cx="4289957" cy="1200329"/>
          </a:xfrm>
          <a:prstGeom prst="rect">
            <a:avLst/>
          </a:prstGeom>
          <a:noFill/>
        </p:spPr>
        <p:txBody>
          <a:bodyPr wrap="square">
            <a:spAutoFit/>
          </a:bodyPr>
          <a:lstStyle/>
          <a:p>
            <a:r>
              <a:rPr lang="en-US" sz="1200" dirty="0">
                <a:solidFill>
                  <a:srgbClr val="94573F"/>
                </a:solidFill>
                <a:latin typeface="Consolas" panose="020B0609020204030204" pitchFamily="49" charset="0"/>
              </a:rPr>
              <a:t>(</a:t>
            </a:r>
            <a:r>
              <a:rPr lang="en-US" sz="1200" dirty="0" err="1">
                <a:solidFill>
                  <a:srgbClr val="94573F"/>
                </a:solidFill>
                <a:latin typeface="Consolas" panose="020B0609020204030204" pitchFamily="49" charset="0"/>
              </a:rPr>
              <a:t>adv_python</a:t>
            </a:r>
            <a:r>
              <a:rPr lang="en-US" sz="1200" dirty="0">
                <a:solidFill>
                  <a:srgbClr val="94573F"/>
                </a:solidFill>
                <a:latin typeface="Consolas" panose="020B0609020204030204" pitchFamily="49" charset="0"/>
              </a:rPr>
              <a:t>) C:\Users\shahb&gt;pip list</a:t>
            </a:r>
          </a:p>
          <a:p>
            <a:r>
              <a:rPr lang="en-US" sz="1200" dirty="0">
                <a:solidFill>
                  <a:srgbClr val="94573F"/>
                </a:solidFill>
                <a:latin typeface="Consolas" panose="020B0609020204030204" pitchFamily="49" charset="0"/>
              </a:rPr>
              <a:t>Package    Version</a:t>
            </a:r>
          </a:p>
          <a:p>
            <a:r>
              <a:rPr lang="en-US" sz="1200" dirty="0">
                <a:solidFill>
                  <a:srgbClr val="94573F"/>
                </a:solidFill>
                <a:latin typeface="Consolas" panose="020B0609020204030204" pitchFamily="49" charset="0"/>
              </a:rPr>
              <a:t>---------- -------</a:t>
            </a:r>
          </a:p>
          <a:p>
            <a:r>
              <a:rPr lang="en-US" sz="1200" dirty="0">
                <a:solidFill>
                  <a:srgbClr val="94573F"/>
                </a:solidFill>
                <a:latin typeface="Consolas" panose="020B0609020204030204" pitchFamily="49" charset="0"/>
              </a:rPr>
              <a:t>pip        23.3.1</a:t>
            </a:r>
          </a:p>
          <a:p>
            <a:r>
              <a:rPr lang="en-US" sz="1200" dirty="0" err="1">
                <a:solidFill>
                  <a:srgbClr val="94573F"/>
                </a:solidFill>
                <a:latin typeface="Consolas" panose="020B0609020204030204" pitchFamily="49" charset="0"/>
              </a:rPr>
              <a:t>setuptools</a:t>
            </a:r>
            <a:r>
              <a:rPr lang="en-US" sz="1200" dirty="0">
                <a:solidFill>
                  <a:srgbClr val="94573F"/>
                </a:solidFill>
                <a:latin typeface="Consolas" panose="020B0609020204030204" pitchFamily="49" charset="0"/>
              </a:rPr>
              <a:t> 68.2.2</a:t>
            </a:r>
          </a:p>
          <a:p>
            <a:r>
              <a:rPr lang="en-US" sz="1200" dirty="0">
                <a:solidFill>
                  <a:srgbClr val="94573F"/>
                </a:solidFill>
                <a:latin typeface="Consolas" panose="020B0609020204030204" pitchFamily="49" charset="0"/>
              </a:rPr>
              <a:t>wheel      0.41.2</a:t>
            </a:r>
          </a:p>
        </p:txBody>
      </p:sp>
      <p:sp>
        <p:nvSpPr>
          <p:cNvPr id="9" name="TextBox 8">
            <a:extLst>
              <a:ext uri="{FF2B5EF4-FFF2-40B4-BE49-F238E27FC236}">
                <a16:creationId xmlns:a16="http://schemas.microsoft.com/office/drawing/2014/main" id="{BBE0A610-1AFC-388C-E685-F248DC3BEC85}"/>
              </a:ext>
            </a:extLst>
          </p:cNvPr>
          <p:cNvSpPr txBox="1"/>
          <p:nvPr/>
        </p:nvSpPr>
        <p:spPr>
          <a:xfrm>
            <a:off x="760207" y="3599038"/>
            <a:ext cx="10671586" cy="1569660"/>
          </a:xfrm>
          <a:prstGeom prst="rect">
            <a:avLst/>
          </a:prstGeom>
          <a:noFill/>
        </p:spPr>
        <p:txBody>
          <a:bodyPr wrap="square">
            <a:spAutoFit/>
          </a:bodyPr>
          <a:lstStyle/>
          <a:p>
            <a:r>
              <a:rPr lang="en-US" sz="1200" dirty="0">
                <a:solidFill>
                  <a:srgbClr val="94573F"/>
                </a:solidFill>
                <a:latin typeface="Consolas" panose="020B0609020204030204" pitchFamily="49" charset="0"/>
              </a:rPr>
              <a:t>Collecting </a:t>
            </a:r>
            <a:r>
              <a:rPr lang="en-US" sz="1200" dirty="0" err="1">
                <a:solidFill>
                  <a:srgbClr val="94573F"/>
                </a:solidFill>
                <a:latin typeface="Consolas" panose="020B0609020204030204" pitchFamily="49" charset="0"/>
              </a:rPr>
              <a:t>tqdm</a:t>
            </a:r>
            <a:endParaRPr lang="en-US" sz="1200" dirty="0">
              <a:solidFill>
                <a:srgbClr val="94573F"/>
              </a:solidFill>
              <a:latin typeface="Consolas" panose="020B0609020204030204" pitchFamily="49" charset="0"/>
            </a:endParaRPr>
          </a:p>
          <a:p>
            <a:r>
              <a:rPr lang="en-US" sz="1200" b="1" dirty="0">
                <a:solidFill>
                  <a:srgbClr val="94573F"/>
                </a:solidFill>
                <a:latin typeface="Consolas" panose="020B0609020204030204" pitchFamily="49" charset="0"/>
              </a:rPr>
              <a:t>  Downloading tqdm-4.66.1-py3-none-any.whl.metadata (57 kB)</a:t>
            </a:r>
          </a:p>
          <a:p>
            <a:r>
              <a:rPr lang="en-US" sz="1200" dirty="0">
                <a:solidFill>
                  <a:srgbClr val="94573F"/>
                </a:solidFill>
                <a:latin typeface="Consolas" panose="020B0609020204030204" pitchFamily="49" charset="0"/>
              </a:rPr>
              <a:t>     ━━━━━━━━━━━━━━━━━━━━━━━━━━━━━━━━━━━━━━━━ 57.6/57.6 kB 607.3 kB/s eta 0:00:00</a:t>
            </a:r>
          </a:p>
          <a:p>
            <a:r>
              <a:rPr lang="en-US" sz="1200" dirty="0">
                <a:solidFill>
                  <a:srgbClr val="94573F"/>
                </a:solidFill>
                <a:latin typeface="Consolas" panose="020B0609020204030204" pitchFamily="49" charset="0"/>
              </a:rPr>
              <a:t>Requirement already satisfied: </a:t>
            </a:r>
            <a:r>
              <a:rPr lang="en-US" sz="1200" dirty="0" err="1">
                <a:solidFill>
                  <a:srgbClr val="94573F"/>
                </a:solidFill>
                <a:latin typeface="Consolas" panose="020B0609020204030204" pitchFamily="49" charset="0"/>
              </a:rPr>
              <a:t>colorama</a:t>
            </a:r>
            <a:r>
              <a:rPr lang="en-US" sz="1200" dirty="0">
                <a:solidFill>
                  <a:srgbClr val="94573F"/>
                </a:solidFill>
                <a:latin typeface="Consolas" panose="020B0609020204030204" pitchFamily="49" charset="0"/>
              </a:rPr>
              <a:t> in c:\users\shahb\</a:t>
            </a:r>
            <a:r>
              <a:rPr lang="en-US" sz="1200" b="1" dirty="0">
                <a:solidFill>
                  <a:srgbClr val="94573F"/>
                </a:solidFill>
                <a:latin typeface="Consolas" panose="020B0609020204030204" pitchFamily="49" charset="0"/>
              </a:rPr>
              <a:t>anaconda3\envs\adv_python\lib\site-packages </a:t>
            </a:r>
            <a:r>
              <a:rPr lang="en-US" sz="1200" dirty="0">
                <a:solidFill>
                  <a:srgbClr val="94573F"/>
                </a:solidFill>
                <a:latin typeface="Consolas" panose="020B0609020204030204" pitchFamily="49" charset="0"/>
              </a:rPr>
              <a:t>(from </a:t>
            </a:r>
            <a:r>
              <a:rPr lang="en-US" sz="1200" dirty="0" err="1">
                <a:solidFill>
                  <a:srgbClr val="94573F"/>
                </a:solidFill>
                <a:latin typeface="Consolas" panose="020B0609020204030204" pitchFamily="49" charset="0"/>
              </a:rPr>
              <a:t>tqdm</a:t>
            </a:r>
            <a:r>
              <a:rPr lang="en-US" sz="1200" dirty="0">
                <a:solidFill>
                  <a:srgbClr val="94573F"/>
                </a:solidFill>
                <a:latin typeface="Consolas" panose="020B0609020204030204" pitchFamily="49" charset="0"/>
              </a:rPr>
              <a:t>) (0.4.6)</a:t>
            </a:r>
          </a:p>
          <a:p>
            <a:r>
              <a:rPr lang="en-US" sz="1200" b="1" dirty="0">
                <a:solidFill>
                  <a:srgbClr val="94573F"/>
                </a:solidFill>
                <a:latin typeface="Consolas" panose="020B0609020204030204" pitchFamily="49" charset="0"/>
              </a:rPr>
              <a:t>Downloading tqdm-4.66.1-py3-none-any.whl (78 kB)</a:t>
            </a:r>
          </a:p>
          <a:p>
            <a:r>
              <a:rPr lang="en-US" sz="1200" dirty="0">
                <a:solidFill>
                  <a:srgbClr val="94573F"/>
                </a:solidFill>
                <a:latin typeface="Consolas" panose="020B0609020204030204" pitchFamily="49" charset="0"/>
              </a:rPr>
              <a:t>   ━━━━━━━━━━━━━━━━━━━━━━━━━━━━━━━━━━━━━━━━ 78.3/78.3 kB 2.2 MB/s eta 0:00:00</a:t>
            </a:r>
          </a:p>
          <a:p>
            <a:r>
              <a:rPr lang="en-US" sz="1200" dirty="0">
                <a:solidFill>
                  <a:srgbClr val="94573F"/>
                </a:solidFill>
                <a:latin typeface="Consolas" panose="020B0609020204030204" pitchFamily="49" charset="0"/>
              </a:rPr>
              <a:t>Installing collected packages: </a:t>
            </a:r>
            <a:r>
              <a:rPr lang="en-US" sz="1200" dirty="0" err="1">
                <a:solidFill>
                  <a:srgbClr val="94573F"/>
                </a:solidFill>
                <a:latin typeface="Consolas" panose="020B0609020204030204" pitchFamily="49" charset="0"/>
              </a:rPr>
              <a:t>tqdm</a:t>
            </a:r>
            <a:endParaRPr lang="en-US" sz="1200" dirty="0">
              <a:solidFill>
                <a:srgbClr val="94573F"/>
              </a:solidFill>
              <a:latin typeface="Consolas" panose="020B0609020204030204" pitchFamily="49" charset="0"/>
            </a:endParaRPr>
          </a:p>
          <a:p>
            <a:r>
              <a:rPr lang="en-US" sz="1200" dirty="0">
                <a:solidFill>
                  <a:srgbClr val="94573F"/>
                </a:solidFill>
                <a:latin typeface="Consolas" panose="020B0609020204030204" pitchFamily="49" charset="0"/>
              </a:rPr>
              <a:t>Successfully installed tqdm-4.66.1</a:t>
            </a:r>
          </a:p>
        </p:txBody>
      </p:sp>
      <p:sp>
        <p:nvSpPr>
          <p:cNvPr id="10" name="TextBox 9">
            <a:extLst>
              <a:ext uri="{FF2B5EF4-FFF2-40B4-BE49-F238E27FC236}">
                <a16:creationId xmlns:a16="http://schemas.microsoft.com/office/drawing/2014/main" id="{C7D52428-715F-41C0-9F37-C05CF1E6D725}"/>
              </a:ext>
            </a:extLst>
          </p:cNvPr>
          <p:cNvSpPr txBox="1"/>
          <p:nvPr/>
        </p:nvSpPr>
        <p:spPr>
          <a:xfrm>
            <a:off x="838200" y="2822797"/>
            <a:ext cx="2210862" cy="646331"/>
          </a:xfrm>
          <a:prstGeom prst="rect">
            <a:avLst/>
          </a:prstGeom>
          <a:noFill/>
        </p:spPr>
        <p:txBody>
          <a:bodyPr wrap="none" rtlCol="0">
            <a:spAutoFit/>
          </a:bodyPr>
          <a:lstStyle/>
          <a:p>
            <a:r>
              <a:rPr lang="en-US" dirty="0">
                <a:solidFill>
                  <a:srgbClr val="236356"/>
                </a:solidFill>
                <a:latin typeface="Georgia" panose="02040502050405020303" pitchFamily="18" charset="0"/>
              </a:rPr>
              <a:t>Install a package</a:t>
            </a:r>
          </a:p>
          <a:p>
            <a:r>
              <a:rPr lang="en-US" b="0" dirty="0">
                <a:solidFill>
                  <a:srgbClr val="00BDD6"/>
                </a:solidFill>
                <a:effectLst/>
                <a:latin typeface="Consolas" panose="020B0609020204030204" pitchFamily="49" charset="0"/>
              </a:rPr>
              <a:t>pip</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install</a:t>
            </a:r>
            <a:r>
              <a:rPr lang="en-US" b="0" dirty="0">
                <a:solidFill>
                  <a:srgbClr val="FA8900"/>
                </a:solidFill>
                <a:effectLst/>
                <a:latin typeface="Consolas" panose="020B0609020204030204" pitchFamily="49" charset="0"/>
              </a:rPr>
              <a:t> </a:t>
            </a:r>
            <a:r>
              <a:rPr lang="en-US" b="0" dirty="0" err="1">
                <a:solidFill>
                  <a:srgbClr val="00B368"/>
                </a:solidFill>
                <a:effectLst/>
                <a:latin typeface="Consolas" panose="020B0609020204030204" pitchFamily="49" charset="0"/>
              </a:rPr>
              <a:t>tqdm</a:t>
            </a:r>
            <a:endParaRPr lang="en-US" b="0" dirty="0">
              <a:solidFill>
                <a:srgbClr val="005661"/>
              </a:solidFill>
              <a:effectLst/>
              <a:latin typeface="Consolas" panose="020B0609020204030204" pitchFamily="49" charset="0"/>
            </a:endParaRPr>
          </a:p>
        </p:txBody>
      </p:sp>
      <p:sp>
        <p:nvSpPr>
          <p:cNvPr id="11" name="TextBox 10">
            <a:extLst>
              <a:ext uri="{FF2B5EF4-FFF2-40B4-BE49-F238E27FC236}">
                <a16:creationId xmlns:a16="http://schemas.microsoft.com/office/drawing/2014/main" id="{6F758B54-295E-D4D9-5491-2BB4259F40C7}"/>
              </a:ext>
            </a:extLst>
          </p:cNvPr>
          <p:cNvSpPr txBox="1"/>
          <p:nvPr/>
        </p:nvSpPr>
        <p:spPr>
          <a:xfrm>
            <a:off x="760207" y="5539190"/>
            <a:ext cx="1417376" cy="646331"/>
          </a:xfrm>
          <a:prstGeom prst="rect">
            <a:avLst/>
          </a:prstGeom>
          <a:noFill/>
        </p:spPr>
        <p:txBody>
          <a:bodyPr wrap="none" rtlCol="0">
            <a:spAutoFit/>
          </a:bodyPr>
          <a:lstStyle/>
          <a:p>
            <a:r>
              <a:rPr lang="en-US" dirty="0">
                <a:solidFill>
                  <a:srgbClr val="236356"/>
                </a:solidFill>
                <a:latin typeface="Georgia" panose="02040502050405020303" pitchFamily="18" charset="0"/>
              </a:rPr>
              <a:t>Check again</a:t>
            </a:r>
          </a:p>
          <a:p>
            <a:r>
              <a:rPr lang="en-US" b="0" dirty="0">
                <a:solidFill>
                  <a:srgbClr val="00BDD6"/>
                </a:solidFill>
                <a:effectLst/>
                <a:latin typeface="Consolas" panose="020B0609020204030204" pitchFamily="49" charset="0"/>
              </a:rPr>
              <a:t>pip</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list</a:t>
            </a:r>
            <a:endParaRPr lang="en-US" b="0" dirty="0">
              <a:solidFill>
                <a:srgbClr val="005661"/>
              </a:solidFill>
              <a:effectLst/>
              <a:latin typeface="Consolas" panose="020B0609020204030204" pitchFamily="49" charset="0"/>
            </a:endParaRPr>
          </a:p>
        </p:txBody>
      </p:sp>
      <p:sp>
        <p:nvSpPr>
          <p:cNvPr id="12" name="TextBox 11">
            <a:extLst>
              <a:ext uri="{FF2B5EF4-FFF2-40B4-BE49-F238E27FC236}">
                <a16:creationId xmlns:a16="http://schemas.microsoft.com/office/drawing/2014/main" id="{9616B852-E8FF-97D1-6F0A-C0A141875A1F}"/>
              </a:ext>
            </a:extLst>
          </p:cNvPr>
          <p:cNvSpPr txBox="1"/>
          <p:nvPr/>
        </p:nvSpPr>
        <p:spPr>
          <a:xfrm>
            <a:off x="5994698" y="5181156"/>
            <a:ext cx="4289957" cy="1569660"/>
          </a:xfrm>
          <a:prstGeom prst="rect">
            <a:avLst/>
          </a:prstGeom>
          <a:noFill/>
        </p:spPr>
        <p:txBody>
          <a:bodyPr wrap="square">
            <a:spAutoFit/>
          </a:bodyPr>
          <a:lstStyle/>
          <a:p>
            <a:r>
              <a:rPr lang="en-US" sz="1200" dirty="0">
                <a:solidFill>
                  <a:srgbClr val="94573F"/>
                </a:solidFill>
                <a:latin typeface="Consolas" panose="020B0609020204030204" pitchFamily="49" charset="0"/>
              </a:rPr>
              <a:t>(</a:t>
            </a:r>
            <a:r>
              <a:rPr lang="en-US" sz="1200" dirty="0" err="1">
                <a:solidFill>
                  <a:srgbClr val="94573F"/>
                </a:solidFill>
                <a:latin typeface="Consolas" panose="020B0609020204030204" pitchFamily="49" charset="0"/>
              </a:rPr>
              <a:t>adv_python</a:t>
            </a:r>
            <a:r>
              <a:rPr lang="en-US" sz="1200" dirty="0">
                <a:solidFill>
                  <a:srgbClr val="94573F"/>
                </a:solidFill>
                <a:latin typeface="Consolas" panose="020B0609020204030204" pitchFamily="49" charset="0"/>
              </a:rPr>
              <a:t>) C:\Users\shahb&gt;pip list</a:t>
            </a:r>
          </a:p>
          <a:p>
            <a:r>
              <a:rPr lang="en-US" sz="1200" dirty="0">
                <a:solidFill>
                  <a:srgbClr val="94573F"/>
                </a:solidFill>
                <a:latin typeface="Consolas" panose="020B0609020204030204" pitchFamily="49" charset="0"/>
              </a:rPr>
              <a:t>Package    Version</a:t>
            </a:r>
          </a:p>
          <a:p>
            <a:r>
              <a:rPr lang="en-US" sz="1200" dirty="0">
                <a:solidFill>
                  <a:srgbClr val="94573F"/>
                </a:solidFill>
                <a:latin typeface="Consolas" panose="020B0609020204030204" pitchFamily="49" charset="0"/>
              </a:rPr>
              <a:t>---------- -------</a:t>
            </a:r>
          </a:p>
          <a:p>
            <a:r>
              <a:rPr lang="en-US" sz="1200" b="1" dirty="0" err="1">
                <a:solidFill>
                  <a:srgbClr val="94573F"/>
                </a:solidFill>
                <a:latin typeface="Consolas" panose="020B0609020204030204" pitchFamily="49" charset="0"/>
              </a:rPr>
              <a:t>colorama</a:t>
            </a:r>
            <a:r>
              <a:rPr lang="en-US" sz="1200" b="1" dirty="0">
                <a:solidFill>
                  <a:srgbClr val="94573F"/>
                </a:solidFill>
                <a:latin typeface="Consolas" panose="020B0609020204030204" pitchFamily="49" charset="0"/>
              </a:rPr>
              <a:t>   0.4.6</a:t>
            </a:r>
          </a:p>
          <a:p>
            <a:r>
              <a:rPr lang="en-US" sz="1200" dirty="0">
                <a:solidFill>
                  <a:srgbClr val="94573F"/>
                </a:solidFill>
                <a:latin typeface="Consolas" panose="020B0609020204030204" pitchFamily="49" charset="0"/>
              </a:rPr>
              <a:t>pip        23.3.1</a:t>
            </a:r>
          </a:p>
          <a:p>
            <a:r>
              <a:rPr lang="en-US" sz="1200" dirty="0" err="1">
                <a:solidFill>
                  <a:srgbClr val="94573F"/>
                </a:solidFill>
                <a:latin typeface="Consolas" panose="020B0609020204030204" pitchFamily="49" charset="0"/>
              </a:rPr>
              <a:t>setuptools</a:t>
            </a:r>
            <a:r>
              <a:rPr lang="en-US" sz="1200" dirty="0">
                <a:solidFill>
                  <a:srgbClr val="94573F"/>
                </a:solidFill>
                <a:latin typeface="Consolas" panose="020B0609020204030204" pitchFamily="49" charset="0"/>
              </a:rPr>
              <a:t> 68.2.2</a:t>
            </a:r>
          </a:p>
          <a:p>
            <a:r>
              <a:rPr lang="en-US" sz="1200" b="1" dirty="0" err="1">
                <a:solidFill>
                  <a:srgbClr val="94573F"/>
                </a:solidFill>
                <a:latin typeface="Consolas" panose="020B0609020204030204" pitchFamily="49" charset="0"/>
              </a:rPr>
              <a:t>tqdm</a:t>
            </a:r>
            <a:r>
              <a:rPr lang="en-US" sz="1200" b="1" dirty="0">
                <a:solidFill>
                  <a:srgbClr val="94573F"/>
                </a:solidFill>
                <a:latin typeface="Consolas" panose="020B0609020204030204" pitchFamily="49" charset="0"/>
              </a:rPr>
              <a:t>       0.41.2</a:t>
            </a:r>
          </a:p>
          <a:p>
            <a:r>
              <a:rPr lang="en-US" sz="1200" dirty="0">
                <a:solidFill>
                  <a:srgbClr val="94573F"/>
                </a:solidFill>
                <a:latin typeface="Consolas" panose="020B0609020204030204" pitchFamily="49" charset="0"/>
              </a:rPr>
              <a:t>wheel      0.41.2</a:t>
            </a:r>
          </a:p>
        </p:txBody>
      </p:sp>
    </p:spTree>
    <p:extLst>
      <p:ext uri="{BB962C8B-B14F-4D97-AF65-F5344CB8AC3E}">
        <p14:creationId xmlns:p14="http://schemas.microsoft.com/office/powerpoint/2010/main" val="20957295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84EC1A-8381-02A9-CAE3-9C2DB48D66E2}"/>
              </a:ext>
            </a:extLst>
          </p:cNvPr>
          <p:cNvSpPr>
            <a:spLocks noGrp="1"/>
          </p:cNvSpPr>
          <p:nvPr>
            <p:ph type="title"/>
          </p:nvPr>
        </p:nvSpPr>
        <p:spPr/>
        <p:txBody>
          <a:bodyPr/>
          <a:lstStyle/>
          <a:p>
            <a:r>
              <a:rPr lang="en-US" dirty="0"/>
              <a:t>Packages are only downloaded once</a:t>
            </a:r>
            <a:endParaRPr lang="en-US" sz="2800" dirty="0"/>
          </a:p>
        </p:txBody>
      </p:sp>
      <p:sp>
        <p:nvSpPr>
          <p:cNvPr id="3" name="TextBox 2">
            <a:extLst>
              <a:ext uri="{FF2B5EF4-FFF2-40B4-BE49-F238E27FC236}">
                <a16:creationId xmlns:a16="http://schemas.microsoft.com/office/drawing/2014/main" id="{96E1F217-C90B-18A6-9A12-D9ECE18FEC4D}"/>
              </a:ext>
            </a:extLst>
          </p:cNvPr>
          <p:cNvSpPr txBox="1"/>
          <p:nvPr/>
        </p:nvSpPr>
        <p:spPr>
          <a:xfrm>
            <a:off x="838200" y="1724439"/>
            <a:ext cx="5979522" cy="1477328"/>
          </a:xfrm>
          <a:prstGeom prst="rect">
            <a:avLst/>
          </a:prstGeom>
          <a:noFill/>
        </p:spPr>
        <p:txBody>
          <a:bodyPr wrap="none" rtlCol="0">
            <a:spAutoFit/>
          </a:bodyPr>
          <a:lstStyle/>
          <a:p>
            <a:r>
              <a:rPr lang="en-US" dirty="0">
                <a:solidFill>
                  <a:srgbClr val="236356"/>
                </a:solidFill>
                <a:latin typeface="Georgia" panose="02040502050405020303" pitchFamily="18" charset="0"/>
              </a:rPr>
              <a:t>I recreated the environment and re-installed the package</a:t>
            </a:r>
          </a:p>
          <a:p>
            <a:r>
              <a:rPr lang="en-US" b="0" dirty="0" err="1">
                <a:solidFill>
                  <a:srgbClr val="00BDD6"/>
                </a:solidFill>
                <a:effectLst/>
                <a:latin typeface="Consolas" panose="020B0609020204030204" pitchFamily="49" charset="0"/>
              </a:rPr>
              <a:t>conda</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env</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remove</a:t>
            </a:r>
            <a:r>
              <a:rPr lang="en-US" b="0" dirty="0">
                <a:solidFill>
                  <a:srgbClr val="FA8900"/>
                </a:solidFill>
                <a:effectLst/>
                <a:latin typeface="Consolas" panose="020B0609020204030204" pitchFamily="49" charset="0"/>
              </a:rPr>
              <a:t> </a:t>
            </a:r>
            <a:r>
              <a:rPr lang="en-US" b="0" dirty="0">
                <a:solidFill>
                  <a:srgbClr val="A88C00"/>
                </a:solidFill>
                <a:effectLst/>
                <a:latin typeface="Consolas" panose="020B0609020204030204" pitchFamily="49" charset="0"/>
              </a:rPr>
              <a:t>--name</a:t>
            </a:r>
            <a:r>
              <a:rPr lang="en-US" b="0" dirty="0">
                <a:solidFill>
                  <a:srgbClr val="FA8900"/>
                </a:solidFill>
                <a:effectLst/>
                <a:latin typeface="Consolas" panose="020B0609020204030204" pitchFamily="49" charset="0"/>
              </a:rPr>
              <a:t> </a:t>
            </a:r>
            <a:r>
              <a:rPr lang="en-US" b="0" dirty="0" err="1">
                <a:solidFill>
                  <a:srgbClr val="00B368"/>
                </a:solidFill>
                <a:effectLst/>
                <a:latin typeface="Consolas" panose="020B0609020204030204" pitchFamily="49" charset="0"/>
              </a:rPr>
              <a:t>adv_python</a:t>
            </a:r>
            <a:endParaRPr lang="en-US" b="0" dirty="0">
              <a:solidFill>
                <a:srgbClr val="00BDD6"/>
              </a:solidFill>
              <a:effectLst/>
              <a:latin typeface="Consolas" panose="020B0609020204030204" pitchFamily="49" charset="0"/>
            </a:endParaRPr>
          </a:p>
          <a:p>
            <a:r>
              <a:rPr lang="en-US" b="0" dirty="0" err="1">
                <a:solidFill>
                  <a:srgbClr val="00BDD6"/>
                </a:solidFill>
                <a:effectLst/>
                <a:latin typeface="Consolas" panose="020B0609020204030204" pitchFamily="49" charset="0"/>
              </a:rPr>
              <a:t>conda</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create</a:t>
            </a:r>
            <a:r>
              <a:rPr lang="en-US" b="0" dirty="0">
                <a:solidFill>
                  <a:srgbClr val="FA8900"/>
                </a:solidFill>
                <a:effectLst/>
                <a:latin typeface="Consolas" panose="020B0609020204030204" pitchFamily="49" charset="0"/>
              </a:rPr>
              <a:t> </a:t>
            </a:r>
            <a:r>
              <a:rPr lang="en-US" b="0" dirty="0">
                <a:solidFill>
                  <a:srgbClr val="A88C00"/>
                </a:solidFill>
                <a:effectLst/>
                <a:latin typeface="Consolas" panose="020B0609020204030204" pitchFamily="49" charset="0"/>
              </a:rPr>
              <a:t>--name</a:t>
            </a:r>
            <a:r>
              <a:rPr lang="en-US" b="0" dirty="0">
                <a:solidFill>
                  <a:srgbClr val="FA8900"/>
                </a:solidFill>
                <a:effectLst/>
                <a:latin typeface="Consolas" panose="020B0609020204030204" pitchFamily="49" charset="0"/>
              </a:rPr>
              <a:t> </a:t>
            </a:r>
            <a:r>
              <a:rPr lang="en-US" b="0" dirty="0" err="1">
                <a:solidFill>
                  <a:srgbClr val="00B368"/>
                </a:solidFill>
                <a:effectLst/>
                <a:latin typeface="Consolas" panose="020B0609020204030204" pitchFamily="49" charset="0"/>
              </a:rPr>
              <a:t>adv_python</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python=</a:t>
            </a:r>
            <a:r>
              <a:rPr lang="en-US" b="0" dirty="0">
                <a:solidFill>
                  <a:srgbClr val="5842FF"/>
                </a:solidFill>
                <a:effectLst/>
                <a:latin typeface="Consolas" panose="020B0609020204030204" pitchFamily="49" charset="0"/>
              </a:rPr>
              <a:t>3.10</a:t>
            </a:r>
            <a:endParaRPr lang="en-US" b="0" dirty="0">
              <a:solidFill>
                <a:srgbClr val="005661"/>
              </a:solidFill>
              <a:effectLst/>
              <a:latin typeface="Consolas" panose="020B0609020204030204" pitchFamily="49" charset="0"/>
            </a:endParaRPr>
          </a:p>
          <a:p>
            <a:r>
              <a:rPr lang="en-US" b="0" dirty="0" err="1">
                <a:solidFill>
                  <a:srgbClr val="00BDD6"/>
                </a:solidFill>
                <a:effectLst/>
                <a:latin typeface="Consolas" panose="020B0609020204030204" pitchFamily="49" charset="0"/>
              </a:rPr>
              <a:t>conda</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activate</a:t>
            </a:r>
            <a:r>
              <a:rPr lang="en-US" b="0" dirty="0">
                <a:solidFill>
                  <a:srgbClr val="FA8900"/>
                </a:solidFill>
                <a:effectLst/>
                <a:latin typeface="Consolas" panose="020B0609020204030204" pitchFamily="49" charset="0"/>
              </a:rPr>
              <a:t> </a:t>
            </a:r>
            <a:r>
              <a:rPr lang="en-US" b="0" dirty="0" err="1">
                <a:solidFill>
                  <a:srgbClr val="00B368"/>
                </a:solidFill>
                <a:effectLst/>
                <a:latin typeface="Consolas" panose="020B0609020204030204" pitchFamily="49" charset="0"/>
              </a:rPr>
              <a:t>adv_python</a:t>
            </a:r>
            <a:endParaRPr lang="en-US" b="0" dirty="0">
              <a:solidFill>
                <a:srgbClr val="005661"/>
              </a:solidFill>
              <a:effectLst/>
              <a:latin typeface="Consolas" panose="020B0609020204030204" pitchFamily="49" charset="0"/>
            </a:endParaRPr>
          </a:p>
          <a:p>
            <a:r>
              <a:rPr lang="en-US" b="0" dirty="0">
                <a:solidFill>
                  <a:srgbClr val="00BDD6"/>
                </a:solidFill>
                <a:effectLst/>
                <a:latin typeface="Consolas" panose="020B0609020204030204" pitchFamily="49" charset="0"/>
              </a:rPr>
              <a:t>pip</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install</a:t>
            </a:r>
            <a:r>
              <a:rPr lang="en-US" b="0" dirty="0">
                <a:solidFill>
                  <a:srgbClr val="FA8900"/>
                </a:solidFill>
                <a:effectLst/>
                <a:latin typeface="Consolas" panose="020B0609020204030204" pitchFamily="49" charset="0"/>
              </a:rPr>
              <a:t> </a:t>
            </a:r>
            <a:r>
              <a:rPr lang="en-US" b="0" dirty="0" err="1">
                <a:solidFill>
                  <a:srgbClr val="00B368"/>
                </a:solidFill>
                <a:effectLst/>
                <a:latin typeface="Consolas" panose="020B0609020204030204" pitchFamily="49" charset="0"/>
              </a:rPr>
              <a:t>tqdm</a:t>
            </a:r>
            <a:endParaRPr lang="en-US" b="0" dirty="0">
              <a:solidFill>
                <a:srgbClr val="005661"/>
              </a:solidFill>
              <a:effectLst/>
              <a:latin typeface="Consolas" panose="020B0609020204030204" pitchFamily="49" charset="0"/>
            </a:endParaRPr>
          </a:p>
        </p:txBody>
      </p:sp>
      <p:sp>
        <p:nvSpPr>
          <p:cNvPr id="5" name="TextBox 4">
            <a:extLst>
              <a:ext uri="{FF2B5EF4-FFF2-40B4-BE49-F238E27FC236}">
                <a16:creationId xmlns:a16="http://schemas.microsoft.com/office/drawing/2014/main" id="{771F5357-6F67-12E0-349B-E185AA382788}"/>
              </a:ext>
            </a:extLst>
          </p:cNvPr>
          <p:cNvSpPr txBox="1"/>
          <p:nvPr/>
        </p:nvSpPr>
        <p:spPr>
          <a:xfrm>
            <a:off x="1132686" y="5190519"/>
            <a:ext cx="8474336" cy="1384995"/>
          </a:xfrm>
          <a:prstGeom prst="rect">
            <a:avLst/>
          </a:prstGeom>
          <a:noFill/>
        </p:spPr>
        <p:txBody>
          <a:bodyPr wrap="square">
            <a:spAutoFit/>
          </a:bodyPr>
          <a:lstStyle/>
          <a:p>
            <a:r>
              <a:rPr lang="en-US" sz="1200" dirty="0">
                <a:solidFill>
                  <a:srgbClr val="94573F"/>
                </a:solidFill>
                <a:latin typeface="Consolas" panose="020B0609020204030204" pitchFamily="49" charset="0"/>
              </a:rPr>
              <a:t>Collecting </a:t>
            </a:r>
            <a:r>
              <a:rPr lang="en-US" sz="1200" dirty="0" err="1">
                <a:solidFill>
                  <a:srgbClr val="94573F"/>
                </a:solidFill>
                <a:latin typeface="Consolas" panose="020B0609020204030204" pitchFamily="49" charset="0"/>
              </a:rPr>
              <a:t>tqdm</a:t>
            </a:r>
            <a:endParaRPr lang="en-US" sz="1200" dirty="0">
              <a:solidFill>
                <a:srgbClr val="94573F"/>
              </a:solidFill>
              <a:latin typeface="Consolas" panose="020B0609020204030204" pitchFamily="49" charset="0"/>
            </a:endParaRPr>
          </a:p>
          <a:p>
            <a:r>
              <a:rPr lang="en-US" sz="1200" dirty="0">
                <a:solidFill>
                  <a:srgbClr val="94573F"/>
                </a:solidFill>
                <a:latin typeface="Consolas" panose="020B0609020204030204" pitchFamily="49" charset="0"/>
              </a:rPr>
              <a:t>  </a:t>
            </a:r>
            <a:r>
              <a:rPr lang="en-US" sz="1200" b="1" dirty="0">
                <a:solidFill>
                  <a:srgbClr val="94573F"/>
                </a:solidFill>
                <a:latin typeface="Consolas" panose="020B0609020204030204" pitchFamily="49" charset="0"/>
              </a:rPr>
              <a:t>Using cached tqdm-4.66.1-py3-none-any.whl.metadata (57 kB)</a:t>
            </a:r>
          </a:p>
          <a:p>
            <a:r>
              <a:rPr lang="en-US" sz="1200" dirty="0">
                <a:solidFill>
                  <a:srgbClr val="94573F"/>
                </a:solidFill>
                <a:latin typeface="Consolas" panose="020B0609020204030204" pitchFamily="49" charset="0"/>
              </a:rPr>
              <a:t>Collecting </a:t>
            </a:r>
            <a:r>
              <a:rPr lang="en-US" sz="1200" dirty="0" err="1">
                <a:solidFill>
                  <a:srgbClr val="94573F"/>
                </a:solidFill>
                <a:latin typeface="Consolas" panose="020B0609020204030204" pitchFamily="49" charset="0"/>
              </a:rPr>
              <a:t>colorama</a:t>
            </a:r>
            <a:r>
              <a:rPr lang="en-US" sz="1200" dirty="0">
                <a:solidFill>
                  <a:srgbClr val="94573F"/>
                </a:solidFill>
                <a:latin typeface="Consolas" panose="020B0609020204030204" pitchFamily="49" charset="0"/>
              </a:rPr>
              <a:t> (from </a:t>
            </a:r>
            <a:r>
              <a:rPr lang="en-US" sz="1200" dirty="0" err="1">
                <a:solidFill>
                  <a:srgbClr val="94573F"/>
                </a:solidFill>
                <a:latin typeface="Consolas" panose="020B0609020204030204" pitchFamily="49" charset="0"/>
              </a:rPr>
              <a:t>tqdm</a:t>
            </a:r>
            <a:r>
              <a:rPr lang="en-US" sz="1200" dirty="0">
                <a:solidFill>
                  <a:srgbClr val="94573F"/>
                </a:solidFill>
                <a:latin typeface="Consolas" panose="020B0609020204030204" pitchFamily="49" charset="0"/>
              </a:rPr>
              <a:t>)</a:t>
            </a:r>
          </a:p>
          <a:p>
            <a:r>
              <a:rPr lang="en-US" sz="1200" dirty="0">
                <a:solidFill>
                  <a:srgbClr val="94573F"/>
                </a:solidFill>
                <a:latin typeface="Consolas" panose="020B0609020204030204" pitchFamily="49" charset="0"/>
              </a:rPr>
              <a:t>  Using cached colorama-0.4.6-py2.py3-none-any.whl (25 kB)</a:t>
            </a:r>
          </a:p>
          <a:p>
            <a:r>
              <a:rPr lang="en-US" sz="1200" dirty="0">
                <a:solidFill>
                  <a:srgbClr val="94573F"/>
                </a:solidFill>
                <a:latin typeface="Consolas" panose="020B0609020204030204" pitchFamily="49" charset="0"/>
              </a:rPr>
              <a:t>Using cached tqdm-4.66.1-py3-none-any.whl (78 kB)</a:t>
            </a:r>
          </a:p>
          <a:p>
            <a:r>
              <a:rPr lang="en-US" sz="1200" dirty="0">
                <a:solidFill>
                  <a:srgbClr val="94573F"/>
                </a:solidFill>
                <a:latin typeface="Consolas" panose="020B0609020204030204" pitchFamily="49" charset="0"/>
              </a:rPr>
              <a:t>Installing collected packages: </a:t>
            </a:r>
            <a:r>
              <a:rPr lang="en-US" sz="1200" dirty="0" err="1">
                <a:solidFill>
                  <a:srgbClr val="94573F"/>
                </a:solidFill>
                <a:latin typeface="Consolas" panose="020B0609020204030204" pitchFamily="49" charset="0"/>
              </a:rPr>
              <a:t>colorama</a:t>
            </a:r>
            <a:r>
              <a:rPr lang="en-US" sz="1200" dirty="0">
                <a:solidFill>
                  <a:srgbClr val="94573F"/>
                </a:solidFill>
                <a:latin typeface="Consolas" panose="020B0609020204030204" pitchFamily="49" charset="0"/>
              </a:rPr>
              <a:t>, </a:t>
            </a:r>
            <a:r>
              <a:rPr lang="en-US" sz="1200" dirty="0" err="1">
                <a:solidFill>
                  <a:srgbClr val="94573F"/>
                </a:solidFill>
                <a:latin typeface="Consolas" panose="020B0609020204030204" pitchFamily="49" charset="0"/>
              </a:rPr>
              <a:t>tqdm</a:t>
            </a:r>
            <a:endParaRPr lang="en-US" sz="1200" dirty="0">
              <a:solidFill>
                <a:srgbClr val="94573F"/>
              </a:solidFill>
              <a:latin typeface="Consolas" panose="020B0609020204030204" pitchFamily="49" charset="0"/>
            </a:endParaRPr>
          </a:p>
          <a:p>
            <a:r>
              <a:rPr lang="en-US" sz="1200" dirty="0">
                <a:solidFill>
                  <a:srgbClr val="94573F"/>
                </a:solidFill>
                <a:latin typeface="Consolas" panose="020B0609020204030204" pitchFamily="49" charset="0"/>
              </a:rPr>
              <a:t>Successfully installed colorama-0.4.6 tqdm-4.66.1</a:t>
            </a:r>
          </a:p>
        </p:txBody>
      </p:sp>
      <p:cxnSp>
        <p:nvCxnSpPr>
          <p:cNvPr id="8" name="Straight Connector 7">
            <a:extLst>
              <a:ext uri="{FF2B5EF4-FFF2-40B4-BE49-F238E27FC236}">
                <a16:creationId xmlns:a16="http://schemas.microsoft.com/office/drawing/2014/main" id="{3198A7E0-5143-91AA-0A3A-EBF028E9FF83}"/>
              </a:ext>
            </a:extLst>
          </p:cNvPr>
          <p:cNvCxnSpPr/>
          <p:nvPr/>
        </p:nvCxnSpPr>
        <p:spPr>
          <a:xfrm>
            <a:off x="1132686" y="5190519"/>
            <a:ext cx="0" cy="1384995"/>
          </a:xfrm>
          <a:prstGeom prst="line">
            <a:avLst/>
          </a:prstGeom>
        </p:spPr>
        <p:style>
          <a:lnRef idx="1">
            <a:schemeClr val="accent2"/>
          </a:lnRef>
          <a:fillRef idx="0">
            <a:schemeClr val="accent2"/>
          </a:fillRef>
          <a:effectRef idx="0">
            <a:schemeClr val="accent2"/>
          </a:effectRef>
          <a:fontRef idx="minor">
            <a:schemeClr val="tx1"/>
          </a:fontRef>
        </p:style>
      </p:cxnSp>
      <p:sp>
        <p:nvSpPr>
          <p:cNvPr id="10" name="TextBox 9">
            <a:extLst>
              <a:ext uri="{FF2B5EF4-FFF2-40B4-BE49-F238E27FC236}">
                <a16:creationId xmlns:a16="http://schemas.microsoft.com/office/drawing/2014/main" id="{6ACAD9D4-17B3-57DC-86B8-D2FCDD682758}"/>
              </a:ext>
            </a:extLst>
          </p:cNvPr>
          <p:cNvSpPr txBox="1"/>
          <p:nvPr/>
        </p:nvSpPr>
        <p:spPr>
          <a:xfrm rot="16200000">
            <a:off x="434577" y="5797987"/>
            <a:ext cx="1119217" cy="276999"/>
          </a:xfrm>
          <a:prstGeom prst="rect">
            <a:avLst/>
          </a:prstGeom>
          <a:noFill/>
        </p:spPr>
        <p:txBody>
          <a:bodyPr wrap="none" rtlCol="0">
            <a:spAutoFit/>
          </a:bodyPr>
          <a:lstStyle/>
          <a:p>
            <a:r>
              <a:rPr lang="en-US" sz="1200" dirty="0">
                <a:solidFill>
                  <a:srgbClr val="236356"/>
                </a:solidFill>
                <a:latin typeface="Consolas" panose="020B0609020204030204" pitchFamily="49" charset="0"/>
              </a:rPr>
              <a:t>New install</a:t>
            </a:r>
          </a:p>
        </p:txBody>
      </p:sp>
      <p:sp>
        <p:nvSpPr>
          <p:cNvPr id="4" name="TextBox 3">
            <a:extLst>
              <a:ext uri="{FF2B5EF4-FFF2-40B4-BE49-F238E27FC236}">
                <a16:creationId xmlns:a16="http://schemas.microsoft.com/office/drawing/2014/main" id="{02DCAB5F-45D6-0AA3-ED6C-79157F8A084A}"/>
              </a:ext>
            </a:extLst>
          </p:cNvPr>
          <p:cNvSpPr txBox="1"/>
          <p:nvPr/>
        </p:nvSpPr>
        <p:spPr>
          <a:xfrm>
            <a:off x="1132685" y="3388126"/>
            <a:ext cx="10671586" cy="1569660"/>
          </a:xfrm>
          <a:prstGeom prst="rect">
            <a:avLst/>
          </a:prstGeom>
          <a:noFill/>
        </p:spPr>
        <p:txBody>
          <a:bodyPr wrap="square">
            <a:spAutoFit/>
          </a:bodyPr>
          <a:lstStyle/>
          <a:p>
            <a:r>
              <a:rPr lang="en-US" sz="1200" dirty="0">
                <a:solidFill>
                  <a:srgbClr val="94573F"/>
                </a:solidFill>
                <a:latin typeface="Consolas" panose="020B0609020204030204" pitchFamily="49" charset="0"/>
              </a:rPr>
              <a:t>Collecting </a:t>
            </a:r>
            <a:r>
              <a:rPr lang="en-US" sz="1200" dirty="0" err="1">
                <a:solidFill>
                  <a:srgbClr val="94573F"/>
                </a:solidFill>
                <a:latin typeface="Consolas" panose="020B0609020204030204" pitchFamily="49" charset="0"/>
              </a:rPr>
              <a:t>tqdm</a:t>
            </a:r>
            <a:endParaRPr lang="en-US" sz="1200" dirty="0">
              <a:solidFill>
                <a:srgbClr val="94573F"/>
              </a:solidFill>
              <a:latin typeface="Consolas" panose="020B0609020204030204" pitchFamily="49" charset="0"/>
            </a:endParaRPr>
          </a:p>
          <a:p>
            <a:r>
              <a:rPr lang="en-US" sz="1200" b="1" dirty="0">
                <a:solidFill>
                  <a:srgbClr val="94573F"/>
                </a:solidFill>
                <a:latin typeface="Consolas" panose="020B0609020204030204" pitchFamily="49" charset="0"/>
              </a:rPr>
              <a:t>  Downloading tqdm-4.66.1-py3-none-any.whl.metadata (57 kB)</a:t>
            </a:r>
          </a:p>
          <a:p>
            <a:r>
              <a:rPr lang="en-US" sz="1200" dirty="0">
                <a:solidFill>
                  <a:srgbClr val="94573F"/>
                </a:solidFill>
                <a:latin typeface="Consolas" panose="020B0609020204030204" pitchFamily="49" charset="0"/>
              </a:rPr>
              <a:t>     ━━━━━━━━━━━━━━━━━━━━━━━━━━━━━━━━━━━━━━━━ 57.6/57.6 kB 607.3 kB/s eta 0:00:00</a:t>
            </a:r>
          </a:p>
          <a:p>
            <a:r>
              <a:rPr lang="en-US" sz="1200" dirty="0">
                <a:solidFill>
                  <a:srgbClr val="94573F"/>
                </a:solidFill>
                <a:latin typeface="Consolas" panose="020B0609020204030204" pitchFamily="49" charset="0"/>
              </a:rPr>
              <a:t>Requirement already satisfied: </a:t>
            </a:r>
            <a:r>
              <a:rPr lang="en-US" sz="1200" dirty="0" err="1">
                <a:solidFill>
                  <a:srgbClr val="94573F"/>
                </a:solidFill>
                <a:latin typeface="Consolas" panose="020B0609020204030204" pitchFamily="49" charset="0"/>
              </a:rPr>
              <a:t>colorama</a:t>
            </a:r>
            <a:r>
              <a:rPr lang="en-US" sz="1200" dirty="0">
                <a:solidFill>
                  <a:srgbClr val="94573F"/>
                </a:solidFill>
                <a:latin typeface="Consolas" panose="020B0609020204030204" pitchFamily="49" charset="0"/>
              </a:rPr>
              <a:t> in c:\users\shahb\anaconda3\envs\adv_python\lib\site-packages (from </a:t>
            </a:r>
            <a:r>
              <a:rPr lang="en-US" sz="1200" dirty="0" err="1">
                <a:solidFill>
                  <a:srgbClr val="94573F"/>
                </a:solidFill>
                <a:latin typeface="Consolas" panose="020B0609020204030204" pitchFamily="49" charset="0"/>
              </a:rPr>
              <a:t>tqdm</a:t>
            </a:r>
            <a:r>
              <a:rPr lang="en-US" sz="1200" dirty="0">
                <a:solidFill>
                  <a:srgbClr val="94573F"/>
                </a:solidFill>
                <a:latin typeface="Consolas" panose="020B0609020204030204" pitchFamily="49" charset="0"/>
              </a:rPr>
              <a:t>) (0.4.6)</a:t>
            </a:r>
          </a:p>
          <a:p>
            <a:r>
              <a:rPr lang="en-US" sz="1200" b="1" dirty="0">
                <a:solidFill>
                  <a:srgbClr val="94573F"/>
                </a:solidFill>
                <a:latin typeface="Consolas" panose="020B0609020204030204" pitchFamily="49" charset="0"/>
              </a:rPr>
              <a:t>Downloading tqdm-4.66.1-py3-none-any.whl (78 kB)</a:t>
            </a:r>
          </a:p>
          <a:p>
            <a:r>
              <a:rPr lang="en-US" sz="1200" dirty="0">
                <a:solidFill>
                  <a:srgbClr val="94573F"/>
                </a:solidFill>
                <a:latin typeface="Consolas" panose="020B0609020204030204" pitchFamily="49" charset="0"/>
              </a:rPr>
              <a:t>   ━━━━━━━━━━━━━━━━━━━━━━━━━━━━━━━━━━━━━━━━ 78.3/78.3 kB 2.2 MB/s eta 0:00:00</a:t>
            </a:r>
          </a:p>
          <a:p>
            <a:r>
              <a:rPr lang="en-US" sz="1200" dirty="0">
                <a:solidFill>
                  <a:srgbClr val="94573F"/>
                </a:solidFill>
                <a:latin typeface="Consolas" panose="020B0609020204030204" pitchFamily="49" charset="0"/>
              </a:rPr>
              <a:t>Installing collected packages: </a:t>
            </a:r>
            <a:r>
              <a:rPr lang="en-US" sz="1200" dirty="0" err="1">
                <a:solidFill>
                  <a:srgbClr val="94573F"/>
                </a:solidFill>
                <a:latin typeface="Consolas" panose="020B0609020204030204" pitchFamily="49" charset="0"/>
              </a:rPr>
              <a:t>tqdm</a:t>
            </a:r>
            <a:endParaRPr lang="en-US" sz="1200" dirty="0">
              <a:solidFill>
                <a:srgbClr val="94573F"/>
              </a:solidFill>
              <a:latin typeface="Consolas" panose="020B0609020204030204" pitchFamily="49" charset="0"/>
            </a:endParaRPr>
          </a:p>
          <a:p>
            <a:r>
              <a:rPr lang="en-US" sz="1200" dirty="0">
                <a:solidFill>
                  <a:srgbClr val="94573F"/>
                </a:solidFill>
                <a:latin typeface="Consolas" panose="020B0609020204030204" pitchFamily="49" charset="0"/>
              </a:rPr>
              <a:t>Successfully installed tqdm-4.66.1</a:t>
            </a:r>
          </a:p>
        </p:txBody>
      </p:sp>
      <p:cxnSp>
        <p:nvCxnSpPr>
          <p:cNvPr id="7" name="Straight Connector 6">
            <a:extLst>
              <a:ext uri="{FF2B5EF4-FFF2-40B4-BE49-F238E27FC236}">
                <a16:creationId xmlns:a16="http://schemas.microsoft.com/office/drawing/2014/main" id="{FA6232F5-51D3-BF74-E4A2-5A702FDED33F}"/>
              </a:ext>
            </a:extLst>
          </p:cNvPr>
          <p:cNvCxnSpPr/>
          <p:nvPr/>
        </p:nvCxnSpPr>
        <p:spPr>
          <a:xfrm>
            <a:off x="1132685" y="3480458"/>
            <a:ext cx="0" cy="1384995"/>
          </a:xfrm>
          <a:prstGeom prst="line">
            <a:avLst/>
          </a:prstGeom>
        </p:spPr>
        <p:style>
          <a:lnRef idx="1">
            <a:schemeClr val="accent2"/>
          </a:lnRef>
          <a:fillRef idx="0">
            <a:schemeClr val="accent2"/>
          </a:fillRef>
          <a:effectRef idx="0">
            <a:schemeClr val="accent2"/>
          </a:effectRef>
          <a:fontRef idx="minor">
            <a:schemeClr val="tx1"/>
          </a:fontRef>
        </p:style>
      </p:cxnSp>
      <p:sp>
        <p:nvSpPr>
          <p:cNvPr id="12" name="TextBox 11">
            <a:extLst>
              <a:ext uri="{FF2B5EF4-FFF2-40B4-BE49-F238E27FC236}">
                <a16:creationId xmlns:a16="http://schemas.microsoft.com/office/drawing/2014/main" id="{994B20B6-9A2A-D67D-CBA0-301B55C5C7AB}"/>
              </a:ext>
            </a:extLst>
          </p:cNvPr>
          <p:cNvSpPr txBox="1"/>
          <p:nvPr/>
        </p:nvSpPr>
        <p:spPr>
          <a:xfrm rot="16200000">
            <a:off x="417090" y="4073667"/>
            <a:ext cx="1119217" cy="276999"/>
          </a:xfrm>
          <a:prstGeom prst="rect">
            <a:avLst/>
          </a:prstGeom>
          <a:noFill/>
        </p:spPr>
        <p:txBody>
          <a:bodyPr wrap="none" rtlCol="0">
            <a:spAutoFit/>
          </a:bodyPr>
          <a:lstStyle/>
          <a:p>
            <a:r>
              <a:rPr lang="en-US" sz="1200" dirty="0">
                <a:solidFill>
                  <a:srgbClr val="236356"/>
                </a:solidFill>
                <a:latin typeface="Consolas" panose="020B0609020204030204" pitchFamily="49" charset="0"/>
              </a:rPr>
              <a:t>Old install</a:t>
            </a:r>
          </a:p>
        </p:txBody>
      </p:sp>
    </p:spTree>
    <p:extLst>
      <p:ext uri="{BB962C8B-B14F-4D97-AF65-F5344CB8AC3E}">
        <p14:creationId xmlns:p14="http://schemas.microsoft.com/office/powerpoint/2010/main" val="24986505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D9955-B6C0-6D52-772D-2498F1A4B516}"/>
              </a:ext>
            </a:extLst>
          </p:cNvPr>
          <p:cNvSpPr>
            <a:spLocks noGrp="1"/>
          </p:cNvSpPr>
          <p:nvPr>
            <p:ph type="title"/>
          </p:nvPr>
        </p:nvSpPr>
        <p:spPr/>
        <p:txBody>
          <a:bodyPr/>
          <a:lstStyle/>
          <a:p>
            <a:r>
              <a:rPr lang="en-US" dirty="0"/>
              <a:t>Why is </a:t>
            </a:r>
            <a:r>
              <a:rPr lang="en-US" i="1" dirty="0" err="1"/>
              <a:t>colorama</a:t>
            </a:r>
            <a:r>
              <a:rPr lang="en-US" dirty="0"/>
              <a:t> installed?</a:t>
            </a:r>
          </a:p>
        </p:txBody>
      </p:sp>
      <p:sp>
        <p:nvSpPr>
          <p:cNvPr id="3" name="TextBox 2">
            <a:extLst>
              <a:ext uri="{FF2B5EF4-FFF2-40B4-BE49-F238E27FC236}">
                <a16:creationId xmlns:a16="http://schemas.microsoft.com/office/drawing/2014/main" id="{F55AE45C-EBF2-D16E-6070-866786C1F4A9}"/>
              </a:ext>
            </a:extLst>
          </p:cNvPr>
          <p:cNvSpPr txBox="1"/>
          <p:nvPr/>
        </p:nvSpPr>
        <p:spPr>
          <a:xfrm>
            <a:off x="838200" y="1827802"/>
            <a:ext cx="6450805" cy="646331"/>
          </a:xfrm>
          <a:prstGeom prst="rect">
            <a:avLst/>
          </a:prstGeom>
          <a:noFill/>
        </p:spPr>
        <p:txBody>
          <a:bodyPr wrap="none" rtlCol="0">
            <a:spAutoFit/>
          </a:bodyPr>
          <a:lstStyle/>
          <a:p>
            <a:r>
              <a:rPr lang="en-US" dirty="0">
                <a:solidFill>
                  <a:srgbClr val="236356"/>
                </a:solidFill>
                <a:latin typeface="Georgia" panose="02040502050405020303" pitchFamily="18" charset="0"/>
              </a:rPr>
              <a:t>Because </a:t>
            </a:r>
            <a:r>
              <a:rPr lang="en-US" i="1" dirty="0" err="1">
                <a:solidFill>
                  <a:srgbClr val="236356"/>
                </a:solidFill>
                <a:latin typeface="Georgia" panose="02040502050405020303" pitchFamily="18" charset="0"/>
              </a:rPr>
              <a:t>tqdm</a:t>
            </a:r>
            <a:r>
              <a:rPr lang="en-US" dirty="0">
                <a:solidFill>
                  <a:srgbClr val="236356"/>
                </a:solidFill>
                <a:latin typeface="Georgia" panose="02040502050405020303" pitchFamily="18" charset="0"/>
              </a:rPr>
              <a:t> lists </a:t>
            </a:r>
            <a:r>
              <a:rPr lang="en-US" i="1" dirty="0" err="1">
                <a:solidFill>
                  <a:srgbClr val="236356"/>
                </a:solidFill>
                <a:latin typeface="Georgia" panose="02040502050405020303" pitchFamily="18" charset="0"/>
              </a:rPr>
              <a:t>colorama</a:t>
            </a:r>
            <a:r>
              <a:rPr lang="en-US" dirty="0">
                <a:solidFill>
                  <a:srgbClr val="236356"/>
                </a:solidFill>
                <a:latin typeface="Georgia" panose="02040502050405020303" pitchFamily="18" charset="0"/>
              </a:rPr>
              <a:t> as a dependency in </a:t>
            </a:r>
          </a:p>
          <a:p>
            <a:r>
              <a:rPr lang="en-US" dirty="0">
                <a:solidFill>
                  <a:srgbClr val="236356"/>
                </a:solidFill>
                <a:latin typeface="Georgia" panose="02040502050405020303" pitchFamily="18" charset="0"/>
              </a:rPr>
              <a:t>https://github.com/tqdm/tqdm/blob/master/pyproject.toml</a:t>
            </a:r>
          </a:p>
        </p:txBody>
      </p:sp>
      <p:pic>
        <p:nvPicPr>
          <p:cNvPr id="5" name="Picture 4">
            <a:extLst>
              <a:ext uri="{FF2B5EF4-FFF2-40B4-BE49-F238E27FC236}">
                <a16:creationId xmlns:a16="http://schemas.microsoft.com/office/drawing/2014/main" id="{A9EE8E04-9B31-72E4-3E68-54F0070EB0BC}"/>
              </a:ext>
            </a:extLst>
          </p:cNvPr>
          <p:cNvPicPr>
            <a:picLocks noChangeAspect="1"/>
          </p:cNvPicPr>
          <p:nvPr/>
        </p:nvPicPr>
        <p:blipFill>
          <a:blip r:embed="rId2"/>
          <a:stretch>
            <a:fillRect/>
          </a:stretch>
        </p:blipFill>
        <p:spPr>
          <a:xfrm>
            <a:off x="1106098" y="2955491"/>
            <a:ext cx="9638512" cy="2251209"/>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354350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7AAD5-C0C4-B5A9-281E-17536C013E13}"/>
              </a:ext>
            </a:extLst>
          </p:cNvPr>
          <p:cNvSpPr>
            <a:spLocks noGrp="1"/>
          </p:cNvSpPr>
          <p:nvPr>
            <p:ph type="title"/>
          </p:nvPr>
        </p:nvSpPr>
        <p:spPr/>
        <p:txBody>
          <a:bodyPr/>
          <a:lstStyle/>
          <a:p>
            <a:r>
              <a:rPr lang="en-US" i="1" dirty="0"/>
              <a:t>pip</a:t>
            </a:r>
            <a:r>
              <a:rPr lang="en-US" dirty="0"/>
              <a:t> downloads a </a:t>
            </a:r>
            <a:r>
              <a:rPr lang="en-US" i="1" dirty="0"/>
              <a:t>wheel</a:t>
            </a:r>
            <a:r>
              <a:rPr lang="en-US" dirty="0"/>
              <a:t> (.</a:t>
            </a:r>
            <a:r>
              <a:rPr lang="en-US" dirty="0" err="1"/>
              <a:t>whl</a:t>
            </a:r>
            <a:r>
              <a:rPr lang="en-US" dirty="0"/>
              <a:t>) file, which contains</a:t>
            </a:r>
            <a:endParaRPr lang="en-US" i="1" dirty="0"/>
          </a:p>
        </p:txBody>
      </p:sp>
      <p:sp>
        <p:nvSpPr>
          <p:cNvPr id="6" name="TextBox 5">
            <a:extLst>
              <a:ext uri="{FF2B5EF4-FFF2-40B4-BE49-F238E27FC236}">
                <a16:creationId xmlns:a16="http://schemas.microsoft.com/office/drawing/2014/main" id="{1945F9CE-952C-3038-6BD2-CC3EA9833001}"/>
              </a:ext>
            </a:extLst>
          </p:cNvPr>
          <p:cNvSpPr txBox="1"/>
          <p:nvPr/>
        </p:nvSpPr>
        <p:spPr>
          <a:xfrm>
            <a:off x="5216056" y="1783894"/>
            <a:ext cx="6488264" cy="4708981"/>
          </a:xfrm>
          <a:prstGeom prst="rect">
            <a:avLst/>
          </a:prstGeom>
          <a:noFill/>
        </p:spPr>
        <p:txBody>
          <a:bodyPr wrap="square" numCol="2">
            <a:spAutoFit/>
          </a:bodyPr>
          <a:lstStyle/>
          <a:p>
            <a:r>
              <a:rPr lang="en-US" sz="1400" b="1" dirty="0">
                <a:solidFill>
                  <a:srgbClr val="FF5792"/>
                </a:solidFill>
                <a:effectLst/>
                <a:latin typeface="Consolas" panose="020B0609020204030204" pitchFamily="49" charset="0"/>
              </a:rPr>
              <a:t>Actual code</a:t>
            </a: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app.py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blueprints.py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cli.py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config.py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ctx.py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debughelpers.py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globals.py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helpers.py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err="1">
                <a:solidFill>
                  <a:srgbClr val="FA8900"/>
                </a:solidFill>
                <a:effectLst/>
                <a:latin typeface="Consolas" panose="020B0609020204030204" pitchFamily="49" charset="0"/>
              </a:rPr>
              <a:t>json</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json</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provider.py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json</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tag.py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json</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__init__.py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logging.py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err="1">
                <a:solidFill>
                  <a:srgbClr val="FA8900"/>
                </a:solidFill>
                <a:effectLst/>
                <a:latin typeface="Consolas" panose="020B0609020204030204" pitchFamily="49" charset="0"/>
              </a:rPr>
              <a:t>py.typed</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err="1">
                <a:solidFill>
                  <a:srgbClr val="FA8900"/>
                </a:solidFill>
                <a:effectLst/>
                <a:latin typeface="Consolas" panose="020B0609020204030204" pitchFamily="49" charset="0"/>
              </a:rPr>
              <a:t>sansio</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sansio</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app.py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sansio</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blueprints.py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sansio</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README.md</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sansio</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scaffold.py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sessions.py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signals.py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templating.py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testing.py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typing.py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views.py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wrappers.py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__init__.py</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__main__.py</a:t>
            </a:r>
            <a:endParaRPr lang="en-US" sz="1400" b="0" dirty="0">
              <a:solidFill>
                <a:srgbClr val="005661"/>
              </a:solidFill>
              <a:effectLst/>
              <a:latin typeface="Consolas" panose="020B0609020204030204" pitchFamily="49" charset="0"/>
            </a:endParaRPr>
          </a:p>
        </p:txBody>
      </p:sp>
      <p:sp>
        <p:nvSpPr>
          <p:cNvPr id="8" name="TextBox 7">
            <a:extLst>
              <a:ext uri="{FF2B5EF4-FFF2-40B4-BE49-F238E27FC236}">
                <a16:creationId xmlns:a16="http://schemas.microsoft.com/office/drawing/2014/main" id="{A1DCC6C0-2A54-2D45-B61E-55E3A447A177}"/>
              </a:ext>
            </a:extLst>
          </p:cNvPr>
          <p:cNvSpPr txBox="1"/>
          <p:nvPr/>
        </p:nvSpPr>
        <p:spPr>
          <a:xfrm>
            <a:off x="838200" y="1891615"/>
            <a:ext cx="4027998" cy="1600438"/>
          </a:xfrm>
          <a:prstGeom prst="rect">
            <a:avLst/>
          </a:prstGeom>
          <a:noFill/>
        </p:spPr>
        <p:txBody>
          <a:bodyPr wrap="square">
            <a:spAutoFit/>
          </a:bodyPr>
          <a:lstStyle/>
          <a:p>
            <a:r>
              <a:rPr lang="en-US" sz="1400" b="1" dirty="0">
                <a:solidFill>
                  <a:srgbClr val="FF5792"/>
                </a:solidFill>
                <a:effectLst/>
                <a:latin typeface="Consolas" panose="020B0609020204030204" pitchFamily="49" charset="0"/>
              </a:rPr>
              <a:t>Meta-data</a:t>
            </a: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5842FF"/>
                </a:solidFill>
                <a:effectLst/>
                <a:latin typeface="Consolas" panose="020B0609020204030204" pitchFamily="49" charset="0"/>
              </a:rPr>
              <a:t>3.0</a:t>
            </a:r>
            <a:r>
              <a:rPr lang="en-US" sz="1400" b="0" dirty="0">
                <a:solidFill>
                  <a:srgbClr val="FA8900"/>
                </a:solidFill>
                <a:effectLst/>
                <a:latin typeface="Consolas" panose="020B0609020204030204" pitchFamily="49" charset="0"/>
              </a:rPr>
              <a:t>.</a:t>
            </a:r>
            <a:r>
              <a:rPr lang="en-US" sz="1400" b="0" dirty="0">
                <a:solidFill>
                  <a:srgbClr val="5842FF"/>
                </a:solidFill>
                <a:effectLst/>
                <a:latin typeface="Consolas" panose="020B0609020204030204" pitchFamily="49" charset="0"/>
              </a:rPr>
              <a:t>2.</a:t>
            </a:r>
            <a:r>
              <a:rPr lang="en-US" sz="1400" b="0" dirty="0">
                <a:solidFill>
                  <a:srgbClr val="FA8900"/>
                </a:solidFill>
                <a:effectLst/>
                <a:latin typeface="Consolas" panose="020B0609020204030204" pitchFamily="49" charset="0"/>
              </a:rPr>
              <a:t>dist</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info</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5842FF"/>
                </a:solidFill>
                <a:effectLst/>
                <a:latin typeface="Consolas" panose="020B0609020204030204" pitchFamily="49" charset="0"/>
              </a:rPr>
              <a:t>3.0</a:t>
            </a:r>
            <a:r>
              <a:rPr lang="en-US" sz="1400" b="0" dirty="0">
                <a:solidFill>
                  <a:srgbClr val="FA8900"/>
                </a:solidFill>
                <a:effectLst/>
                <a:latin typeface="Consolas" panose="020B0609020204030204" pitchFamily="49" charset="0"/>
              </a:rPr>
              <a:t>.</a:t>
            </a:r>
            <a:r>
              <a:rPr lang="en-US" sz="1400" b="0" dirty="0">
                <a:solidFill>
                  <a:srgbClr val="5842FF"/>
                </a:solidFill>
                <a:effectLst/>
                <a:latin typeface="Consolas" panose="020B0609020204030204" pitchFamily="49" charset="0"/>
              </a:rPr>
              <a:t>2.</a:t>
            </a:r>
            <a:r>
              <a:rPr lang="en-US" sz="1400" b="0" dirty="0">
                <a:solidFill>
                  <a:srgbClr val="FA8900"/>
                </a:solidFill>
                <a:effectLst/>
                <a:latin typeface="Consolas" panose="020B0609020204030204" pitchFamily="49" charset="0"/>
              </a:rPr>
              <a:t>dist</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info</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entry_points.txt</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5842FF"/>
                </a:solidFill>
                <a:effectLst/>
                <a:latin typeface="Consolas" panose="020B0609020204030204" pitchFamily="49" charset="0"/>
              </a:rPr>
              <a:t>3.0</a:t>
            </a:r>
            <a:r>
              <a:rPr lang="en-US" sz="1400" b="0" dirty="0">
                <a:solidFill>
                  <a:srgbClr val="FA8900"/>
                </a:solidFill>
                <a:effectLst/>
                <a:latin typeface="Consolas" panose="020B0609020204030204" pitchFamily="49" charset="0"/>
              </a:rPr>
              <a:t>.</a:t>
            </a:r>
            <a:r>
              <a:rPr lang="en-US" sz="1400" b="0" dirty="0">
                <a:solidFill>
                  <a:srgbClr val="5842FF"/>
                </a:solidFill>
                <a:effectLst/>
                <a:latin typeface="Consolas" panose="020B0609020204030204" pitchFamily="49" charset="0"/>
              </a:rPr>
              <a:t>2.</a:t>
            </a:r>
            <a:r>
              <a:rPr lang="en-US" sz="1400" b="0" dirty="0">
                <a:solidFill>
                  <a:srgbClr val="FA8900"/>
                </a:solidFill>
                <a:effectLst/>
                <a:latin typeface="Consolas" panose="020B0609020204030204" pitchFamily="49" charset="0"/>
              </a:rPr>
              <a:t>dist</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info</a:t>
            </a:r>
            <a:r>
              <a:rPr lang="en-US" sz="1400" b="1" dirty="0">
                <a:solidFill>
                  <a:srgbClr val="FF5792"/>
                </a:solidFill>
                <a:effectLst/>
                <a:latin typeface="Consolas" panose="020B0609020204030204" pitchFamily="49" charset="0"/>
              </a:rPr>
              <a:t>/</a:t>
            </a:r>
            <a:r>
              <a:rPr lang="en-US" sz="1400" b="0" dirty="0" err="1">
                <a:solidFill>
                  <a:srgbClr val="FA8900"/>
                </a:solidFill>
                <a:effectLst/>
                <a:latin typeface="Consolas" panose="020B0609020204030204" pitchFamily="49" charset="0"/>
              </a:rPr>
              <a:t>LICENSE.rst</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5842FF"/>
                </a:solidFill>
                <a:effectLst/>
                <a:latin typeface="Consolas" panose="020B0609020204030204" pitchFamily="49" charset="0"/>
              </a:rPr>
              <a:t>3.0</a:t>
            </a:r>
            <a:r>
              <a:rPr lang="en-US" sz="1400" b="0" dirty="0">
                <a:solidFill>
                  <a:srgbClr val="FA8900"/>
                </a:solidFill>
                <a:effectLst/>
                <a:latin typeface="Consolas" panose="020B0609020204030204" pitchFamily="49" charset="0"/>
              </a:rPr>
              <a:t>.</a:t>
            </a:r>
            <a:r>
              <a:rPr lang="en-US" sz="1400" b="0" dirty="0">
                <a:solidFill>
                  <a:srgbClr val="5842FF"/>
                </a:solidFill>
                <a:effectLst/>
                <a:latin typeface="Consolas" panose="020B0609020204030204" pitchFamily="49" charset="0"/>
              </a:rPr>
              <a:t>2.</a:t>
            </a:r>
            <a:r>
              <a:rPr lang="en-US" sz="1400" b="0" dirty="0">
                <a:solidFill>
                  <a:srgbClr val="FA8900"/>
                </a:solidFill>
                <a:effectLst/>
                <a:latin typeface="Consolas" panose="020B0609020204030204" pitchFamily="49" charset="0"/>
              </a:rPr>
              <a:t>dist</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info</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METADATA</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5842FF"/>
                </a:solidFill>
                <a:effectLst/>
                <a:latin typeface="Consolas" panose="020B0609020204030204" pitchFamily="49" charset="0"/>
              </a:rPr>
              <a:t>3.0</a:t>
            </a:r>
            <a:r>
              <a:rPr lang="en-US" sz="1400" b="0" dirty="0">
                <a:solidFill>
                  <a:srgbClr val="FA8900"/>
                </a:solidFill>
                <a:effectLst/>
                <a:latin typeface="Consolas" panose="020B0609020204030204" pitchFamily="49" charset="0"/>
              </a:rPr>
              <a:t>.</a:t>
            </a:r>
            <a:r>
              <a:rPr lang="en-US" sz="1400" b="0" dirty="0">
                <a:solidFill>
                  <a:srgbClr val="5842FF"/>
                </a:solidFill>
                <a:effectLst/>
                <a:latin typeface="Consolas" panose="020B0609020204030204" pitchFamily="49" charset="0"/>
              </a:rPr>
              <a:t>2.</a:t>
            </a:r>
            <a:r>
              <a:rPr lang="en-US" sz="1400" b="0" dirty="0">
                <a:solidFill>
                  <a:srgbClr val="FA8900"/>
                </a:solidFill>
                <a:effectLst/>
                <a:latin typeface="Consolas" panose="020B0609020204030204" pitchFamily="49" charset="0"/>
              </a:rPr>
              <a:t>dist</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info</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RECORD</a:t>
            </a:r>
            <a:endParaRPr lang="en-US" sz="1400" b="0" dirty="0">
              <a:solidFill>
                <a:srgbClr val="005661"/>
              </a:solidFill>
              <a:effectLst/>
              <a:latin typeface="Consolas" panose="020B0609020204030204" pitchFamily="49" charset="0"/>
            </a:endParaRPr>
          </a:p>
          <a:p>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flask</a:t>
            </a:r>
            <a:r>
              <a:rPr lang="en-US" sz="1400" b="1" dirty="0">
                <a:solidFill>
                  <a:srgbClr val="FF5792"/>
                </a:solidFill>
                <a:effectLst/>
                <a:latin typeface="Consolas" panose="020B0609020204030204" pitchFamily="49" charset="0"/>
              </a:rPr>
              <a:t>-</a:t>
            </a:r>
            <a:r>
              <a:rPr lang="en-US" sz="1400" b="0" dirty="0">
                <a:solidFill>
                  <a:srgbClr val="5842FF"/>
                </a:solidFill>
                <a:effectLst/>
                <a:latin typeface="Consolas" panose="020B0609020204030204" pitchFamily="49" charset="0"/>
              </a:rPr>
              <a:t>3.0</a:t>
            </a:r>
            <a:r>
              <a:rPr lang="en-US" sz="1400" b="0" dirty="0">
                <a:solidFill>
                  <a:srgbClr val="FA8900"/>
                </a:solidFill>
                <a:effectLst/>
                <a:latin typeface="Consolas" panose="020B0609020204030204" pitchFamily="49" charset="0"/>
              </a:rPr>
              <a:t>.</a:t>
            </a:r>
            <a:r>
              <a:rPr lang="en-US" sz="1400" b="0" dirty="0">
                <a:solidFill>
                  <a:srgbClr val="5842FF"/>
                </a:solidFill>
                <a:effectLst/>
                <a:latin typeface="Consolas" panose="020B0609020204030204" pitchFamily="49" charset="0"/>
              </a:rPr>
              <a:t>2.</a:t>
            </a:r>
            <a:r>
              <a:rPr lang="en-US" sz="1400" b="0" dirty="0">
                <a:solidFill>
                  <a:srgbClr val="FA8900"/>
                </a:solidFill>
                <a:effectLst/>
                <a:latin typeface="Consolas" panose="020B0609020204030204" pitchFamily="49" charset="0"/>
              </a:rPr>
              <a:t>dist</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info</a:t>
            </a:r>
            <a:r>
              <a:rPr lang="en-US" sz="1400" b="1" dirty="0">
                <a:solidFill>
                  <a:srgbClr val="FF5792"/>
                </a:solidFill>
                <a:effectLst/>
                <a:latin typeface="Consolas" panose="020B0609020204030204" pitchFamily="49" charset="0"/>
              </a:rPr>
              <a:t>/</a:t>
            </a:r>
            <a:r>
              <a:rPr lang="en-US" sz="1400" b="0" dirty="0">
                <a:solidFill>
                  <a:srgbClr val="FA8900"/>
                </a:solidFill>
                <a:effectLst/>
                <a:latin typeface="Consolas" panose="020B0609020204030204" pitchFamily="49" charset="0"/>
              </a:rPr>
              <a:t>WHEEL</a:t>
            </a:r>
            <a:endParaRPr lang="en-US" sz="1400" b="0" dirty="0">
              <a:solidFill>
                <a:srgbClr val="005661"/>
              </a:solidFill>
              <a:effectLst/>
              <a:latin typeface="Consolas" panose="020B0609020204030204" pitchFamily="49" charset="0"/>
            </a:endParaRPr>
          </a:p>
        </p:txBody>
      </p:sp>
    </p:spTree>
    <p:extLst>
      <p:ext uri="{BB962C8B-B14F-4D97-AF65-F5344CB8AC3E}">
        <p14:creationId xmlns:p14="http://schemas.microsoft.com/office/powerpoint/2010/main" val="36062983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C812BA8-6998-7F45-56E3-CD40834F0D9C}"/>
              </a:ext>
            </a:extLst>
          </p:cNvPr>
          <p:cNvSpPr txBox="1"/>
          <p:nvPr/>
        </p:nvSpPr>
        <p:spPr>
          <a:xfrm>
            <a:off x="524942" y="1012954"/>
            <a:ext cx="11142116" cy="4832092"/>
          </a:xfrm>
          <a:prstGeom prst="rect">
            <a:avLst/>
          </a:prstGeom>
          <a:noFill/>
        </p:spPr>
        <p:txBody>
          <a:bodyPr wrap="square" rtlCol="0">
            <a:spAutoFit/>
          </a:bodyPr>
          <a:lstStyle/>
          <a:p>
            <a:r>
              <a:rPr lang="en-US" sz="2400" i="1" dirty="0">
                <a:solidFill>
                  <a:srgbClr val="94573F"/>
                </a:solidFill>
                <a:latin typeface="Georgia" panose="02040502050405020303" pitchFamily="18" charset="0"/>
              </a:rPr>
              <a:t>Definition</a:t>
            </a:r>
          </a:p>
          <a:p>
            <a:r>
              <a:rPr lang="en-US" sz="3200" i="1" dirty="0">
                <a:solidFill>
                  <a:srgbClr val="236356"/>
                </a:solidFill>
                <a:latin typeface="Georgia" panose="02040502050405020303" pitchFamily="18" charset="0"/>
              </a:rPr>
              <a:t>pip</a:t>
            </a:r>
            <a:r>
              <a:rPr lang="en-US" sz="3200" dirty="0">
                <a:solidFill>
                  <a:srgbClr val="236356"/>
                </a:solidFill>
                <a:latin typeface="Georgia" panose="02040502050405020303" pitchFamily="18" charset="0"/>
              </a:rPr>
              <a:t> downloads, caches and installs python packages and </a:t>
            </a:r>
            <a:r>
              <a:rPr lang="en-US" sz="3200" b="1" dirty="0">
                <a:solidFill>
                  <a:srgbClr val="236356"/>
                </a:solidFill>
                <a:latin typeface="Georgia" panose="02040502050405020303" pitchFamily="18" charset="0"/>
              </a:rPr>
              <a:t>their dependencies</a:t>
            </a:r>
            <a:br>
              <a:rPr lang="en-US" sz="3200" dirty="0">
                <a:solidFill>
                  <a:srgbClr val="236356"/>
                </a:solidFill>
                <a:latin typeface="Georgia" panose="02040502050405020303" pitchFamily="18" charset="0"/>
              </a:rPr>
            </a:br>
            <a:br>
              <a:rPr lang="en-US" sz="3200" dirty="0">
                <a:solidFill>
                  <a:srgbClr val="236356"/>
                </a:solidFill>
                <a:latin typeface="Georgia" panose="02040502050405020303" pitchFamily="18" charset="0"/>
              </a:rPr>
            </a:br>
            <a:r>
              <a:rPr lang="en-US" sz="2400" dirty="0">
                <a:solidFill>
                  <a:srgbClr val="94573F"/>
                </a:solidFill>
                <a:latin typeface="Georgia" panose="02040502050405020303" pitchFamily="18" charset="0"/>
              </a:rPr>
              <a:t>Caveats</a:t>
            </a:r>
          </a:p>
          <a:p>
            <a:r>
              <a:rPr lang="en-US" sz="3200" dirty="0">
                <a:solidFill>
                  <a:srgbClr val="236356"/>
                </a:solidFill>
                <a:latin typeface="Georgia" panose="02040502050405020303" pitchFamily="18" charset="0"/>
              </a:rPr>
              <a:t>For many years, </a:t>
            </a:r>
            <a:r>
              <a:rPr lang="en-US" sz="3200" i="1" dirty="0">
                <a:solidFill>
                  <a:srgbClr val="236356"/>
                </a:solidFill>
                <a:latin typeface="Georgia" panose="02040502050405020303" pitchFamily="18" charset="0"/>
              </a:rPr>
              <a:t>pip</a:t>
            </a:r>
            <a:r>
              <a:rPr lang="en-US" sz="3200" dirty="0">
                <a:solidFill>
                  <a:srgbClr val="236356"/>
                </a:solidFill>
                <a:latin typeface="Georgia" panose="02040502050405020303" pitchFamily="18" charset="0"/>
              </a:rPr>
              <a:t> was not able to install packages with binary dependencies, such as </a:t>
            </a:r>
            <a:r>
              <a:rPr lang="en-US" sz="3200" i="1" dirty="0" err="1">
                <a:solidFill>
                  <a:srgbClr val="236356"/>
                </a:solidFill>
                <a:latin typeface="Georgia" panose="02040502050405020303" pitchFamily="18" charset="0"/>
              </a:rPr>
              <a:t>numpy</a:t>
            </a:r>
            <a:endParaRPr lang="en-US" sz="3200" i="1" dirty="0">
              <a:solidFill>
                <a:srgbClr val="236356"/>
              </a:solidFill>
              <a:latin typeface="Georgia" panose="02040502050405020303" pitchFamily="18" charset="0"/>
            </a:endParaRPr>
          </a:p>
          <a:p>
            <a:endParaRPr lang="en-US" sz="3200" i="1" dirty="0">
              <a:solidFill>
                <a:srgbClr val="236356"/>
              </a:solidFill>
              <a:latin typeface="Georgia" panose="02040502050405020303" pitchFamily="18" charset="0"/>
            </a:endParaRPr>
          </a:p>
          <a:p>
            <a:r>
              <a:rPr lang="en-US" sz="3200" i="1" dirty="0">
                <a:solidFill>
                  <a:srgbClr val="236356"/>
                </a:solidFill>
                <a:latin typeface="Georgia" panose="02040502050405020303" pitchFamily="18" charset="0"/>
              </a:rPr>
              <a:t>pip</a:t>
            </a:r>
            <a:r>
              <a:rPr lang="en-US" sz="3200" dirty="0">
                <a:solidFill>
                  <a:srgbClr val="236356"/>
                </a:solidFill>
                <a:latin typeface="Georgia" panose="02040502050405020303" pitchFamily="18" charset="0"/>
              </a:rPr>
              <a:t> also doesn’t do a thorough job of making sure all packages and their dependencies will work well together</a:t>
            </a:r>
            <a:endParaRPr lang="en-US" sz="3200" i="1" dirty="0">
              <a:solidFill>
                <a:srgbClr val="236356"/>
              </a:solidFill>
              <a:latin typeface="Georgia" panose="02040502050405020303" pitchFamily="18" charset="0"/>
            </a:endParaRPr>
          </a:p>
        </p:txBody>
      </p:sp>
      <p:sp>
        <p:nvSpPr>
          <p:cNvPr id="6" name="TextBox 5">
            <a:extLst>
              <a:ext uri="{FF2B5EF4-FFF2-40B4-BE49-F238E27FC236}">
                <a16:creationId xmlns:a16="http://schemas.microsoft.com/office/drawing/2014/main" id="{C3AE2D43-0A69-3C60-90B9-ED36B2DA9511}"/>
              </a:ext>
            </a:extLst>
          </p:cNvPr>
          <p:cNvSpPr txBox="1"/>
          <p:nvPr/>
        </p:nvSpPr>
        <p:spPr>
          <a:xfrm>
            <a:off x="3847289" y="6311591"/>
            <a:ext cx="7819769" cy="307777"/>
          </a:xfrm>
          <a:prstGeom prst="rect">
            <a:avLst/>
          </a:prstGeom>
          <a:noFill/>
        </p:spPr>
        <p:txBody>
          <a:bodyPr wrap="none" rtlCol="0">
            <a:spAutoFit/>
          </a:bodyPr>
          <a:lstStyle/>
          <a:p>
            <a:r>
              <a:rPr lang="en-US" sz="1400" dirty="0">
                <a:solidFill>
                  <a:srgbClr val="236356"/>
                </a:solidFill>
                <a:latin typeface="Georgia" panose="02040502050405020303" pitchFamily="18" charset="0"/>
              </a:rPr>
              <a:t>Great resource: https://jakevdp.github.io/blog/</a:t>
            </a:r>
            <a:r>
              <a:rPr lang="en-US" sz="1400" b="1" dirty="0">
                <a:solidFill>
                  <a:srgbClr val="236356"/>
                </a:solidFill>
                <a:latin typeface="Georgia" panose="02040502050405020303" pitchFamily="18" charset="0"/>
              </a:rPr>
              <a:t>2016</a:t>
            </a:r>
            <a:r>
              <a:rPr lang="en-US" sz="1400" dirty="0">
                <a:solidFill>
                  <a:srgbClr val="236356"/>
                </a:solidFill>
                <a:latin typeface="Georgia" panose="02040502050405020303" pitchFamily="18" charset="0"/>
              </a:rPr>
              <a:t>/08/25/conda-myths-and-misconceptions/</a:t>
            </a:r>
          </a:p>
        </p:txBody>
      </p:sp>
    </p:spTree>
    <p:extLst>
      <p:ext uri="{BB962C8B-B14F-4D97-AF65-F5344CB8AC3E}">
        <p14:creationId xmlns:p14="http://schemas.microsoft.com/office/powerpoint/2010/main" val="10223948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6DE82-F5E3-632C-9B29-D38710B7FF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C62F1D-94F2-83CD-7290-353BEDFF8E10}"/>
              </a:ext>
            </a:extLst>
          </p:cNvPr>
          <p:cNvSpPr>
            <a:spLocks noGrp="1"/>
          </p:cNvSpPr>
          <p:nvPr>
            <p:ph type="title"/>
          </p:nvPr>
        </p:nvSpPr>
        <p:spPr/>
        <p:txBody>
          <a:bodyPr/>
          <a:lstStyle/>
          <a:p>
            <a:r>
              <a:rPr lang="en-US" dirty="0"/>
              <a:t>Conda (package manager) vs pip – deep dive</a:t>
            </a:r>
          </a:p>
        </p:txBody>
      </p:sp>
      <p:sp>
        <p:nvSpPr>
          <p:cNvPr id="3" name="Text Placeholder 2">
            <a:extLst>
              <a:ext uri="{FF2B5EF4-FFF2-40B4-BE49-F238E27FC236}">
                <a16:creationId xmlns:a16="http://schemas.microsoft.com/office/drawing/2014/main" id="{22EFE9E9-F346-2A5C-2FAE-E1F6AF1BF53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347332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2F2E1A-1620-6996-68FB-8FDAC7290E6C}"/>
              </a:ext>
            </a:extLst>
          </p:cNvPr>
          <p:cNvSpPr>
            <a:spLocks noGrp="1"/>
          </p:cNvSpPr>
          <p:nvPr>
            <p:ph type="title"/>
          </p:nvPr>
        </p:nvSpPr>
        <p:spPr/>
        <p:txBody>
          <a:bodyPr/>
          <a:lstStyle/>
          <a:p>
            <a:r>
              <a:rPr lang="en-US" dirty="0"/>
              <a:t>Data scientists generally use </a:t>
            </a:r>
            <a:r>
              <a:rPr lang="en-US" i="1" dirty="0" err="1"/>
              <a:t>conda</a:t>
            </a:r>
            <a:r>
              <a:rPr lang="en-US" dirty="0"/>
              <a:t> as their package manager*, along with </a:t>
            </a:r>
            <a:r>
              <a:rPr lang="en-US" i="1" dirty="0"/>
              <a:t>pip</a:t>
            </a:r>
          </a:p>
        </p:txBody>
      </p:sp>
      <p:sp>
        <p:nvSpPr>
          <p:cNvPr id="3" name="TextBox 2">
            <a:extLst>
              <a:ext uri="{FF2B5EF4-FFF2-40B4-BE49-F238E27FC236}">
                <a16:creationId xmlns:a16="http://schemas.microsoft.com/office/drawing/2014/main" id="{C6A06D39-7DB8-F68F-63CE-AB22CF82028E}"/>
              </a:ext>
            </a:extLst>
          </p:cNvPr>
          <p:cNvSpPr txBox="1"/>
          <p:nvPr/>
        </p:nvSpPr>
        <p:spPr>
          <a:xfrm>
            <a:off x="569537" y="6287827"/>
            <a:ext cx="3244799" cy="276999"/>
          </a:xfrm>
          <a:prstGeom prst="rect">
            <a:avLst/>
          </a:prstGeom>
          <a:noFill/>
        </p:spPr>
        <p:txBody>
          <a:bodyPr wrap="none" rtlCol="0">
            <a:spAutoFit/>
          </a:bodyPr>
          <a:lstStyle/>
          <a:p>
            <a:r>
              <a:rPr lang="en-US" sz="1200" dirty="0">
                <a:solidFill>
                  <a:srgbClr val="236356"/>
                </a:solidFill>
                <a:latin typeface="Georgia" panose="02040502050405020303" pitchFamily="18" charset="0"/>
              </a:rPr>
              <a:t>*</a:t>
            </a:r>
            <a:r>
              <a:rPr lang="en-US" sz="1200" dirty="0" err="1">
                <a:solidFill>
                  <a:srgbClr val="236356"/>
                </a:solidFill>
                <a:latin typeface="Georgia" panose="02040502050405020303" pitchFamily="18" charset="0"/>
              </a:rPr>
              <a:t>Conda</a:t>
            </a:r>
            <a:r>
              <a:rPr lang="en-US" sz="1200" dirty="0">
                <a:solidFill>
                  <a:srgbClr val="236356"/>
                </a:solidFill>
                <a:latin typeface="Georgia" panose="02040502050405020303" pitchFamily="18" charset="0"/>
              </a:rPr>
              <a:t> is also an env manager, as we will see</a:t>
            </a:r>
            <a:endParaRPr lang="en-US" sz="1200" dirty="0">
              <a:solidFill>
                <a:srgbClr val="236356"/>
              </a:solidFill>
              <a:latin typeface="Consolas" panose="020B0609020204030204" pitchFamily="49" charset="0"/>
            </a:endParaRPr>
          </a:p>
        </p:txBody>
      </p:sp>
      <p:pic>
        <p:nvPicPr>
          <p:cNvPr id="5" name="Picture 4">
            <a:extLst>
              <a:ext uri="{FF2B5EF4-FFF2-40B4-BE49-F238E27FC236}">
                <a16:creationId xmlns:a16="http://schemas.microsoft.com/office/drawing/2014/main" id="{2E1A47ED-6C3F-7CC0-DF7A-B6B547A4B718}"/>
              </a:ext>
            </a:extLst>
          </p:cNvPr>
          <p:cNvPicPr>
            <a:picLocks noChangeAspect="1"/>
          </p:cNvPicPr>
          <p:nvPr/>
        </p:nvPicPr>
        <p:blipFill>
          <a:blip r:embed="rId2"/>
          <a:stretch>
            <a:fillRect/>
          </a:stretch>
        </p:blipFill>
        <p:spPr>
          <a:xfrm>
            <a:off x="5833874" y="1862101"/>
            <a:ext cx="5288823" cy="4368578"/>
          </a:xfrm>
          <a:prstGeom prst="rect">
            <a:avLst/>
          </a:prstGeom>
          <a:effectLst>
            <a:outerShdw blurRad="50800" dist="38100" dir="2700000" algn="tl" rotWithShape="0">
              <a:prstClr val="black">
                <a:alpha val="40000"/>
              </a:prstClr>
            </a:outerShdw>
          </a:effectLst>
        </p:spPr>
      </p:pic>
      <p:sp>
        <p:nvSpPr>
          <p:cNvPr id="7" name="TextBox 6">
            <a:extLst>
              <a:ext uri="{FF2B5EF4-FFF2-40B4-BE49-F238E27FC236}">
                <a16:creationId xmlns:a16="http://schemas.microsoft.com/office/drawing/2014/main" id="{6C610ABD-768E-7CAD-8302-CC9AE85CA7FB}"/>
              </a:ext>
            </a:extLst>
          </p:cNvPr>
          <p:cNvSpPr txBox="1"/>
          <p:nvPr/>
        </p:nvSpPr>
        <p:spPr>
          <a:xfrm>
            <a:off x="888610" y="1862101"/>
            <a:ext cx="4672218" cy="2369880"/>
          </a:xfrm>
          <a:prstGeom prst="rect">
            <a:avLst/>
          </a:prstGeom>
          <a:noFill/>
        </p:spPr>
        <p:txBody>
          <a:bodyPr wrap="square">
            <a:spAutoFit/>
          </a:bodyPr>
          <a:lstStyle/>
          <a:p>
            <a:r>
              <a:rPr lang="en-US" sz="2800" dirty="0" err="1">
                <a:solidFill>
                  <a:srgbClr val="94573F"/>
                </a:solidFill>
                <a:latin typeface="Georgia" panose="02040502050405020303" pitchFamily="18" charset="0"/>
              </a:rPr>
              <a:t>Anaonda’s</a:t>
            </a:r>
            <a:r>
              <a:rPr lang="en-US" sz="2800" dirty="0">
                <a:solidFill>
                  <a:srgbClr val="94573F"/>
                </a:solidFill>
                <a:latin typeface="Georgia" panose="02040502050405020303" pitchFamily="18" charset="0"/>
              </a:rPr>
              <a:t> </a:t>
            </a:r>
            <a:r>
              <a:rPr lang="en-US" sz="2800" i="1" dirty="0" err="1">
                <a:solidFill>
                  <a:srgbClr val="94573F"/>
                </a:solidFill>
                <a:latin typeface="Georgia" panose="02040502050405020303" pitchFamily="18" charset="0"/>
              </a:rPr>
              <a:t>conda</a:t>
            </a:r>
            <a:r>
              <a:rPr lang="en-US" sz="2800" dirty="0">
                <a:solidFill>
                  <a:srgbClr val="94573F"/>
                </a:solidFill>
                <a:latin typeface="Georgia" panose="02040502050405020303" pitchFamily="18" charset="0"/>
              </a:rPr>
              <a:t> and </a:t>
            </a:r>
            <a:r>
              <a:rPr lang="en-US" sz="2800" i="1" dirty="0" err="1">
                <a:solidFill>
                  <a:srgbClr val="94573F"/>
                </a:solidFill>
                <a:latin typeface="Georgia" panose="02040502050405020303" pitchFamily="18" charset="0"/>
              </a:rPr>
              <a:t>conda</a:t>
            </a:r>
            <a:r>
              <a:rPr lang="en-US" sz="2800" i="1" dirty="0">
                <a:solidFill>
                  <a:srgbClr val="94573F"/>
                </a:solidFill>
                <a:latin typeface="Georgia" panose="02040502050405020303" pitchFamily="18" charset="0"/>
              </a:rPr>
              <a:t>-forge </a:t>
            </a:r>
            <a:r>
              <a:rPr lang="en-US" sz="2800" dirty="0">
                <a:solidFill>
                  <a:srgbClr val="94573F"/>
                </a:solidFill>
                <a:latin typeface="Georgia" panose="02040502050405020303" pitchFamily="18" charset="0"/>
              </a:rPr>
              <a:t>repos host around 28k packages</a:t>
            </a:r>
          </a:p>
          <a:p>
            <a:endParaRPr lang="en-US" sz="2800" i="1" dirty="0">
              <a:solidFill>
                <a:srgbClr val="94573F"/>
              </a:solidFill>
              <a:latin typeface="Georgia" panose="02040502050405020303" pitchFamily="18" charset="0"/>
            </a:endParaRPr>
          </a:p>
          <a:p>
            <a:r>
              <a:rPr lang="en-US" dirty="0">
                <a:solidFill>
                  <a:srgbClr val="94573F"/>
                </a:solidFill>
                <a:latin typeface="Georgia" panose="02040502050405020303" pitchFamily="18" charset="0"/>
                <a:hlinkClick r:id="rId3"/>
              </a:rPr>
              <a:t>https://anaconda.org/anaconda</a:t>
            </a:r>
            <a:r>
              <a:rPr lang="en-US" dirty="0">
                <a:solidFill>
                  <a:srgbClr val="94573F"/>
                </a:solidFill>
                <a:latin typeface="Georgia" panose="02040502050405020303" pitchFamily="18" charset="0"/>
              </a:rPr>
              <a:t>    :   3,399</a:t>
            </a:r>
          </a:p>
          <a:p>
            <a:r>
              <a:rPr lang="en-US" dirty="0">
                <a:solidFill>
                  <a:srgbClr val="94573F"/>
                </a:solidFill>
                <a:latin typeface="Georgia" panose="02040502050405020303" pitchFamily="18" charset="0"/>
                <a:hlinkClick r:id="rId4"/>
              </a:rPr>
              <a:t>https://anaconda.org/conda-forge</a:t>
            </a:r>
            <a:r>
              <a:rPr lang="en-US" dirty="0">
                <a:solidFill>
                  <a:srgbClr val="94573F"/>
                </a:solidFill>
                <a:latin typeface="Georgia" panose="02040502050405020303" pitchFamily="18" charset="0"/>
              </a:rPr>
              <a:t>: 24,421</a:t>
            </a:r>
            <a:endParaRPr lang="en-US" dirty="0">
              <a:latin typeface="Georgia" panose="02040502050405020303" pitchFamily="18" charset="0"/>
            </a:endParaRPr>
          </a:p>
        </p:txBody>
      </p:sp>
    </p:spTree>
    <p:extLst>
      <p:ext uri="{BB962C8B-B14F-4D97-AF65-F5344CB8AC3E}">
        <p14:creationId xmlns:p14="http://schemas.microsoft.com/office/powerpoint/2010/main" val="20407553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6D567F-B26D-0564-EDA8-9A47C2CF13A7}"/>
              </a:ext>
            </a:extLst>
          </p:cNvPr>
          <p:cNvSpPr>
            <a:spLocks noGrp="1"/>
          </p:cNvSpPr>
          <p:nvPr>
            <p:ph type="title"/>
          </p:nvPr>
        </p:nvSpPr>
        <p:spPr/>
        <p:txBody>
          <a:bodyPr>
            <a:normAutofit fontScale="90000"/>
          </a:bodyPr>
          <a:lstStyle/>
          <a:p>
            <a:r>
              <a:rPr lang="en-US" i="1" dirty="0" err="1"/>
              <a:t>conda</a:t>
            </a:r>
            <a:r>
              <a:rPr lang="en-US" dirty="0"/>
              <a:t> is </a:t>
            </a:r>
            <a:r>
              <a:rPr lang="en-US" dirty="0">
                <a:solidFill>
                  <a:schemeClr val="accent6">
                    <a:lumMod val="40000"/>
                    <a:lumOff val="60000"/>
                  </a:schemeClr>
                </a:solidFill>
              </a:rPr>
              <a:t>(currently) </a:t>
            </a:r>
            <a:r>
              <a:rPr lang="en-US" dirty="0"/>
              <a:t>the premier package </a:t>
            </a:r>
            <a:r>
              <a:rPr lang="en-US" dirty="0">
                <a:solidFill>
                  <a:schemeClr val="accent6">
                    <a:lumMod val="40000"/>
                    <a:lumOff val="60000"/>
                  </a:schemeClr>
                </a:solidFill>
              </a:rPr>
              <a:t>(and environment)</a:t>
            </a:r>
            <a:r>
              <a:rPr lang="en-US" dirty="0"/>
              <a:t> manager for data scientists</a:t>
            </a:r>
            <a:endParaRPr lang="en-US" i="1" dirty="0"/>
          </a:p>
        </p:txBody>
      </p:sp>
      <p:sp>
        <p:nvSpPr>
          <p:cNvPr id="3" name="TextBox 2">
            <a:extLst>
              <a:ext uri="{FF2B5EF4-FFF2-40B4-BE49-F238E27FC236}">
                <a16:creationId xmlns:a16="http://schemas.microsoft.com/office/drawing/2014/main" id="{BCE278B8-6EAB-0D7C-60D4-27ADEE0B7104}"/>
              </a:ext>
            </a:extLst>
          </p:cNvPr>
          <p:cNvSpPr txBox="1"/>
          <p:nvPr/>
        </p:nvSpPr>
        <p:spPr>
          <a:xfrm>
            <a:off x="838200" y="1827801"/>
            <a:ext cx="10825976" cy="4524315"/>
          </a:xfrm>
          <a:prstGeom prst="rect">
            <a:avLst/>
          </a:prstGeom>
          <a:noFill/>
        </p:spPr>
        <p:txBody>
          <a:bodyPr wrap="square" rtlCol="0">
            <a:spAutoFit/>
          </a:bodyPr>
          <a:lstStyle/>
          <a:p>
            <a:r>
              <a:rPr lang="en-US" dirty="0">
                <a:solidFill>
                  <a:srgbClr val="236356"/>
                </a:solidFill>
                <a:latin typeface="Georgia" panose="02040502050405020303" pitchFamily="18" charset="0"/>
              </a:rPr>
              <a:t>Unlike </a:t>
            </a:r>
            <a:r>
              <a:rPr lang="en-US" i="1" dirty="0">
                <a:solidFill>
                  <a:srgbClr val="236356"/>
                </a:solidFill>
                <a:latin typeface="Georgia" panose="02040502050405020303" pitchFamily="18" charset="0"/>
              </a:rPr>
              <a:t>pip</a:t>
            </a:r>
            <a:r>
              <a:rPr lang="en-US" dirty="0">
                <a:solidFill>
                  <a:srgbClr val="236356"/>
                </a:solidFill>
                <a:latin typeface="Georgia" panose="02040502050405020303" pitchFamily="18" charset="0"/>
              </a:rPr>
              <a:t>, it can install packages of </a:t>
            </a:r>
            <a:r>
              <a:rPr lang="en-US" i="1" dirty="0">
                <a:solidFill>
                  <a:srgbClr val="236356"/>
                </a:solidFill>
                <a:latin typeface="Georgia" panose="02040502050405020303" pitchFamily="18" charset="0"/>
              </a:rPr>
              <a:t>any</a:t>
            </a:r>
            <a:r>
              <a:rPr lang="en-US" dirty="0">
                <a:solidFill>
                  <a:srgbClr val="236356"/>
                </a:solidFill>
                <a:latin typeface="Georgia" panose="02040502050405020303" pitchFamily="18" charset="0"/>
              </a:rPr>
              <a:t> language. In that sense, it is closer to </a:t>
            </a:r>
            <a:r>
              <a:rPr lang="en-US" dirty="0">
                <a:solidFill>
                  <a:srgbClr val="236356"/>
                </a:solidFill>
                <a:latin typeface="Consolas" panose="020B0609020204030204" pitchFamily="49" charset="0"/>
              </a:rPr>
              <a:t>apt/brew/chocolatey</a:t>
            </a:r>
            <a:r>
              <a:rPr lang="en-US" dirty="0">
                <a:solidFill>
                  <a:srgbClr val="236356"/>
                </a:solidFill>
                <a:latin typeface="Georgia" panose="02040502050405020303" pitchFamily="18" charset="0"/>
              </a:rPr>
              <a:t>.</a:t>
            </a:r>
          </a:p>
          <a:p>
            <a:endParaRPr lang="en-US" b="0" dirty="0">
              <a:solidFill>
                <a:srgbClr val="236356"/>
              </a:solidFill>
              <a:effectLst/>
              <a:latin typeface="Georgia" panose="02040502050405020303" pitchFamily="18" charset="0"/>
            </a:endParaRPr>
          </a:p>
          <a:p>
            <a:r>
              <a:rPr lang="en-US" dirty="0">
                <a:solidFill>
                  <a:srgbClr val="236356"/>
                </a:solidFill>
                <a:latin typeface="Georgia" panose="02040502050405020303" pitchFamily="18" charset="0"/>
              </a:rPr>
              <a:t>It can manage non-python dependencies, such as </a:t>
            </a:r>
            <a:r>
              <a:rPr lang="en-US" dirty="0" err="1">
                <a:solidFill>
                  <a:srgbClr val="236356"/>
                </a:solidFill>
                <a:latin typeface="Georgia" panose="02040502050405020303" pitchFamily="18" charset="0"/>
              </a:rPr>
              <a:t>numpy’s</a:t>
            </a:r>
            <a:r>
              <a:rPr lang="en-US" dirty="0">
                <a:solidFill>
                  <a:srgbClr val="236356"/>
                </a:solidFill>
                <a:latin typeface="Georgia" panose="02040502050405020303" pitchFamily="18" charset="0"/>
              </a:rPr>
              <a:t> </a:t>
            </a:r>
            <a:r>
              <a:rPr lang="en-US" i="1" dirty="0">
                <a:solidFill>
                  <a:srgbClr val="236356"/>
                </a:solidFill>
                <a:latin typeface="Georgia" panose="02040502050405020303" pitchFamily="18" charset="0"/>
              </a:rPr>
              <a:t>c</a:t>
            </a:r>
            <a:r>
              <a:rPr lang="en-US" dirty="0">
                <a:solidFill>
                  <a:srgbClr val="236356"/>
                </a:solidFill>
                <a:latin typeface="Georgia" panose="02040502050405020303" pitchFamily="18" charset="0"/>
              </a:rPr>
              <a:t> based libraries (although </a:t>
            </a:r>
            <a:r>
              <a:rPr lang="en-US" i="1" dirty="0">
                <a:solidFill>
                  <a:srgbClr val="236356"/>
                </a:solidFill>
                <a:latin typeface="Georgia" panose="02040502050405020303" pitchFamily="18" charset="0"/>
              </a:rPr>
              <a:t>pip</a:t>
            </a:r>
            <a:r>
              <a:rPr lang="en-US" dirty="0">
                <a:solidFill>
                  <a:srgbClr val="236356"/>
                </a:solidFill>
                <a:latin typeface="Georgia" panose="02040502050405020303" pitchFamily="18" charset="0"/>
              </a:rPr>
              <a:t> can also do this now)</a:t>
            </a:r>
          </a:p>
          <a:p>
            <a:endParaRPr lang="en-US" b="0" dirty="0">
              <a:solidFill>
                <a:srgbClr val="236356"/>
              </a:solidFill>
              <a:effectLst/>
              <a:latin typeface="Georgia" panose="02040502050405020303" pitchFamily="18" charset="0"/>
            </a:endParaRPr>
          </a:p>
          <a:p>
            <a:r>
              <a:rPr lang="en-US" dirty="0">
                <a:solidFill>
                  <a:srgbClr val="236356"/>
                </a:solidFill>
                <a:latin typeface="Georgia" panose="02040502050405020303" pitchFamily="18" charset="0"/>
              </a:rPr>
              <a:t>It has a </a:t>
            </a:r>
            <a:r>
              <a:rPr lang="en-US" i="1" dirty="0">
                <a:solidFill>
                  <a:srgbClr val="236356"/>
                </a:solidFill>
                <a:latin typeface="Georgia" panose="02040502050405020303" pitchFamily="18" charset="0"/>
              </a:rPr>
              <a:t>very </a:t>
            </a:r>
            <a:r>
              <a:rPr lang="en-US" dirty="0">
                <a:solidFill>
                  <a:srgbClr val="236356"/>
                </a:solidFill>
                <a:latin typeface="Georgia" panose="02040502050405020303" pitchFamily="18" charset="0"/>
              </a:rPr>
              <a:t>powerful solver. When you install packages </a:t>
            </a:r>
          </a:p>
          <a:p>
            <a:r>
              <a:rPr lang="en-US" dirty="0" err="1">
                <a:solidFill>
                  <a:srgbClr val="236356"/>
                </a:solidFill>
                <a:latin typeface="Consolas" panose="020B0609020204030204" pitchFamily="49" charset="0"/>
              </a:rPr>
              <a:t>conda</a:t>
            </a:r>
            <a:r>
              <a:rPr lang="en-US" dirty="0">
                <a:solidFill>
                  <a:srgbClr val="236356"/>
                </a:solidFill>
                <a:latin typeface="Consolas" panose="020B0609020204030204" pitchFamily="49" charset="0"/>
              </a:rPr>
              <a:t> install </a:t>
            </a:r>
            <a:r>
              <a:rPr lang="en-US" dirty="0" err="1">
                <a:solidFill>
                  <a:srgbClr val="236356"/>
                </a:solidFill>
                <a:latin typeface="Consolas" panose="020B0609020204030204" pitchFamily="49" charset="0"/>
              </a:rPr>
              <a:t>package_a</a:t>
            </a:r>
            <a:r>
              <a:rPr lang="en-US" dirty="0">
                <a:solidFill>
                  <a:srgbClr val="236356"/>
                </a:solidFill>
                <a:latin typeface="Consolas" panose="020B0609020204030204" pitchFamily="49" charset="0"/>
              </a:rPr>
              <a:t> </a:t>
            </a:r>
            <a:r>
              <a:rPr lang="en-US" dirty="0" err="1">
                <a:solidFill>
                  <a:srgbClr val="236356"/>
                </a:solidFill>
                <a:latin typeface="Consolas" panose="020B0609020204030204" pitchFamily="49" charset="0"/>
              </a:rPr>
              <a:t>package_b</a:t>
            </a:r>
            <a:r>
              <a:rPr lang="en-US" dirty="0">
                <a:solidFill>
                  <a:srgbClr val="236356"/>
                </a:solidFill>
                <a:latin typeface="Consolas" panose="020B0609020204030204" pitchFamily="49" charset="0"/>
              </a:rPr>
              <a:t> </a:t>
            </a:r>
            <a:r>
              <a:rPr lang="en-US" dirty="0" err="1">
                <a:solidFill>
                  <a:srgbClr val="236356"/>
                </a:solidFill>
                <a:latin typeface="Consolas" panose="020B0609020204030204" pitchFamily="49" charset="0"/>
              </a:rPr>
              <a:t>package_c</a:t>
            </a:r>
            <a:endParaRPr lang="en-US" dirty="0">
              <a:solidFill>
                <a:srgbClr val="236356"/>
              </a:solidFill>
              <a:latin typeface="Consolas" panose="020B0609020204030204" pitchFamily="49" charset="0"/>
            </a:endParaRPr>
          </a:p>
          <a:p>
            <a:endParaRPr lang="en-US" dirty="0">
              <a:solidFill>
                <a:srgbClr val="236356"/>
              </a:solidFill>
              <a:latin typeface="Georgia" panose="02040502050405020303" pitchFamily="18" charset="0"/>
            </a:endParaRPr>
          </a:p>
          <a:p>
            <a:r>
              <a:rPr lang="en-US" dirty="0">
                <a:solidFill>
                  <a:srgbClr val="236356"/>
                </a:solidFill>
                <a:latin typeface="Georgia" panose="02040502050405020303" pitchFamily="18" charset="0"/>
              </a:rPr>
              <a:t>It will make sure all three packages can work with existing libraries in the environment, they can work with each other and </a:t>
            </a:r>
            <a:r>
              <a:rPr lang="en-US" i="1" dirty="0">
                <a:solidFill>
                  <a:srgbClr val="236356"/>
                </a:solidFill>
                <a:latin typeface="Georgia" panose="02040502050405020303" pitchFamily="18" charset="0"/>
              </a:rPr>
              <a:t>all</a:t>
            </a:r>
            <a:r>
              <a:rPr lang="en-US" dirty="0">
                <a:solidFill>
                  <a:srgbClr val="236356"/>
                </a:solidFill>
                <a:latin typeface="Georgia" panose="02040502050405020303" pitchFamily="18" charset="0"/>
              </a:rPr>
              <a:t> dependencies can work with all other dependencies! You are less likely to have version mismatch issues.</a:t>
            </a:r>
          </a:p>
          <a:p>
            <a:endParaRPr lang="en-US" b="1" dirty="0">
              <a:solidFill>
                <a:srgbClr val="236356"/>
              </a:solidFill>
              <a:latin typeface="Georgia" panose="02040502050405020303" pitchFamily="18" charset="0"/>
            </a:endParaRPr>
          </a:p>
          <a:p>
            <a:r>
              <a:rPr lang="en-US" sz="1800" dirty="0">
                <a:solidFill>
                  <a:srgbClr val="94573F"/>
                </a:solidFill>
                <a:latin typeface="Georgia" panose="02040502050405020303" pitchFamily="18" charset="0"/>
              </a:rPr>
              <a:t>Caveats</a:t>
            </a:r>
            <a:endParaRPr lang="en-US" dirty="0">
              <a:solidFill>
                <a:srgbClr val="236356"/>
              </a:solidFill>
              <a:latin typeface="Georgia" panose="02040502050405020303" pitchFamily="18" charset="0"/>
            </a:endParaRPr>
          </a:p>
          <a:p>
            <a:r>
              <a:rPr lang="en-US" b="1" dirty="0">
                <a:solidFill>
                  <a:srgbClr val="236356"/>
                </a:solidFill>
                <a:latin typeface="Georgia" panose="02040502050405020303" pitchFamily="18" charset="0"/>
              </a:rPr>
              <a:t>Sometimes dependency resolution can result in </a:t>
            </a:r>
            <a:r>
              <a:rPr lang="en-US" b="1" i="1" dirty="0">
                <a:solidFill>
                  <a:srgbClr val="236356"/>
                </a:solidFill>
                <a:latin typeface="Georgia" panose="02040502050405020303" pitchFamily="18" charset="0"/>
              </a:rPr>
              <a:t>extremely</a:t>
            </a:r>
            <a:r>
              <a:rPr lang="en-US" b="1" dirty="0">
                <a:solidFill>
                  <a:srgbClr val="236356"/>
                </a:solidFill>
                <a:latin typeface="Georgia" panose="02040502050405020303" pitchFamily="18" charset="0"/>
              </a:rPr>
              <a:t> (unbearably) long wait times to install packages</a:t>
            </a:r>
            <a:r>
              <a:rPr lang="en-US" b="1" i="1" dirty="0">
                <a:solidFill>
                  <a:srgbClr val="236356"/>
                </a:solidFill>
                <a:latin typeface="Georgia" panose="02040502050405020303" pitchFamily="18" charset="0"/>
              </a:rPr>
              <a:t>. </a:t>
            </a:r>
            <a:r>
              <a:rPr lang="en-US" dirty="0">
                <a:solidFill>
                  <a:srgbClr val="236356"/>
                </a:solidFill>
                <a:latin typeface="Georgia" panose="02040502050405020303" pitchFamily="18" charset="0"/>
              </a:rPr>
              <a:t>So much so that a new project has started up: </a:t>
            </a:r>
            <a:r>
              <a:rPr lang="en-US" i="1" dirty="0">
                <a:solidFill>
                  <a:srgbClr val="236356"/>
                </a:solidFill>
                <a:latin typeface="Georgia" panose="02040502050405020303" pitchFamily="18" charset="0"/>
              </a:rPr>
              <a:t>mamba</a:t>
            </a:r>
            <a:r>
              <a:rPr lang="en-US" dirty="0">
                <a:solidFill>
                  <a:srgbClr val="236356"/>
                </a:solidFill>
                <a:latin typeface="Georgia" panose="02040502050405020303" pitchFamily="18" charset="0"/>
              </a:rPr>
              <a:t> (</a:t>
            </a:r>
            <a:r>
              <a:rPr lang="en-US" dirty="0">
                <a:solidFill>
                  <a:srgbClr val="236356"/>
                </a:solidFill>
                <a:latin typeface="Georgia" panose="02040502050405020303" pitchFamily="18" charset="0"/>
                <a:hlinkClick r:id="rId2"/>
              </a:rPr>
              <a:t>https://github.com/mamba-org/mamba</a:t>
            </a:r>
            <a:r>
              <a:rPr lang="en-US" dirty="0">
                <a:solidFill>
                  <a:srgbClr val="236356"/>
                </a:solidFill>
                <a:latin typeface="Georgia" panose="02040502050405020303" pitchFamily="18" charset="0"/>
              </a:rPr>
              <a:t>). As of late 2023, some features of </a:t>
            </a:r>
            <a:r>
              <a:rPr lang="en-US" i="1" dirty="0">
                <a:solidFill>
                  <a:srgbClr val="236356"/>
                </a:solidFill>
                <a:latin typeface="Georgia" panose="02040502050405020303" pitchFamily="18" charset="0"/>
              </a:rPr>
              <a:t>mamba</a:t>
            </a:r>
            <a:r>
              <a:rPr lang="en-US" dirty="0">
                <a:solidFill>
                  <a:srgbClr val="236356"/>
                </a:solidFill>
                <a:latin typeface="Georgia" panose="02040502050405020303" pitchFamily="18" charset="0"/>
              </a:rPr>
              <a:t> have been included in </a:t>
            </a:r>
            <a:r>
              <a:rPr lang="en-US" dirty="0" err="1">
                <a:solidFill>
                  <a:srgbClr val="236356"/>
                </a:solidFill>
                <a:latin typeface="Georgia" panose="02040502050405020303" pitchFamily="18" charset="0"/>
              </a:rPr>
              <a:t>conda</a:t>
            </a:r>
            <a:r>
              <a:rPr lang="en-US" dirty="0">
                <a:solidFill>
                  <a:srgbClr val="236356"/>
                </a:solidFill>
                <a:latin typeface="Georgia" panose="02040502050405020303" pitchFamily="18" charset="0"/>
              </a:rPr>
              <a:t>.</a:t>
            </a:r>
            <a:endParaRPr lang="en-US" b="0" dirty="0">
              <a:solidFill>
                <a:srgbClr val="005661"/>
              </a:solidFill>
              <a:effectLst/>
              <a:latin typeface="Consolas" panose="020B0609020204030204" pitchFamily="49" charset="0"/>
            </a:endParaRPr>
          </a:p>
        </p:txBody>
      </p:sp>
    </p:spTree>
    <p:extLst>
      <p:ext uri="{BB962C8B-B14F-4D97-AF65-F5344CB8AC3E}">
        <p14:creationId xmlns:p14="http://schemas.microsoft.com/office/powerpoint/2010/main" val="42552973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7AAD5-C0C4-B5A9-281E-17536C013E13}"/>
              </a:ext>
            </a:extLst>
          </p:cNvPr>
          <p:cNvSpPr>
            <a:spLocks noGrp="1"/>
          </p:cNvSpPr>
          <p:nvPr>
            <p:ph type="title"/>
          </p:nvPr>
        </p:nvSpPr>
        <p:spPr/>
        <p:txBody>
          <a:bodyPr/>
          <a:lstStyle/>
          <a:p>
            <a:r>
              <a:rPr lang="en-US" i="1" dirty="0" err="1"/>
              <a:t>conda</a:t>
            </a:r>
            <a:r>
              <a:rPr lang="en-US" dirty="0"/>
              <a:t> downloads a  .</a:t>
            </a:r>
            <a:r>
              <a:rPr lang="en-US" dirty="0" err="1"/>
              <a:t>conda</a:t>
            </a:r>
            <a:r>
              <a:rPr lang="en-US" dirty="0"/>
              <a:t> file, which contains</a:t>
            </a:r>
            <a:endParaRPr lang="en-US" i="1" dirty="0"/>
          </a:p>
        </p:txBody>
      </p:sp>
      <p:sp>
        <p:nvSpPr>
          <p:cNvPr id="6" name="TextBox 5">
            <a:extLst>
              <a:ext uri="{FF2B5EF4-FFF2-40B4-BE49-F238E27FC236}">
                <a16:creationId xmlns:a16="http://schemas.microsoft.com/office/drawing/2014/main" id="{1945F9CE-952C-3038-6BD2-CC3EA9833001}"/>
              </a:ext>
            </a:extLst>
          </p:cNvPr>
          <p:cNvSpPr txBox="1"/>
          <p:nvPr/>
        </p:nvSpPr>
        <p:spPr>
          <a:xfrm>
            <a:off x="901478" y="1786628"/>
            <a:ext cx="10389043" cy="2008878"/>
          </a:xfrm>
          <a:prstGeom prst="rect">
            <a:avLst/>
          </a:prstGeom>
          <a:noFill/>
        </p:spPr>
        <p:txBody>
          <a:bodyPr wrap="square" numCol="2">
            <a:spAutoFit/>
          </a:bodyPr>
          <a:lstStyle/>
          <a:p>
            <a:r>
              <a:rPr lang="en-US" sz="800" b="1" dirty="0">
                <a:solidFill>
                  <a:srgbClr val="FF5792"/>
                </a:solidFill>
                <a:effectLst/>
                <a:latin typeface="Consolas" panose="020B0609020204030204" pitchFamily="49" charset="0"/>
              </a:rPr>
              <a:t>Actual code</a:t>
            </a: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app.py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blueprints.py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cli.py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config.py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ctx.py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debughelpers.py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globals.py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helpers.py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json</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json</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provider.py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json</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tag.py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json</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__init__.py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logging.py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py.typed</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sansio</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sansio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app.py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sansio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blueprints.py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sansio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README.md</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sansio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scaffold.py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sessions.py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signals.py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templating.py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testing.py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typing.py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views.py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wrappers.py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__init__.py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__main__.py</a:t>
            </a:r>
            <a:endParaRPr lang="en-US" sz="800" b="0" dirty="0">
              <a:solidFill>
                <a:srgbClr val="005661"/>
              </a:solidFill>
              <a:effectLst/>
              <a:latin typeface="Consolas" panose="020B0609020204030204" pitchFamily="49" charset="0"/>
            </a:endParaRPr>
          </a:p>
        </p:txBody>
      </p:sp>
      <p:sp>
        <p:nvSpPr>
          <p:cNvPr id="8" name="TextBox 7">
            <a:extLst>
              <a:ext uri="{FF2B5EF4-FFF2-40B4-BE49-F238E27FC236}">
                <a16:creationId xmlns:a16="http://schemas.microsoft.com/office/drawing/2014/main" id="{A1DCC6C0-2A54-2D45-B61E-55E3A447A177}"/>
              </a:ext>
            </a:extLst>
          </p:cNvPr>
          <p:cNvSpPr txBox="1"/>
          <p:nvPr/>
        </p:nvSpPr>
        <p:spPr>
          <a:xfrm>
            <a:off x="898497" y="4066933"/>
            <a:ext cx="11469093" cy="2308324"/>
          </a:xfrm>
          <a:prstGeom prst="rect">
            <a:avLst/>
          </a:prstGeom>
          <a:noFill/>
        </p:spPr>
        <p:txBody>
          <a:bodyPr wrap="square" numCol="2">
            <a:spAutoFit/>
          </a:bodyPr>
          <a:lstStyle/>
          <a:p>
            <a:r>
              <a:rPr lang="en-US" sz="800" b="1" dirty="0">
                <a:solidFill>
                  <a:srgbClr val="FF5792"/>
                </a:solidFill>
                <a:effectLst/>
                <a:latin typeface="Consolas" panose="020B0609020204030204" pitchFamily="49" charset="0"/>
              </a:rPr>
              <a:t>Meta-data</a:t>
            </a: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about.json</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files</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git</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hash_input.json</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index.json</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link.json</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paths.json</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recipe</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recipe</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conda_build_config.yaml</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recipe</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meta.yaml</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recipe</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meta.yaml.template</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recipe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recipe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scripts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license.txt</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test</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test</a:t>
            </a:r>
            <a:r>
              <a:rPr lang="en-US" sz="800" b="1" dirty="0">
                <a:solidFill>
                  <a:srgbClr val="FF5792"/>
                </a:solidFill>
                <a:effectLst/>
                <a:latin typeface="Consolas" panose="020B0609020204030204" pitchFamily="49" charset="0"/>
              </a:rPr>
              <a:t>/</a:t>
            </a:r>
            <a:r>
              <a:rPr lang="en-US" sz="800" b="0" dirty="0">
                <a:solidFill>
                  <a:srgbClr val="00BDD6"/>
                </a:solidFill>
                <a:effectLst/>
                <a:latin typeface="Consolas" panose="020B0609020204030204" pitchFamily="49" charset="0"/>
              </a:rPr>
              <a:t>run_test.bat</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test</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run_test.py</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test</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run_test.sh</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test</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test_time_dependencies.json</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1"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1"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1" dirty="0">
                <a:solidFill>
                  <a:srgbClr val="5842FF"/>
                </a:solidFill>
                <a:effectLst/>
                <a:latin typeface="Consolas" panose="020B0609020204030204" pitchFamily="49" charset="0"/>
              </a:rPr>
              <a:t>3.0</a:t>
            </a:r>
            <a:r>
              <a:rPr lang="en-US" sz="800" b="1" dirty="0">
                <a:solidFill>
                  <a:srgbClr val="FA8900"/>
                </a:solidFill>
                <a:effectLst/>
                <a:latin typeface="Consolas" panose="020B0609020204030204" pitchFamily="49" charset="0"/>
              </a:rPr>
              <a:t>.</a:t>
            </a:r>
            <a:r>
              <a:rPr lang="en-US" sz="800" b="1"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1" dirty="0">
                <a:solidFill>
                  <a:srgbClr val="FA8900"/>
                </a:solidFill>
                <a:effectLst/>
                <a:latin typeface="Consolas" panose="020B0609020204030204" pitchFamily="49" charset="0"/>
              </a:rPr>
              <a:t>pyhd8ed1ab_0.tar.zst</a:t>
            </a:r>
            <a:endParaRPr lang="en-US" sz="800" b="1"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metadata.json</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licenses</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licenses</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LICENSE.rst</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0" dirty="0">
                <a:solidFill>
                  <a:srgbClr val="FA8900"/>
                </a:solidFill>
                <a:effectLst/>
                <a:latin typeface="Consolas" panose="020B0609020204030204" pitchFamily="49" charset="0"/>
              </a:rPr>
              <a:t>dist</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0" dirty="0">
                <a:solidFill>
                  <a:srgbClr val="FA8900"/>
                </a:solidFill>
                <a:effectLst/>
                <a:latin typeface="Consolas" panose="020B0609020204030204" pitchFamily="49" charset="0"/>
              </a:rPr>
              <a:t>dist</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direct_url.json</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0" dirty="0">
                <a:solidFill>
                  <a:srgbClr val="FA8900"/>
                </a:solidFill>
                <a:effectLst/>
                <a:latin typeface="Consolas" panose="020B0609020204030204" pitchFamily="49" charset="0"/>
              </a:rPr>
              <a:t>dist</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entry_points.txt</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0" dirty="0">
                <a:solidFill>
                  <a:srgbClr val="FA8900"/>
                </a:solidFill>
                <a:effectLst/>
                <a:latin typeface="Consolas" panose="020B0609020204030204" pitchFamily="49" charset="0"/>
              </a:rPr>
              <a:t>dist</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INSTALLER</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0" dirty="0">
                <a:solidFill>
                  <a:srgbClr val="FA8900"/>
                </a:solidFill>
                <a:effectLst/>
                <a:latin typeface="Consolas" panose="020B0609020204030204" pitchFamily="49" charset="0"/>
              </a:rPr>
              <a:t>dist</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err="1">
                <a:solidFill>
                  <a:srgbClr val="FA8900"/>
                </a:solidFill>
                <a:effectLst/>
                <a:latin typeface="Consolas" panose="020B0609020204030204" pitchFamily="49" charset="0"/>
              </a:rPr>
              <a:t>LICENSE.rst</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0" dirty="0">
                <a:solidFill>
                  <a:srgbClr val="FA8900"/>
                </a:solidFill>
                <a:effectLst/>
                <a:latin typeface="Consolas" panose="020B0609020204030204" pitchFamily="49" charset="0"/>
              </a:rPr>
              <a:t>dist</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METADATA</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0" dirty="0">
                <a:solidFill>
                  <a:srgbClr val="FA8900"/>
                </a:solidFill>
                <a:effectLst/>
                <a:latin typeface="Consolas" panose="020B0609020204030204" pitchFamily="49" charset="0"/>
              </a:rPr>
              <a:t>dist</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RECORD</a:t>
            </a:r>
            <a:endParaRPr lang="en-US" sz="800" b="0" dirty="0">
              <a:solidFill>
                <a:srgbClr val="005661"/>
              </a:solidFill>
              <a:effectLst/>
              <a:latin typeface="Consolas" panose="020B0609020204030204" pitchFamily="49" charset="0"/>
            </a:endParaRPr>
          </a:p>
          <a:p>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pkg</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pyhd8ed1ab_0</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site</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packages</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flask</a:t>
            </a:r>
            <a:r>
              <a:rPr lang="en-US" sz="800" b="1" dirty="0">
                <a:solidFill>
                  <a:srgbClr val="FF5792"/>
                </a:solidFill>
                <a:effectLst/>
                <a:latin typeface="Consolas" panose="020B0609020204030204" pitchFamily="49" charset="0"/>
              </a:rPr>
              <a:t>-</a:t>
            </a:r>
            <a:r>
              <a:rPr lang="en-US" sz="800" b="0" dirty="0">
                <a:solidFill>
                  <a:srgbClr val="5842FF"/>
                </a:solidFill>
                <a:effectLst/>
                <a:latin typeface="Consolas" panose="020B0609020204030204" pitchFamily="49" charset="0"/>
              </a:rPr>
              <a:t>3.0</a:t>
            </a:r>
            <a:r>
              <a:rPr lang="en-US" sz="800" b="0" dirty="0">
                <a:solidFill>
                  <a:srgbClr val="FA8900"/>
                </a:solidFill>
                <a:effectLst/>
                <a:latin typeface="Consolas" panose="020B0609020204030204" pitchFamily="49" charset="0"/>
              </a:rPr>
              <a:t>.</a:t>
            </a:r>
            <a:r>
              <a:rPr lang="en-US" sz="800" b="0" dirty="0">
                <a:solidFill>
                  <a:srgbClr val="5842FF"/>
                </a:solidFill>
                <a:effectLst/>
                <a:latin typeface="Consolas" panose="020B0609020204030204" pitchFamily="49" charset="0"/>
              </a:rPr>
              <a:t>2.</a:t>
            </a:r>
            <a:r>
              <a:rPr lang="en-US" sz="800" b="0" dirty="0">
                <a:solidFill>
                  <a:srgbClr val="FA8900"/>
                </a:solidFill>
                <a:effectLst/>
                <a:latin typeface="Consolas" panose="020B0609020204030204" pitchFamily="49" charset="0"/>
              </a:rPr>
              <a:t>dist</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info</a:t>
            </a:r>
            <a:r>
              <a:rPr lang="en-US" sz="800" b="1" dirty="0">
                <a:solidFill>
                  <a:srgbClr val="FF5792"/>
                </a:solidFill>
                <a:effectLst/>
                <a:latin typeface="Consolas" panose="020B0609020204030204" pitchFamily="49" charset="0"/>
              </a:rPr>
              <a:t>/</a:t>
            </a:r>
            <a:r>
              <a:rPr lang="en-US" sz="800" b="0" dirty="0">
                <a:solidFill>
                  <a:srgbClr val="FA8900"/>
                </a:solidFill>
                <a:effectLst/>
                <a:latin typeface="Consolas" panose="020B0609020204030204" pitchFamily="49" charset="0"/>
              </a:rPr>
              <a:t>REQUESTED</a:t>
            </a:r>
            <a:endParaRPr lang="en-US" sz="800" b="0" dirty="0">
              <a:solidFill>
                <a:srgbClr val="005661"/>
              </a:solidFill>
              <a:effectLst/>
              <a:latin typeface="Consolas" panose="020B0609020204030204" pitchFamily="49" charset="0"/>
            </a:endParaRPr>
          </a:p>
          <a:p>
            <a:endParaRPr lang="en-US" sz="800" b="1" dirty="0">
              <a:solidFill>
                <a:srgbClr val="FF5792"/>
              </a:solidFill>
              <a:effectLst/>
              <a:latin typeface="Consolas" panose="020B0609020204030204" pitchFamily="49" charset="0"/>
            </a:endParaRPr>
          </a:p>
        </p:txBody>
      </p:sp>
    </p:spTree>
    <p:extLst>
      <p:ext uri="{BB962C8B-B14F-4D97-AF65-F5344CB8AC3E}">
        <p14:creationId xmlns:p14="http://schemas.microsoft.com/office/powerpoint/2010/main" val="35312565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98DE3-A41E-42BF-B9A8-59A2761D5CAC}"/>
              </a:ext>
            </a:extLst>
          </p:cNvPr>
          <p:cNvSpPr>
            <a:spLocks noGrp="1"/>
          </p:cNvSpPr>
          <p:nvPr>
            <p:ph type="title"/>
          </p:nvPr>
        </p:nvSpPr>
        <p:spPr/>
        <p:txBody>
          <a:bodyPr/>
          <a:lstStyle/>
          <a:p>
            <a:r>
              <a:rPr lang="en-US" dirty="0"/>
              <a:t>.</a:t>
            </a:r>
            <a:r>
              <a:rPr lang="en-US" dirty="0" err="1"/>
              <a:t>conda</a:t>
            </a:r>
            <a:r>
              <a:rPr lang="en-US" dirty="0"/>
              <a:t> vs pip’s .</a:t>
            </a:r>
            <a:r>
              <a:rPr lang="en-US" dirty="0" err="1"/>
              <a:t>whl</a:t>
            </a:r>
            <a:r>
              <a:rPr lang="en-US" dirty="0"/>
              <a:t> file</a:t>
            </a:r>
          </a:p>
        </p:txBody>
      </p:sp>
      <p:graphicFrame>
        <p:nvGraphicFramePr>
          <p:cNvPr id="9" name="Table 8">
            <a:extLst>
              <a:ext uri="{FF2B5EF4-FFF2-40B4-BE49-F238E27FC236}">
                <a16:creationId xmlns:a16="http://schemas.microsoft.com/office/drawing/2014/main" id="{40DF6660-5365-3CE2-4578-4B98C83C269F}"/>
              </a:ext>
            </a:extLst>
          </p:cNvPr>
          <p:cNvGraphicFramePr>
            <a:graphicFrameLocks noGrp="1"/>
          </p:cNvGraphicFramePr>
          <p:nvPr>
            <p:extLst>
              <p:ext uri="{D42A27DB-BD31-4B8C-83A1-F6EECF244321}">
                <p14:modId xmlns:p14="http://schemas.microsoft.com/office/powerpoint/2010/main" val="3391821978"/>
              </p:ext>
            </p:extLst>
          </p:nvPr>
        </p:nvGraphicFramePr>
        <p:xfrm>
          <a:off x="4750420" y="1357583"/>
          <a:ext cx="6927230" cy="5133856"/>
        </p:xfrm>
        <a:graphic>
          <a:graphicData uri="http://schemas.openxmlformats.org/drawingml/2006/table">
            <a:tbl>
              <a:tblPr/>
              <a:tblGrid>
                <a:gridCol w="4682041">
                  <a:extLst>
                    <a:ext uri="{9D8B030D-6E8A-4147-A177-3AD203B41FA5}">
                      <a16:colId xmlns:a16="http://schemas.microsoft.com/office/drawing/2014/main" val="386791014"/>
                    </a:ext>
                  </a:extLst>
                </a:gridCol>
                <a:gridCol w="2245189">
                  <a:extLst>
                    <a:ext uri="{9D8B030D-6E8A-4147-A177-3AD203B41FA5}">
                      <a16:colId xmlns:a16="http://schemas.microsoft.com/office/drawing/2014/main" val="854708725"/>
                    </a:ext>
                  </a:extLst>
                </a:gridCol>
              </a:tblGrid>
              <a:tr h="65929">
                <a:tc>
                  <a:txBody>
                    <a:bodyPr/>
                    <a:lstStyle/>
                    <a:p>
                      <a:pPr algn="l" fontAlgn="ctr"/>
                      <a:r>
                        <a:rPr lang="en-US" sz="800" b="0" i="0" u="none" strike="noStrike" dirty="0">
                          <a:solidFill>
                            <a:srgbClr val="FA8900"/>
                          </a:solidFill>
                          <a:effectLst/>
                          <a:latin typeface="Consolas" panose="020B0609020204030204" pitchFamily="49" charset="0"/>
                        </a:rPr>
                        <a:t>CONDA code</a:t>
                      </a:r>
                    </a:p>
                  </a:txBody>
                  <a:tcPr marL="3296" marR="3296" marT="3296" marB="0" anchor="ctr">
                    <a:lnL>
                      <a:noFill/>
                    </a:lnL>
                    <a:lnR>
                      <a:noFill/>
                    </a:lnR>
                    <a:lnT>
                      <a:noFill/>
                    </a:lnT>
                    <a:lnB>
                      <a:noFill/>
                    </a:lnB>
                    <a:noFill/>
                  </a:tcPr>
                </a:tc>
                <a:tc>
                  <a:txBody>
                    <a:bodyPr/>
                    <a:lstStyle/>
                    <a:p>
                      <a:pPr algn="l" fontAlgn="ctr"/>
                      <a:r>
                        <a:rPr lang="en-US" sz="800" b="0" i="0" u="none" strike="noStrike" dirty="0">
                          <a:solidFill>
                            <a:srgbClr val="FA8900"/>
                          </a:solidFill>
                          <a:effectLst/>
                          <a:latin typeface="Consolas" panose="020B0609020204030204" pitchFamily="49" charset="0"/>
                        </a:rPr>
                        <a:t>PIP</a:t>
                      </a:r>
                    </a:p>
                  </a:txBody>
                  <a:tcPr marL="3296" marR="3296" marT="3296" marB="0" anchor="ctr">
                    <a:lnL>
                      <a:noFill/>
                    </a:lnL>
                    <a:lnR>
                      <a:noFill/>
                    </a:lnR>
                    <a:lnT>
                      <a:noFill/>
                    </a:lnT>
                    <a:lnB>
                      <a:noFill/>
                    </a:lnB>
                    <a:noFill/>
                  </a:tcPr>
                </a:tc>
                <a:extLst>
                  <a:ext uri="{0D108BD9-81ED-4DB2-BD59-A6C34878D82A}">
                    <a16:rowId xmlns:a16="http://schemas.microsoft.com/office/drawing/2014/main" val="3492629824"/>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a:t>
                      </a:r>
                    </a:p>
                  </a:txBody>
                  <a:tcPr marL="3296" marR="3296" marT="3296" marB="0" anchor="b">
                    <a:lnL>
                      <a:noFill/>
                    </a:lnL>
                    <a:lnR>
                      <a:noFill/>
                    </a:lnR>
                    <a:lnT>
                      <a:noFill/>
                    </a:lnT>
                    <a:lnB>
                      <a:noFill/>
                    </a:lnB>
                    <a:noFill/>
                  </a:tcPr>
                </a:tc>
                <a:extLst>
                  <a:ext uri="{0D108BD9-81ED-4DB2-BD59-A6C34878D82A}">
                    <a16:rowId xmlns:a16="http://schemas.microsoft.com/office/drawing/2014/main" val="2404969374"/>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/flask/__init__.py</a:t>
                      </a:r>
                    </a:p>
                  </a:txBody>
                  <a:tcPr marL="3296" marR="3296" marT="3296" marB="0" anchor="b">
                    <a:lnL>
                      <a:noFill/>
                    </a:lnL>
                    <a:lnR>
                      <a:noFill/>
                    </a:lnR>
                    <a:lnT>
                      <a:noFill/>
                    </a:lnT>
                    <a:lnB>
                      <a:noFill/>
                    </a:lnB>
                    <a:noFill/>
                  </a:tcPr>
                </a:tc>
                <a:extLst>
                  <a:ext uri="{0D108BD9-81ED-4DB2-BD59-A6C34878D82A}">
                    <a16:rowId xmlns:a16="http://schemas.microsoft.com/office/drawing/2014/main" val="4194114171"/>
                  </a:ext>
                </a:extLst>
              </a:tr>
              <a:tr h="65929">
                <a:tc>
                  <a:txBody>
                    <a:bodyPr/>
                    <a:lstStyle/>
                    <a:p>
                      <a:pPr algn="l" fontAlgn="ctr"/>
                      <a:r>
                        <a:rPr lang="en-US" sz="800" b="1" i="0" u="none" strike="noStrike" dirty="0">
                          <a:solidFill>
                            <a:srgbClr val="FF5792"/>
                          </a:solidFill>
                          <a:effectLst/>
                          <a:latin typeface="Consolas" panose="020B0609020204030204" pitchFamily="49" charset="0"/>
                        </a:rPr>
                        <a:t>/pkg-flask-3.0.2-pyhd8ed1ab_0/site-packages/flask</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/flask/__main__.py</a:t>
                      </a:r>
                    </a:p>
                  </a:txBody>
                  <a:tcPr marL="3296" marR="3296" marT="3296" marB="0" anchor="b">
                    <a:lnL>
                      <a:noFill/>
                    </a:lnL>
                    <a:lnR>
                      <a:noFill/>
                    </a:lnR>
                    <a:lnT>
                      <a:noFill/>
                    </a:lnT>
                    <a:lnB>
                      <a:noFill/>
                    </a:lnB>
                    <a:noFill/>
                  </a:tcPr>
                </a:tc>
                <a:extLst>
                  <a:ext uri="{0D108BD9-81ED-4DB2-BD59-A6C34878D82A}">
                    <a16:rowId xmlns:a16="http://schemas.microsoft.com/office/drawing/2014/main" val="24679725"/>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/pkg-flask-3.0.2-pyhd8ed1ab_0/site-packages/flask/__init__.py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/flask/app.py</a:t>
                      </a:r>
                    </a:p>
                  </a:txBody>
                  <a:tcPr marL="3296" marR="3296" marT="3296" marB="0" anchor="b">
                    <a:lnL>
                      <a:noFill/>
                    </a:lnL>
                    <a:lnR>
                      <a:noFill/>
                    </a:lnR>
                    <a:lnT>
                      <a:noFill/>
                    </a:lnT>
                    <a:lnB>
                      <a:noFill/>
                    </a:lnB>
                    <a:noFill/>
                  </a:tcPr>
                </a:tc>
                <a:extLst>
                  <a:ext uri="{0D108BD9-81ED-4DB2-BD59-A6C34878D82A}">
                    <a16:rowId xmlns:a16="http://schemas.microsoft.com/office/drawing/2014/main" val="1141082320"/>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/pkg-flask-3.0.2-pyhd8ed1ab_0/site-packages/flask/__main__.py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/flask/blueprints.py</a:t>
                      </a:r>
                    </a:p>
                  </a:txBody>
                  <a:tcPr marL="3296" marR="3296" marT="3296" marB="0" anchor="b">
                    <a:lnL>
                      <a:noFill/>
                    </a:lnL>
                    <a:lnR>
                      <a:noFill/>
                    </a:lnR>
                    <a:lnT>
                      <a:noFill/>
                    </a:lnT>
                    <a:lnB>
                      <a:noFill/>
                    </a:lnB>
                    <a:noFill/>
                  </a:tcPr>
                </a:tc>
                <a:extLst>
                  <a:ext uri="{0D108BD9-81ED-4DB2-BD59-A6C34878D82A}">
                    <a16:rowId xmlns:a16="http://schemas.microsoft.com/office/drawing/2014/main" val="3282569862"/>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/pkg-flask-3.0.2-pyhd8ed1ab_0/site-packages/flask/app.py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/flask/cli.py</a:t>
                      </a:r>
                    </a:p>
                  </a:txBody>
                  <a:tcPr marL="3296" marR="3296" marT="3296" marB="0" anchor="b">
                    <a:lnL>
                      <a:noFill/>
                    </a:lnL>
                    <a:lnR>
                      <a:noFill/>
                    </a:lnR>
                    <a:lnT>
                      <a:noFill/>
                    </a:lnT>
                    <a:lnB>
                      <a:noFill/>
                    </a:lnB>
                    <a:noFill/>
                  </a:tcPr>
                </a:tc>
                <a:extLst>
                  <a:ext uri="{0D108BD9-81ED-4DB2-BD59-A6C34878D82A}">
                    <a16:rowId xmlns:a16="http://schemas.microsoft.com/office/drawing/2014/main" val="2457642064"/>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/pkg-flask-3.0.2-pyhd8ed1ab_0/site-packages/flask/blueprints.py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/flask/config.py</a:t>
                      </a:r>
                    </a:p>
                  </a:txBody>
                  <a:tcPr marL="3296" marR="3296" marT="3296" marB="0" anchor="b">
                    <a:lnL>
                      <a:noFill/>
                    </a:lnL>
                    <a:lnR>
                      <a:noFill/>
                    </a:lnR>
                    <a:lnT>
                      <a:noFill/>
                    </a:lnT>
                    <a:lnB>
                      <a:noFill/>
                    </a:lnB>
                    <a:noFill/>
                  </a:tcPr>
                </a:tc>
                <a:extLst>
                  <a:ext uri="{0D108BD9-81ED-4DB2-BD59-A6C34878D82A}">
                    <a16:rowId xmlns:a16="http://schemas.microsoft.com/office/drawing/2014/main" val="4248646784"/>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/pkg-flask-3.0.2-pyhd8ed1ab_0/site-packages/flask/cli.py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/flask/ctx.py</a:t>
                      </a:r>
                    </a:p>
                  </a:txBody>
                  <a:tcPr marL="3296" marR="3296" marT="3296" marB="0" anchor="b">
                    <a:lnL>
                      <a:noFill/>
                    </a:lnL>
                    <a:lnR>
                      <a:noFill/>
                    </a:lnR>
                    <a:lnT>
                      <a:noFill/>
                    </a:lnT>
                    <a:lnB>
                      <a:noFill/>
                    </a:lnB>
                    <a:noFill/>
                  </a:tcPr>
                </a:tc>
                <a:extLst>
                  <a:ext uri="{0D108BD9-81ED-4DB2-BD59-A6C34878D82A}">
                    <a16:rowId xmlns:a16="http://schemas.microsoft.com/office/drawing/2014/main" val="4288105098"/>
                  </a:ext>
                </a:extLst>
              </a:tr>
              <a:tr h="65929">
                <a:tc>
                  <a:txBody>
                    <a:bodyPr/>
                    <a:lstStyle/>
                    <a:p>
                      <a:pPr algn="l" fontAlgn="ctr"/>
                      <a:r>
                        <a:rPr lang="da-DK" sz="800" b="1" i="0" u="none" strike="noStrike">
                          <a:solidFill>
                            <a:srgbClr val="FF5792"/>
                          </a:solidFill>
                          <a:effectLst/>
                          <a:latin typeface="Consolas" panose="020B0609020204030204" pitchFamily="49" charset="0"/>
                        </a:rPr>
                        <a:t>/pkg-flask-3.0.2-pyhd8ed1ab_0/site-packages/flask/config.py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/flask/debughelpers.py</a:t>
                      </a:r>
                    </a:p>
                  </a:txBody>
                  <a:tcPr marL="3296" marR="3296" marT="3296" marB="0" anchor="b">
                    <a:lnL>
                      <a:noFill/>
                    </a:lnL>
                    <a:lnR>
                      <a:noFill/>
                    </a:lnR>
                    <a:lnT>
                      <a:noFill/>
                    </a:lnT>
                    <a:lnB>
                      <a:noFill/>
                    </a:lnB>
                    <a:noFill/>
                  </a:tcPr>
                </a:tc>
                <a:extLst>
                  <a:ext uri="{0D108BD9-81ED-4DB2-BD59-A6C34878D82A}">
                    <a16:rowId xmlns:a16="http://schemas.microsoft.com/office/drawing/2014/main" val="1636023006"/>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/pkg-flask-3.0.2-pyhd8ed1ab_0/site-packages/flask/ctx.py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/flask/globals.py</a:t>
                      </a:r>
                    </a:p>
                  </a:txBody>
                  <a:tcPr marL="3296" marR="3296" marT="3296" marB="0" anchor="b">
                    <a:lnL>
                      <a:noFill/>
                    </a:lnL>
                    <a:lnR>
                      <a:noFill/>
                    </a:lnR>
                    <a:lnT>
                      <a:noFill/>
                    </a:lnT>
                    <a:lnB>
                      <a:noFill/>
                    </a:lnB>
                    <a:noFill/>
                  </a:tcPr>
                </a:tc>
                <a:extLst>
                  <a:ext uri="{0D108BD9-81ED-4DB2-BD59-A6C34878D82A}">
                    <a16:rowId xmlns:a16="http://schemas.microsoft.com/office/drawing/2014/main" val="454441739"/>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/pkg-flask-3.0.2-pyhd8ed1ab_0/site-packages/flask/debughelpers.py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/flask/helpers.py</a:t>
                      </a:r>
                    </a:p>
                  </a:txBody>
                  <a:tcPr marL="3296" marR="3296" marT="3296" marB="0" anchor="b">
                    <a:lnL>
                      <a:noFill/>
                    </a:lnL>
                    <a:lnR>
                      <a:noFill/>
                    </a:lnR>
                    <a:lnT>
                      <a:noFill/>
                    </a:lnT>
                    <a:lnB>
                      <a:noFill/>
                    </a:lnB>
                    <a:noFill/>
                  </a:tcPr>
                </a:tc>
                <a:extLst>
                  <a:ext uri="{0D108BD9-81ED-4DB2-BD59-A6C34878D82A}">
                    <a16:rowId xmlns:a16="http://schemas.microsoft.com/office/drawing/2014/main" val="4121022290"/>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/pkg-flask-3.0.2-pyhd8ed1ab_0/site-packages/flask/globals.py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a:t>
                      </a:r>
                      <a:r>
                        <a:rPr lang="en-US" sz="800" b="1" i="0" u="none" strike="noStrike" dirty="0" err="1">
                          <a:solidFill>
                            <a:srgbClr val="00B050"/>
                          </a:solidFill>
                          <a:effectLst/>
                          <a:latin typeface="Consolas" panose="020B0609020204030204" pitchFamily="49" charset="0"/>
                        </a:rPr>
                        <a:t>json</a:t>
                      </a:r>
                      <a:endParaRPr lang="en-US" sz="800" b="1" i="0" u="none" strike="noStrike" dirty="0">
                        <a:solidFill>
                          <a:srgbClr val="00B050"/>
                        </a:solidFill>
                        <a:effectLst/>
                        <a:latin typeface="Consolas" panose="020B0609020204030204" pitchFamily="49" charset="0"/>
                      </a:endParaRPr>
                    </a:p>
                  </a:txBody>
                  <a:tcPr marL="3296" marR="3296" marT="3296" marB="0" anchor="b">
                    <a:lnL>
                      <a:noFill/>
                    </a:lnL>
                    <a:lnR>
                      <a:noFill/>
                    </a:lnR>
                    <a:lnT>
                      <a:noFill/>
                    </a:lnT>
                    <a:lnB>
                      <a:noFill/>
                    </a:lnB>
                    <a:noFill/>
                  </a:tcPr>
                </a:tc>
                <a:extLst>
                  <a:ext uri="{0D108BD9-81ED-4DB2-BD59-A6C34878D82A}">
                    <a16:rowId xmlns:a16="http://schemas.microsoft.com/office/drawing/2014/main" val="1137722648"/>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/pkg-flask-3.0.2-pyhd8ed1ab_0/site-packages/flask/helpers.py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/flask/json/__init__.py</a:t>
                      </a:r>
                    </a:p>
                  </a:txBody>
                  <a:tcPr marL="3296" marR="3296" marT="3296" marB="0" anchor="b">
                    <a:lnL>
                      <a:noFill/>
                    </a:lnL>
                    <a:lnR>
                      <a:noFill/>
                    </a:lnR>
                    <a:lnT>
                      <a:noFill/>
                    </a:lnT>
                    <a:lnB>
                      <a:noFill/>
                    </a:lnB>
                    <a:noFill/>
                  </a:tcPr>
                </a:tc>
                <a:extLst>
                  <a:ext uri="{0D108BD9-81ED-4DB2-BD59-A6C34878D82A}">
                    <a16:rowId xmlns:a16="http://schemas.microsoft.com/office/drawing/2014/main" val="4282335806"/>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/pkg-flask-3.0.2-pyhd8ed1ab_0/site-packages/flask/json</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/flask/json/provider.py</a:t>
                      </a:r>
                    </a:p>
                  </a:txBody>
                  <a:tcPr marL="3296" marR="3296" marT="3296" marB="0" anchor="b">
                    <a:lnL>
                      <a:noFill/>
                    </a:lnL>
                    <a:lnR>
                      <a:noFill/>
                    </a:lnR>
                    <a:lnT>
                      <a:noFill/>
                    </a:lnT>
                    <a:lnB>
                      <a:noFill/>
                    </a:lnB>
                    <a:noFill/>
                  </a:tcPr>
                </a:tc>
                <a:extLst>
                  <a:ext uri="{0D108BD9-81ED-4DB2-BD59-A6C34878D82A}">
                    <a16:rowId xmlns:a16="http://schemas.microsoft.com/office/drawing/2014/main" val="3891149645"/>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/pkg-flask-3.0.2-pyhd8ed1ab_0/site-packages/flask/json/__init__.py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/flask/json/tag.py</a:t>
                      </a:r>
                    </a:p>
                  </a:txBody>
                  <a:tcPr marL="3296" marR="3296" marT="3296" marB="0" anchor="b">
                    <a:lnL>
                      <a:noFill/>
                    </a:lnL>
                    <a:lnR>
                      <a:noFill/>
                    </a:lnR>
                    <a:lnT>
                      <a:noFill/>
                    </a:lnT>
                    <a:lnB>
                      <a:noFill/>
                    </a:lnB>
                    <a:noFill/>
                  </a:tcPr>
                </a:tc>
                <a:extLst>
                  <a:ext uri="{0D108BD9-81ED-4DB2-BD59-A6C34878D82A}">
                    <a16:rowId xmlns:a16="http://schemas.microsoft.com/office/drawing/2014/main" val="1323835161"/>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/pkg-flask-3.0.2-pyhd8ed1ab_0/site-packages/flask/json/provider.py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/flask/logging.py</a:t>
                      </a:r>
                    </a:p>
                  </a:txBody>
                  <a:tcPr marL="3296" marR="3296" marT="3296" marB="0" anchor="b">
                    <a:lnL>
                      <a:noFill/>
                    </a:lnL>
                    <a:lnR>
                      <a:noFill/>
                    </a:lnR>
                    <a:lnT>
                      <a:noFill/>
                    </a:lnT>
                    <a:lnB>
                      <a:noFill/>
                    </a:lnB>
                    <a:noFill/>
                  </a:tcPr>
                </a:tc>
                <a:extLst>
                  <a:ext uri="{0D108BD9-81ED-4DB2-BD59-A6C34878D82A}">
                    <a16:rowId xmlns:a16="http://schemas.microsoft.com/office/drawing/2014/main" val="1228458387"/>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/pkg-flask-3.0.2-pyhd8ed1ab_0/site-packages/flask/json/tag.py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a:t>
                      </a:r>
                      <a:r>
                        <a:rPr lang="en-US" sz="800" b="1" i="0" u="none" strike="noStrike" dirty="0" err="1">
                          <a:solidFill>
                            <a:srgbClr val="00B050"/>
                          </a:solidFill>
                          <a:effectLst/>
                          <a:latin typeface="Consolas" panose="020B0609020204030204" pitchFamily="49" charset="0"/>
                        </a:rPr>
                        <a:t>py.typed</a:t>
                      </a:r>
                      <a:endParaRPr lang="en-US" sz="800" b="1" i="0" u="none" strike="noStrike" dirty="0">
                        <a:solidFill>
                          <a:srgbClr val="00B050"/>
                        </a:solidFill>
                        <a:effectLst/>
                        <a:latin typeface="Consolas" panose="020B0609020204030204" pitchFamily="49" charset="0"/>
                      </a:endParaRPr>
                    </a:p>
                  </a:txBody>
                  <a:tcPr marL="3296" marR="3296" marT="3296" marB="0" anchor="b">
                    <a:lnL>
                      <a:noFill/>
                    </a:lnL>
                    <a:lnR>
                      <a:noFill/>
                    </a:lnR>
                    <a:lnT>
                      <a:noFill/>
                    </a:lnT>
                    <a:lnB>
                      <a:noFill/>
                    </a:lnB>
                    <a:noFill/>
                  </a:tcPr>
                </a:tc>
                <a:extLst>
                  <a:ext uri="{0D108BD9-81ED-4DB2-BD59-A6C34878D82A}">
                    <a16:rowId xmlns:a16="http://schemas.microsoft.com/office/drawing/2014/main" val="2930198520"/>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/pkg-flask-3.0.2-pyhd8ed1ab_0/site-packages/flask/logging.py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a:t>
                      </a:r>
                      <a:r>
                        <a:rPr lang="en-US" sz="800" b="1" i="0" u="none" strike="noStrike" dirty="0" err="1">
                          <a:solidFill>
                            <a:srgbClr val="00B050"/>
                          </a:solidFill>
                          <a:effectLst/>
                          <a:latin typeface="Consolas" panose="020B0609020204030204" pitchFamily="49" charset="0"/>
                        </a:rPr>
                        <a:t>sansio</a:t>
                      </a:r>
                      <a:endParaRPr lang="en-US" sz="800" b="1" i="0" u="none" strike="noStrike" dirty="0">
                        <a:solidFill>
                          <a:srgbClr val="00B050"/>
                        </a:solidFill>
                        <a:effectLst/>
                        <a:latin typeface="Consolas" panose="020B0609020204030204" pitchFamily="49" charset="0"/>
                      </a:endParaRPr>
                    </a:p>
                  </a:txBody>
                  <a:tcPr marL="3296" marR="3296" marT="3296" marB="0" anchor="b">
                    <a:lnL>
                      <a:noFill/>
                    </a:lnL>
                    <a:lnR>
                      <a:noFill/>
                    </a:lnR>
                    <a:lnT>
                      <a:noFill/>
                    </a:lnT>
                    <a:lnB>
                      <a:noFill/>
                    </a:lnB>
                    <a:noFill/>
                  </a:tcPr>
                </a:tc>
                <a:extLst>
                  <a:ext uri="{0D108BD9-81ED-4DB2-BD59-A6C34878D82A}">
                    <a16:rowId xmlns:a16="http://schemas.microsoft.com/office/drawing/2014/main" val="55521840"/>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/pkg-flask-3.0.2-pyhd8ed1ab_0/site-packages/flask/py.typed</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/flask/sansio/app.py</a:t>
                      </a:r>
                    </a:p>
                  </a:txBody>
                  <a:tcPr marL="3296" marR="3296" marT="3296" marB="0" anchor="b">
                    <a:lnL>
                      <a:noFill/>
                    </a:lnL>
                    <a:lnR>
                      <a:noFill/>
                    </a:lnR>
                    <a:lnT>
                      <a:noFill/>
                    </a:lnT>
                    <a:lnB>
                      <a:noFill/>
                    </a:lnB>
                    <a:noFill/>
                  </a:tcPr>
                </a:tc>
                <a:extLst>
                  <a:ext uri="{0D108BD9-81ED-4DB2-BD59-A6C34878D82A}">
                    <a16:rowId xmlns:a16="http://schemas.microsoft.com/office/drawing/2014/main" val="1411430063"/>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/pkg-flask-3.0.2-pyhd8ed1ab_0/site-packages/flask/sansio</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/flask/sansio/blueprints.py</a:t>
                      </a:r>
                    </a:p>
                  </a:txBody>
                  <a:tcPr marL="3296" marR="3296" marT="3296" marB="0" anchor="b">
                    <a:lnL>
                      <a:noFill/>
                    </a:lnL>
                    <a:lnR>
                      <a:noFill/>
                    </a:lnR>
                    <a:lnT>
                      <a:noFill/>
                    </a:lnT>
                    <a:lnB>
                      <a:noFill/>
                    </a:lnB>
                    <a:noFill/>
                  </a:tcPr>
                </a:tc>
                <a:extLst>
                  <a:ext uri="{0D108BD9-81ED-4DB2-BD59-A6C34878D82A}">
                    <a16:rowId xmlns:a16="http://schemas.microsoft.com/office/drawing/2014/main" val="1473919375"/>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/pkg-flask-3.0.2-pyhd8ed1ab_0/site-packages/flask/sansio/app.py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/flask/sansio/README.md</a:t>
                      </a:r>
                    </a:p>
                  </a:txBody>
                  <a:tcPr marL="3296" marR="3296" marT="3296" marB="0" anchor="b">
                    <a:lnL>
                      <a:noFill/>
                    </a:lnL>
                    <a:lnR>
                      <a:noFill/>
                    </a:lnR>
                    <a:lnT>
                      <a:noFill/>
                    </a:lnT>
                    <a:lnB>
                      <a:noFill/>
                    </a:lnB>
                    <a:noFill/>
                  </a:tcPr>
                </a:tc>
                <a:extLst>
                  <a:ext uri="{0D108BD9-81ED-4DB2-BD59-A6C34878D82A}">
                    <a16:rowId xmlns:a16="http://schemas.microsoft.com/office/drawing/2014/main" val="145999008"/>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/pkg-flask-3.0.2-pyhd8ed1ab_0/site-packages/flask/sansio/blueprints.py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/flask/sansio/scaffold.py</a:t>
                      </a:r>
                    </a:p>
                  </a:txBody>
                  <a:tcPr marL="3296" marR="3296" marT="3296" marB="0" anchor="b">
                    <a:lnL>
                      <a:noFill/>
                    </a:lnL>
                    <a:lnR>
                      <a:noFill/>
                    </a:lnR>
                    <a:lnT>
                      <a:noFill/>
                    </a:lnT>
                    <a:lnB>
                      <a:noFill/>
                    </a:lnB>
                    <a:noFill/>
                  </a:tcPr>
                </a:tc>
                <a:extLst>
                  <a:ext uri="{0D108BD9-81ED-4DB2-BD59-A6C34878D82A}">
                    <a16:rowId xmlns:a16="http://schemas.microsoft.com/office/drawing/2014/main" val="858132"/>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/pkg-flask-3.0.2-pyhd8ed1ab_0/site-packages/flask/sansio/README.md</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/flask/sessions.py</a:t>
                      </a:r>
                    </a:p>
                  </a:txBody>
                  <a:tcPr marL="3296" marR="3296" marT="3296" marB="0" anchor="b">
                    <a:lnL>
                      <a:noFill/>
                    </a:lnL>
                    <a:lnR>
                      <a:noFill/>
                    </a:lnR>
                    <a:lnT>
                      <a:noFill/>
                    </a:lnT>
                    <a:lnB>
                      <a:noFill/>
                    </a:lnB>
                    <a:noFill/>
                  </a:tcPr>
                </a:tc>
                <a:extLst>
                  <a:ext uri="{0D108BD9-81ED-4DB2-BD59-A6C34878D82A}">
                    <a16:rowId xmlns:a16="http://schemas.microsoft.com/office/drawing/2014/main" val="3968525158"/>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/pkg-flask-3.0.2-pyhd8ed1ab_0/site-packages/flask/sansio/scaffold.py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/flask/signals.py</a:t>
                      </a:r>
                    </a:p>
                  </a:txBody>
                  <a:tcPr marL="3296" marR="3296" marT="3296" marB="0" anchor="b">
                    <a:lnL>
                      <a:noFill/>
                    </a:lnL>
                    <a:lnR>
                      <a:noFill/>
                    </a:lnR>
                    <a:lnT>
                      <a:noFill/>
                    </a:lnT>
                    <a:lnB>
                      <a:noFill/>
                    </a:lnB>
                    <a:noFill/>
                  </a:tcPr>
                </a:tc>
                <a:extLst>
                  <a:ext uri="{0D108BD9-81ED-4DB2-BD59-A6C34878D82A}">
                    <a16:rowId xmlns:a16="http://schemas.microsoft.com/office/drawing/2014/main" val="3503292485"/>
                  </a:ext>
                </a:extLst>
              </a:tr>
              <a:tr h="65929">
                <a:tc>
                  <a:txBody>
                    <a:bodyPr/>
                    <a:lstStyle/>
                    <a:p>
                      <a:pPr algn="l" fontAlgn="ctr"/>
                      <a:r>
                        <a:rPr lang="da-DK" sz="800" b="1" i="0" u="none" strike="noStrike">
                          <a:solidFill>
                            <a:srgbClr val="FF5792"/>
                          </a:solidFill>
                          <a:effectLst/>
                          <a:latin typeface="Consolas" panose="020B0609020204030204" pitchFamily="49" charset="0"/>
                        </a:rPr>
                        <a:t>/pkg-flask-3.0.2-pyhd8ed1ab_0/site-packages/flask/sessions.py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/flask/templating.py</a:t>
                      </a:r>
                    </a:p>
                  </a:txBody>
                  <a:tcPr marL="3296" marR="3296" marT="3296" marB="0" anchor="b">
                    <a:lnL>
                      <a:noFill/>
                    </a:lnL>
                    <a:lnR>
                      <a:noFill/>
                    </a:lnR>
                    <a:lnT>
                      <a:noFill/>
                    </a:lnT>
                    <a:lnB>
                      <a:noFill/>
                    </a:lnB>
                    <a:noFill/>
                  </a:tcPr>
                </a:tc>
                <a:extLst>
                  <a:ext uri="{0D108BD9-81ED-4DB2-BD59-A6C34878D82A}">
                    <a16:rowId xmlns:a16="http://schemas.microsoft.com/office/drawing/2014/main" val="2834981706"/>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/pkg-flask-3.0.2-pyhd8ed1ab_0/site-packages/flask/signals.py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/flask/testing.py</a:t>
                      </a:r>
                    </a:p>
                  </a:txBody>
                  <a:tcPr marL="3296" marR="3296" marT="3296" marB="0" anchor="b">
                    <a:lnL>
                      <a:noFill/>
                    </a:lnL>
                    <a:lnR>
                      <a:noFill/>
                    </a:lnR>
                    <a:lnT>
                      <a:noFill/>
                    </a:lnT>
                    <a:lnB>
                      <a:noFill/>
                    </a:lnB>
                    <a:noFill/>
                  </a:tcPr>
                </a:tc>
                <a:extLst>
                  <a:ext uri="{0D108BD9-81ED-4DB2-BD59-A6C34878D82A}">
                    <a16:rowId xmlns:a16="http://schemas.microsoft.com/office/drawing/2014/main" val="2480519689"/>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/pkg-flask-3.0.2-pyhd8ed1ab_0/site-packages/flask/templating.py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/flask/typing.py</a:t>
                      </a:r>
                    </a:p>
                  </a:txBody>
                  <a:tcPr marL="3296" marR="3296" marT="3296" marB="0" anchor="b">
                    <a:lnL>
                      <a:noFill/>
                    </a:lnL>
                    <a:lnR>
                      <a:noFill/>
                    </a:lnR>
                    <a:lnT>
                      <a:noFill/>
                    </a:lnT>
                    <a:lnB>
                      <a:noFill/>
                    </a:lnB>
                    <a:noFill/>
                  </a:tcPr>
                </a:tc>
                <a:extLst>
                  <a:ext uri="{0D108BD9-81ED-4DB2-BD59-A6C34878D82A}">
                    <a16:rowId xmlns:a16="http://schemas.microsoft.com/office/drawing/2014/main" val="2069854885"/>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/pkg-flask-3.0.2-pyhd8ed1ab_0/site-packages/flask/testing.py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/flask/views.py</a:t>
                      </a:r>
                    </a:p>
                  </a:txBody>
                  <a:tcPr marL="3296" marR="3296" marT="3296" marB="0" anchor="b">
                    <a:lnL>
                      <a:noFill/>
                    </a:lnL>
                    <a:lnR>
                      <a:noFill/>
                    </a:lnR>
                    <a:lnT>
                      <a:noFill/>
                    </a:lnT>
                    <a:lnB>
                      <a:noFill/>
                    </a:lnB>
                    <a:noFill/>
                  </a:tcPr>
                </a:tc>
                <a:extLst>
                  <a:ext uri="{0D108BD9-81ED-4DB2-BD59-A6C34878D82A}">
                    <a16:rowId xmlns:a16="http://schemas.microsoft.com/office/drawing/2014/main" val="3225893381"/>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/pkg-flask-3.0.2-pyhd8ed1ab_0/site-packages/flask/typing.py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/flask/wrappers.py</a:t>
                      </a:r>
                    </a:p>
                  </a:txBody>
                  <a:tcPr marL="3296" marR="3296" marT="3296" marB="0" anchor="b">
                    <a:lnL>
                      <a:noFill/>
                    </a:lnL>
                    <a:lnR>
                      <a:noFill/>
                    </a:lnR>
                    <a:lnT>
                      <a:noFill/>
                    </a:lnT>
                    <a:lnB>
                      <a:noFill/>
                    </a:lnB>
                    <a:noFill/>
                  </a:tcPr>
                </a:tc>
                <a:extLst>
                  <a:ext uri="{0D108BD9-81ED-4DB2-BD59-A6C34878D82A}">
                    <a16:rowId xmlns:a16="http://schemas.microsoft.com/office/drawing/2014/main" val="2151888549"/>
                  </a:ext>
                </a:extLst>
              </a:tr>
              <a:tr h="65929">
                <a:tc>
                  <a:txBody>
                    <a:bodyPr/>
                    <a:lstStyle/>
                    <a:p>
                      <a:pPr algn="l" fontAlgn="ctr"/>
                      <a:r>
                        <a:rPr lang="en-US" sz="800" b="1" i="0" u="none" strike="noStrike" dirty="0">
                          <a:solidFill>
                            <a:srgbClr val="FF5792"/>
                          </a:solidFill>
                          <a:effectLst/>
                          <a:latin typeface="Consolas" panose="020B0609020204030204" pitchFamily="49" charset="0"/>
                        </a:rPr>
                        <a:t>/pkg-flask-3.0.2-pyhd8ed1ab_0/site-packages/flask/views.py</a:t>
                      </a:r>
                    </a:p>
                  </a:txBody>
                  <a:tcPr marL="3296" marR="3296" marT="3296" marB="0" anchor="ctr">
                    <a:lnL>
                      <a:noFill/>
                    </a:lnL>
                    <a:lnR>
                      <a:noFill/>
                    </a:lnR>
                    <a:lnT>
                      <a:noFill/>
                    </a:lnT>
                    <a:lnB>
                      <a:noFill/>
                    </a:lnB>
                    <a:noFill/>
                  </a:tcPr>
                </a:tc>
                <a:tc>
                  <a:txBody>
                    <a:bodyPr/>
                    <a:lstStyle/>
                    <a:p>
                      <a:pPr algn="l" fontAlgn="b"/>
                      <a:r>
                        <a:rPr lang="en-US" sz="800" b="0" i="0" u="none" strike="noStrike" dirty="0">
                          <a:solidFill>
                            <a:srgbClr val="FA8900"/>
                          </a:solidFill>
                          <a:effectLst/>
                          <a:latin typeface="Consolas" panose="020B0609020204030204" pitchFamily="49" charset="0"/>
                        </a:rPr>
                        <a:t>PIP metadata</a:t>
                      </a:r>
                      <a:endParaRPr lang="en-US" sz="800" b="1" i="0" u="none" strike="noStrike" dirty="0">
                        <a:solidFill>
                          <a:srgbClr val="00B050"/>
                        </a:solidFill>
                        <a:effectLst/>
                        <a:latin typeface="Consolas" panose="020B0609020204030204" pitchFamily="49" charset="0"/>
                      </a:endParaRPr>
                    </a:p>
                  </a:txBody>
                  <a:tcPr marL="3296" marR="3296" marT="3296" marB="0" anchor="b">
                    <a:lnL>
                      <a:noFill/>
                    </a:lnL>
                    <a:lnR>
                      <a:noFill/>
                    </a:lnR>
                    <a:lnT>
                      <a:noFill/>
                    </a:lnT>
                    <a:lnB>
                      <a:noFill/>
                    </a:lnB>
                    <a:noFill/>
                  </a:tcPr>
                </a:tc>
                <a:extLst>
                  <a:ext uri="{0D108BD9-81ED-4DB2-BD59-A6C34878D82A}">
                    <a16:rowId xmlns:a16="http://schemas.microsoft.com/office/drawing/2014/main" val="223013610"/>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/pkg-flask-3.0.2-pyhd8ed1ab_0/site-packages/flask/wrappers.py</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/flask-3.0.2.dist-info</a:t>
                      </a:r>
                    </a:p>
                  </a:txBody>
                  <a:tcPr marL="3296" marR="3296" marT="3296" marB="0" anchor="b">
                    <a:lnL>
                      <a:noFill/>
                    </a:lnL>
                    <a:lnR>
                      <a:noFill/>
                    </a:lnR>
                    <a:lnT>
                      <a:noFill/>
                    </a:lnT>
                    <a:lnB>
                      <a:noFill/>
                    </a:lnB>
                    <a:noFill/>
                  </a:tcPr>
                </a:tc>
                <a:extLst>
                  <a:ext uri="{0D108BD9-81ED-4DB2-BD59-A6C34878D82A}">
                    <a16:rowId xmlns:a16="http://schemas.microsoft.com/office/drawing/2014/main" val="2755682321"/>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/pkg-flask-3.0.2-pyhd8ed1ab_0/site-packages/flask-3.0.2.dist-info</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/flask-3.0.2.dist-info/entry_points.txt</a:t>
                      </a:r>
                    </a:p>
                  </a:txBody>
                  <a:tcPr marL="3296" marR="3296" marT="3296" marB="0" anchor="b">
                    <a:lnL>
                      <a:noFill/>
                    </a:lnL>
                    <a:lnR>
                      <a:noFill/>
                    </a:lnR>
                    <a:lnT>
                      <a:noFill/>
                    </a:lnT>
                    <a:lnB>
                      <a:noFill/>
                    </a:lnB>
                    <a:noFill/>
                  </a:tcPr>
                </a:tc>
                <a:extLst>
                  <a:ext uri="{0D108BD9-81ED-4DB2-BD59-A6C34878D82A}">
                    <a16:rowId xmlns:a16="http://schemas.microsoft.com/office/drawing/2014/main" val="384457870"/>
                  </a:ext>
                </a:extLst>
              </a:tr>
              <a:tr h="65929">
                <a:tc>
                  <a:txBody>
                    <a:bodyPr/>
                    <a:lstStyle/>
                    <a:p>
                      <a:pPr algn="l" fontAlgn="ctr"/>
                      <a:r>
                        <a:rPr lang="da-DK" sz="800" b="1" i="0" u="none" strike="noStrike">
                          <a:solidFill>
                            <a:srgbClr val="FF5792"/>
                          </a:solidFill>
                          <a:effectLst/>
                          <a:latin typeface="Consolas" panose="020B0609020204030204" pitchFamily="49" charset="0"/>
                        </a:rPr>
                        <a:t>/pkg-flask-3.0.2-pyhd8ed1ab_0/site-packages/flask-3.0.2.dist-info/direct_url.json</a:t>
                      </a:r>
                    </a:p>
                  </a:txBody>
                  <a:tcPr marL="3296" marR="3296" marT="3296" marB="0" anchor="ctr">
                    <a:lnL>
                      <a:noFill/>
                    </a:lnL>
                    <a:lnR>
                      <a:noFill/>
                    </a:lnR>
                    <a:lnT>
                      <a:noFill/>
                    </a:lnT>
                    <a:lnB>
                      <a:noFill/>
                    </a:lnB>
                    <a:noFill/>
                  </a:tcPr>
                </a:tc>
                <a:tc>
                  <a:txBody>
                    <a:bodyPr/>
                    <a:lstStyle/>
                    <a:p>
                      <a:pPr algn="l" fontAlgn="b"/>
                      <a:endParaRPr lang="en-US" sz="800" b="1" i="0" u="none" strike="noStrike" dirty="0">
                        <a:solidFill>
                          <a:srgbClr val="00B050"/>
                        </a:solidFill>
                        <a:effectLst/>
                        <a:latin typeface="Consolas" panose="020B0609020204030204" pitchFamily="49" charset="0"/>
                      </a:endParaRPr>
                    </a:p>
                  </a:txBody>
                  <a:tcPr marL="3296" marR="3296" marT="3296" marB="0" anchor="b">
                    <a:lnL>
                      <a:noFill/>
                    </a:lnL>
                    <a:lnR>
                      <a:noFill/>
                    </a:lnR>
                    <a:lnT>
                      <a:noFill/>
                    </a:lnT>
                    <a:lnB>
                      <a:noFill/>
                    </a:lnB>
                    <a:noFill/>
                  </a:tcPr>
                </a:tc>
                <a:extLst>
                  <a:ext uri="{0D108BD9-81ED-4DB2-BD59-A6C34878D82A}">
                    <a16:rowId xmlns:a16="http://schemas.microsoft.com/office/drawing/2014/main" val="798736786"/>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/pkg-flask-3.0.2-pyhd8ed1ab_0/site-packages/flask-3.0.2.dist-info/entry_points.txt</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/flask-3.0.2.dist-info/</a:t>
                      </a:r>
                      <a:r>
                        <a:rPr lang="en-US" sz="800" b="1" i="0" u="none" strike="noStrike" dirty="0" err="1">
                          <a:solidFill>
                            <a:srgbClr val="00B050"/>
                          </a:solidFill>
                          <a:effectLst/>
                          <a:latin typeface="Consolas" panose="020B0609020204030204" pitchFamily="49" charset="0"/>
                        </a:rPr>
                        <a:t>LICENSE.rst</a:t>
                      </a:r>
                      <a:endParaRPr lang="en-US" sz="800" b="1" i="0" u="none" strike="noStrike" dirty="0">
                        <a:solidFill>
                          <a:srgbClr val="00B050"/>
                        </a:solidFill>
                        <a:effectLst/>
                        <a:latin typeface="Consolas" panose="020B0609020204030204" pitchFamily="49" charset="0"/>
                      </a:endParaRPr>
                    </a:p>
                  </a:txBody>
                  <a:tcPr marL="3296" marR="3296" marT="3296" marB="0" anchor="b">
                    <a:lnL>
                      <a:noFill/>
                    </a:lnL>
                    <a:lnR>
                      <a:noFill/>
                    </a:lnR>
                    <a:lnT>
                      <a:noFill/>
                    </a:lnT>
                    <a:lnB>
                      <a:noFill/>
                    </a:lnB>
                    <a:noFill/>
                  </a:tcPr>
                </a:tc>
                <a:extLst>
                  <a:ext uri="{0D108BD9-81ED-4DB2-BD59-A6C34878D82A}">
                    <a16:rowId xmlns:a16="http://schemas.microsoft.com/office/drawing/2014/main" val="3192469040"/>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/pkg-flask-3.0.2-pyhd8ed1ab_0/site-packages/flask-3.0.2.dist-info/INSTALLER</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/flask-3.0.2.dist-info/METADATA</a:t>
                      </a:r>
                    </a:p>
                  </a:txBody>
                  <a:tcPr marL="3296" marR="3296" marT="3296" marB="0" anchor="b">
                    <a:lnL>
                      <a:noFill/>
                    </a:lnL>
                    <a:lnR>
                      <a:noFill/>
                    </a:lnR>
                    <a:lnT>
                      <a:noFill/>
                    </a:lnT>
                    <a:lnB>
                      <a:noFill/>
                    </a:lnB>
                    <a:noFill/>
                  </a:tcPr>
                </a:tc>
                <a:extLst>
                  <a:ext uri="{0D108BD9-81ED-4DB2-BD59-A6C34878D82A}">
                    <a16:rowId xmlns:a16="http://schemas.microsoft.com/office/drawing/2014/main" val="4023170506"/>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/pkg-flask-3.0.2-pyhd8ed1ab_0/site-packages/flask-3.0.2.dist-info/LICENSE.rst</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/flask-3.0.2.dist-info/RECORD</a:t>
                      </a:r>
                    </a:p>
                  </a:txBody>
                  <a:tcPr marL="3296" marR="3296" marT="3296" marB="0" anchor="b">
                    <a:lnL>
                      <a:noFill/>
                    </a:lnL>
                    <a:lnR>
                      <a:noFill/>
                    </a:lnR>
                    <a:lnT>
                      <a:noFill/>
                    </a:lnT>
                    <a:lnB>
                      <a:noFill/>
                    </a:lnB>
                    <a:noFill/>
                  </a:tcPr>
                </a:tc>
                <a:extLst>
                  <a:ext uri="{0D108BD9-81ED-4DB2-BD59-A6C34878D82A}">
                    <a16:rowId xmlns:a16="http://schemas.microsoft.com/office/drawing/2014/main" val="2924207066"/>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/pkg-flask-3.0.2-pyhd8ed1ab_0/site-packages/flask-3.0.2.dist-info/METADATA</a:t>
                      </a:r>
                    </a:p>
                  </a:txBody>
                  <a:tcPr marL="3296" marR="3296" marT="3296" marB="0" anchor="ctr">
                    <a:lnL>
                      <a:noFill/>
                    </a:lnL>
                    <a:lnR>
                      <a:noFill/>
                    </a:lnR>
                    <a:lnT>
                      <a:noFill/>
                    </a:lnT>
                    <a:lnB>
                      <a:noFill/>
                    </a:lnB>
                    <a:noFill/>
                  </a:tcPr>
                </a:tc>
                <a:tc>
                  <a:txBody>
                    <a:bodyPr/>
                    <a:lstStyle/>
                    <a:p>
                      <a:pPr algn="l" fontAlgn="b"/>
                      <a:endParaRPr lang="en-US" sz="800" b="1" i="0" u="none" strike="noStrike" dirty="0">
                        <a:solidFill>
                          <a:srgbClr val="00B050"/>
                        </a:solidFill>
                        <a:effectLst/>
                        <a:latin typeface="Consolas" panose="020B0609020204030204" pitchFamily="49" charset="0"/>
                      </a:endParaRPr>
                    </a:p>
                  </a:txBody>
                  <a:tcPr marL="3296" marR="3296" marT="3296" marB="0" anchor="b">
                    <a:lnL>
                      <a:noFill/>
                    </a:lnL>
                    <a:lnR>
                      <a:noFill/>
                    </a:lnR>
                    <a:lnT>
                      <a:noFill/>
                    </a:lnT>
                    <a:lnB>
                      <a:noFill/>
                    </a:lnB>
                    <a:noFill/>
                  </a:tcPr>
                </a:tc>
                <a:extLst>
                  <a:ext uri="{0D108BD9-81ED-4DB2-BD59-A6C34878D82A}">
                    <a16:rowId xmlns:a16="http://schemas.microsoft.com/office/drawing/2014/main" val="2574999585"/>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/pkg-flask-3.0.2-pyhd8ed1ab_0/site-packages/flask-3.0.2.dist-info/RECORD</a:t>
                      </a:r>
                    </a:p>
                  </a:txBody>
                  <a:tcPr marL="3296" marR="3296" marT="3296" marB="0" anchor="ctr">
                    <a:lnL>
                      <a:noFill/>
                    </a:lnL>
                    <a:lnR>
                      <a:noFill/>
                    </a:lnR>
                    <a:lnT>
                      <a:noFill/>
                    </a:lnT>
                    <a:lnB>
                      <a:noFill/>
                    </a:lnB>
                    <a:noFill/>
                  </a:tcPr>
                </a:tc>
                <a:tc>
                  <a:txBody>
                    <a:bodyPr/>
                    <a:lstStyle/>
                    <a:p>
                      <a:pPr algn="l" fontAlgn="b"/>
                      <a:r>
                        <a:rPr lang="en-US" sz="800" b="1" i="0" u="none" strike="noStrike" dirty="0">
                          <a:solidFill>
                            <a:srgbClr val="00B050"/>
                          </a:solidFill>
                          <a:effectLst/>
                          <a:latin typeface="Consolas" panose="020B0609020204030204" pitchFamily="49" charset="0"/>
                        </a:rPr>
                        <a:t>/flask-3.0.2.dist-info/WHEEL</a:t>
                      </a:r>
                    </a:p>
                  </a:txBody>
                  <a:tcPr marL="3296" marR="3296" marT="3296" marB="0" anchor="b">
                    <a:lnL>
                      <a:noFill/>
                    </a:lnL>
                    <a:lnR>
                      <a:noFill/>
                    </a:lnR>
                    <a:lnT>
                      <a:noFill/>
                    </a:lnT>
                    <a:lnB>
                      <a:noFill/>
                    </a:lnB>
                    <a:noFill/>
                  </a:tcPr>
                </a:tc>
                <a:extLst>
                  <a:ext uri="{0D108BD9-81ED-4DB2-BD59-A6C34878D82A}">
                    <a16:rowId xmlns:a16="http://schemas.microsoft.com/office/drawing/2014/main" val="1619335032"/>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/pkg-flask-3.0.2-pyhd8ed1ab_0/site-packages/flask-3.0.2.dist-info/REQUESTED</a:t>
                      </a:r>
                    </a:p>
                  </a:txBody>
                  <a:tcPr marL="3296" marR="3296" marT="3296" marB="0" anchor="ctr">
                    <a:lnL>
                      <a:noFill/>
                    </a:lnL>
                    <a:lnR>
                      <a:noFill/>
                    </a:lnR>
                    <a:lnT>
                      <a:noFill/>
                    </a:lnT>
                    <a:lnB>
                      <a:noFill/>
                    </a:lnB>
                    <a:noFill/>
                  </a:tcPr>
                </a:tc>
                <a:tc>
                  <a:txBody>
                    <a:bodyPr/>
                    <a:lstStyle/>
                    <a:p>
                      <a:pPr algn="l" fontAlgn="b"/>
                      <a:endParaRPr lang="en-US" sz="800" b="1" i="0" u="none" strike="noStrike" dirty="0">
                        <a:solidFill>
                          <a:srgbClr val="00B050"/>
                        </a:solidFill>
                        <a:effectLst/>
                        <a:latin typeface="Consolas" panose="020B0609020204030204" pitchFamily="49" charset="0"/>
                      </a:endParaRPr>
                    </a:p>
                  </a:txBody>
                  <a:tcPr marL="3296" marR="3296" marT="3296" marB="0" anchor="b">
                    <a:lnL>
                      <a:noFill/>
                    </a:lnL>
                    <a:lnR>
                      <a:noFill/>
                    </a:lnR>
                    <a:lnT>
                      <a:noFill/>
                    </a:lnT>
                    <a:lnB>
                      <a:noFill/>
                    </a:lnB>
                    <a:noFill/>
                  </a:tcPr>
                </a:tc>
                <a:extLst>
                  <a:ext uri="{0D108BD9-81ED-4DB2-BD59-A6C34878D82A}">
                    <a16:rowId xmlns:a16="http://schemas.microsoft.com/office/drawing/2014/main" val="1031577375"/>
                  </a:ext>
                </a:extLst>
              </a:tr>
              <a:tr h="65929">
                <a:tc>
                  <a:txBody>
                    <a:bodyPr/>
                    <a:lstStyle/>
                    <a:p>
                      <a:pPr algn="l" fontAlgn="ctr"/>
                      <a:endParaRPr lang="en-US" sz="800" b="0" i="0" u="none" strike="noStrike">
                        <a:solidFill>
                          <a:srgbClr val="FA8900"/>
                        </a:solidFill>
                        <a:effectLst/>
                        <a:latin typeface="Consolas" panose="020B0609020204030204" pitchFamily="49" charset="0"/>
                      </a:endParaRPr>
                    </a:p>
                  </a:txBody>
                  <a:tcPr marL="3296" marR="3296" marT="3296" marB="0" anchor="ctr">
                    <a:lnL>
                      <a:noFill/>
                    </a:lnL>
                    <a:lnR>
                      <a:noFill/>
                    </a:lnR>
                    <a:lnT>
                      <a:noFill/>
                    </a:lnT>
                    <a:lnB>
                      <a:noFill/>
                    </a:lnB>
                    <a:noFill/>
                  </a:tcPr>
                </a:tc>
                <a:tc>
                  <a:txBody>
                    <a:bodyPr/>
                    <a:lstStyle/>
                    <a:p>
                      <a:pPr algn="l" fontAlgn="b"/>
                      <a:endParaRPr lang="en-US" sz="800" b="1" i="0" u="none" strike="noStrike" dirty="0">
                        <a:solidFill>
                          <a:srgbClr val="00B050"/>
                        </a:solidFill>
                        <a:effectLst/>
                        <a:latin typeface="Consolas" panose="020B0609020204030204" pitchFamily="49" charset="0"/>
                      </a:endParaRPr>
                    </a:p>
                  </a:txBody>
                  <a:tcPr marL="3296" marR="3296" marT="3296" marB="0" anchor="b">
                    <a:lnL>
                      <a:noFill/>
                    </a:lnL>
                    <a:lnR>
                      <a:noFill/>
                    </a:lnR>
                    <a:lnT>
                      <a:noFill/>
                    </a:lnT>
                    <a:lnB>
                      <a:noFill/>
                    </a:lnB>
                    <a:noFill/>
                  </a:tcPr>
                </a:tc>
                <a:extLst>
                  <a:ext uri="{0D108BD9-81ED-4DB2-BD59-A6C34878D82A}">
                    <a16:rowId xmlns:a16="http://schemas.microsoft.com/office/drawing/2014/main" val="3198999953"/>
                  </a:ext>
                </a:extLst>
              </a:tr>
            </a:tbl>
          </a:graphicData>
        </a:graphic>
      </p:graphicFrame>
      <p:graphicFrame>
        <p:nvGraphicFramePr>
          <p:cNvPr id="10" name="Table 9">
            <a:extLst>
              <a:ext uri="{FF2B5EF4-FFF2-40B4-BE49-F238E27FC236}">
                <a16:creationId xmlns:a16="http://schemas.microsoft.com/office/drawing/2014/main" id="{822CA34B-5D9D-005D-4875-63F5F788E87B}"/>
              </a:ext>
            </a:extLst>
          </p:cNvPr>
          <p:cNvGraphicFramePr>
            <a:graphicFrameLocks noGrp="1"/>
          </p:cNvGraphicFramePr>
          <p:nvPr>
            <p:extLst>
              <p:ext uri="{D42A27DB-BD31-4B8C-83A1-F6EECF244321}">
                <p14:modId xmlns:p14="http://schemas.microsoft.com/office/powerpoint/2010/main" val="2000162314"/>
              </p:ext>
            </p:extLst>
          </p:nvPr>
        </p:nvGraphicFramePr>
        <p:xfrm>
          <a:off x="514350" y="3182620"/>
          <a:ext cx="4097991" cy="3255616"/>
        </p:xfrm>
        <a:graphic>
          <a:graphicData uri="http://schemas.openxmlformats.org/drawingml/2006/table">
            <a:tbl>
              <a:tblPr/>
              <a:tblGrid>
                <a:gridCol w="4097991">
                  <a:extLst>
                    <a:ext uri="{9D8B030D-6E8A-4147-A177-3AD203B41FA5}">
                      <a16:colId xmlns:a16="http://schemas.microsoft.com/office/drawing/2014/main" val="1897972863"/>
                    </a:ext>
                  </a:extLst>
                </a:gridCol>
              </a:tblGrid>
              <a:tr h="65929">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sz="800" b="0" i="0" u="none" strike="noStrike" dirty="0">
                          <a:solidFill>
                            <a:srgbClr val="FA8900"/>
                          </a:solidFill>
                          <a:effectLst/>
                          <a:latin typeface="Consolas" panose="020B0609020204030204" pitchFamily="49" charset="0"/>
                        </a:rPr>
                        <a:t>CONDA metadata</a:t>
                      </a:r>
                    </a:p>
                  </a:txBody>
                  <a:tcPr marL="3296" marR="3296" marT="3296" marB="0" anchor="ctr">
                    <a:lnL>
                      <a:noFill/>
                    </a:lnL>
                    <a:lnR>
                      <a:noFill/>
                    </a:lnR>
                    <a:lnT>
                      <a:noFill/>
                    </a:lnT>
                    <a:lnB>
                      <a:noFill/>
                    </a:lnB>
                    <a:noFill/>
                  </a:tcPr>
                </a:tc>
                <a:extLst>
                  <a:ext uri="{0D108BD9-81ED-4DB2-BD59-A6C34878D82A}">
                    <a16:rowId xmlns:a16="http://schemas.microsoft.com/office/drawing/2014/main" val="452629605"/>
                  </a:ext>
                </a:extLst>
              </a:tr>
              <a:tr h="65929">
                <a:tc>
                  <a:txBody>
                    <a:bodyPr/>
                    <a:lstStyle/>
                    <a:p>
                      <a:pPr algn="l" fontAlgn="ctr"/>
                      <a:r>
                        <a:rPr lang="en-US" sz="800" b="1" i="0" u="none" strike="noStrike" dirty="0">
                          <a:solidFill>
                            <a:srgbClr val="FF5792"/>
                          </a:solidFill>
                          <a:effectLst/>
                          <a:latin typeface="Consolas" panose="020B0609020204030204" pitchFamily="49" charset="0"/>
                        </a:rPr>
                        <a:t>/info-flask-3.0.2-pyhd8ed1ab_0</a:t>
                      </a:r>
                    </a:p>
                  </a:txBody>
                  <a:tcPr marL="3296" marR="3296" marT="3296" marB="0" anchor="ctr">
                    <a:lnL>
                      <a:noFill/>
                    </a:lnL>
                    <a:lnR>
                      <a:noFill/>
                    </a:lnR>
                    <a:lnT>
                      <a:noFill/>
                    </a:lnT>
                    <a:lnB>
                      <a:noFill/>
                    </a:lnB>
                    <a:noFill/>
                  </a:tcPr>
                </a:tc>
                <a:extLst>
                  <a:ext uri="{0D108BD9-81ED-4DB2-BD59-A6C34878D82A}">
                    <a16:rowId xmlns:a16="http://schemas.microsoft.com/office/drawing/2014/main" val="3010766076"/>
                  </a:ext>
                </a:extLst>
              </a:tr>
              <a:tr h="65929">
                <a:tc>
                  <a:txBody>
                    <a:bodyPr/>
                    <a:lstStyle/>
                    <a:p>
                      <a:pPr algn="l" fontAlgn="ctr"/>
                      <a:r>
                        <a:rPr lang="en-US" sz="800" b="1" i="0" u="none" strike="noStrike" dirty="0">
                          <a:solidFill>
                            <a:srgbClr val="FF5792"/>
                          </a:solidFill>
                          <a:effectLst/>
                          <a:latin typeface="Consolas" panose="020B0609020204030204" pitchFamily="49" charset="0"/>
                        </a:rPr>
                        <a:t>/info-flask-3.0.2-pyhd8ed1ab_0.tar.zst</a:t>
                      </a:r>
                    </a:p>
                  </a:txBody>
                  <a:tcPr marL="3296" marR="3296" marT="3296" marB="0" anchor="ctr">
                    <a:lnL>
                      <a:noFill/>
                    </a:lnL>
                    <a:lnR>
                      <a:noFill/>
                    </a:lnR>
                    <a:lnT>
                      <a:noFill/>
                    </a:lnT>
                    <a:lnB>
                      <a:noFill/>
                    </a:lnB>
                    <a:noFill/>
                  </a:tcPr>
                </a:tc>
                <a:extLst>
                  <a:ext uri="{0D108BD9-81ED-4DB2-BD59-A6C34878D82A}">
                    <a16:rowId xmlns:a16="http://schemas.microsoft.com/office/drawing/2014/main" val="2213403650"/>
                  </a:ext>
                </a:extLst>
              </a:tr>
              <a:tr h="65929">
                <a:tc>
                  <a:txBody>
                    <a:bodyPr/>
                    <a:lstStyle/>
                    <a:p>
                      <a:pPr algn="l" fontAlgn="ctr"/>
                      <a:r>
                        <a:rPr lang="en-US" sz="800" b="1" i="0" u="none" strike="noStrike" dirty="0">
                          <a:solidFill>
                            <a:srgbClr val="FF5792"/>
                          </a:solidFill>
                          <a:effectLst/>
                          <a:latin typeface="Consolas" panose="020B0609020204030204" pitchFamily="49" charset="0"/>
                        </a:rPr>
                        <a:t>/info-flask-3.0.2-pyhd8ed1ab_0/info</a:t>
                      </a:r>
                    </a:p>
                  </a:txBody>
                  <a:tcPr marL="3296" marR="3296" marT="3296" marB="0" anchor="ctr">
                    <a:lnL>
                      <a:noFill/>
                    </a:lnL>
                    <a:lnR>
                      <a:noFill/>
                    </a:lnR>
                    <a:lnT>
                      <a:noFill/>
                    </a:lnT>
                    <a:lnB>
                      <a:noFill/>
                    </a:lnB>
                    <a:noFill/>
                  </a:tcPr>
                </a:tc>
                <a:extLst>
                  <a:ext uri="{0D108BD9-81ED-4DB2-BD59-A6C34878D82A}">
                    <a16:rowId xmlns:a16="http://schemas.microsoft.com/office/drawing/2014/main" val="929141993"/>
                  </a:ext>
                </a:extLst>
              </a:tr>
              <a:tr h="65929">
                <a:tc>
                  <a:txBody>
                    <a:bodyPr/>
                    <a:lstStyle/>
                    <a:p>
                      <a:pPr algn="l" fontAlgn="ctr"/>
                      <a:r>
                        <a:rPr lang="en-US" sz="800" b="1" i="0" u="none" strike="noStrike" dirty="0">
                          <a:solidFill>
                            <a:srgbClr val="FF5792"/>
                          </a:solidFill>
                          <a:effectLst/>
                          <a:latin typeface="Consolas" panose="020B0609020204030204" pitchFamily="49" charset="0"/>
                        </a:rPr>
                        <a:t>/info-flask-3.0.2-pyhd8ed1ab_0/info/</a:t>
                      </a:r>
                      <a:r>
                        <a:rPr lang="en-US" sz="800" b="1" i="0" u="none" strike="noStrike" dirty="0" err="1">
                          <a:solidFill>
                            <a:srgbClr val="FF5792"/>
                          </a:solidFill>
                          <a:effectLst/>
                          <a:latin typeface="Consolas" panose="020B0609020204030204" pitchFamily="49" charset="0"/>
                        </a:rPr>
                        <a:t>about.json</a:t>
                      </a:r>
                      <a:endParaRPr lang="en-US" sz="800" b="1" i="0" u="none" strike="noStrike" dirty="0">
                        <a:solidFill>
                          <a:srgbClr val="FF5792"/>
                        </a:solidFill>
                        <a:effectLst/>
                        <a:latin typeface="Consolas" panose="020B0609020204030204" pitchFamily="49" charset="0"/>
                      </a:endParaRPr>
                    </a:p>
                  </a:txBody>
                  <a:tcPr marL="3296" marR="3296" marT="3296" marB="0" anchor="ctr">
                    <a:lnL>
                      <a:noFill/>
                    </a:lnL>
                    <a:lnR>
                      <a:noFill/>
                    </a:lnR>
                    <a:lnT>
                      <a:noFill/>
                    </a:lnT>
                    <a:lnB>
                      <a:noFill/>
                    </a:lnB>
                    <a:noFill/>
                  </a:tcPr>
                </a:tc>
                <a:extLst>
                  <a:ext uri="{0D108BD9-81ED-4DB2-BD59-A6C34878D82A}">
                    <a16:rowId xmlns:a16="http://schemas.microsoft.com/office/drawing/2014/main" val="3120277773"/>
                  </a:ext>
                </a:extLst>
              </a:tr>
              <a:tr h="65929">
                <a:tc>
                  <a:txBody>
                    <a:bodyPr/>
                    <a:lstStyle/>
                    <a:p>
                      <a:pPr algn="l" fontAlgn="ctr"/>
                      <a:r>
                        <a:rPr lang="en-US" sz="800" b="1" i="0" u="none" strike="noStrike" dirty="0">
                          <a:solidFill>
                            <a:srgbClr val="FF5792"/>
                          </a:solidFill>
                          <a:effectLst/>
                          <a:latin typeface="Consolas" panose="020B0609020204030204" pitchFamily="49" charset="0"/>
                        </a:rPr>
                        <a:t>/info-flask-3.0.2-pyhd8ed1ab_0/info/files</a:t>
                      </a:r>
                    </a:p>
                  </a:txBody>
                  <a:tcPr marL="3296" marR="3296" marT="3296" marB="0" anchor="ctr">
                    <a:lnL>
                      <a:noFill/>
                    </a:lnL>
                    <a:lnR>
                      <a:noFill/>
                    </a:lnR>
                    <a:lnT>
                      <a:noFill/>
                    </a:lnT>
                    <a:lnB>
                      <a:noFill/>
                    </a:lnB>
                    <a:noFill/>
                  </a:tcPr>
                </a:tc>
                <a:extLst>
                  <a:ext uri="{0D108BD9-81ED-4DB2-BD59-A6C34878D82A}">
                    <a16:rowId xmlns:a16="http://schemas.microsoft.com/office/drawing/2014/main" val="3555027951"/>
                  </a:ext>
                </a:extLst>
              </a:tr>
              <a:tr h="65929">
                <a:tc>
                  <a:txBody>
                    <a:bodyPr/>
                    <a:lstStyle/>
                    <a:p>
                      <a:pPr algn="l" fontAlgn="ctr"/>
                      <a:r>
                        <a:rPr lang="en-US" sz="800" b="1" i="0" u="none" strike="noStrike" dirty="0">
                          <a:solidFill>
                            <a:srgbClr val="FF5792"/>
                          </a:solidFill>
                          <a:effectLst/>
                          <a:latin typeface="Consolas" panose="020B0609020204030204" pitchFamily="49" charset="0"/>
                        </a:rPr>
                        <a:t>/info-flask-3.0.2-pyhd8ed1ab_0/info/git</a:t>
                      </a:r>
                    </a:p>
                  </a:txBody>
                  <a:tcPr marL="3296" marR="3296" marT="3296" marB="0" anchor="ctr">
                    <a:lnL>
                      <a:noFill/>
                    </a:lnL>
                    <a:lnR>
                      <a:noFill/>
                    </a:lnR>
                    <a:lnT>
                      <a:noFill/>
                    </a:lnT>
                    <a:lnB>
                      <a:noFill/>
                    </a:lnB>
                    <a:noFill/>
                  </a:tcPr>
                </a:tc>
                <a:extLst>
                  <a:ext uri="{0D108BD9-81ED-4DB2-BD59-A6C34878D82A}">
                    <a16:rowId xmlns:a16="http://schemas.microsoft.com/office/drawing/2014/main" val="1779499688"/>
                  </a:ext>
                </a:extLst>
              </a:tr>
              <a:tr h="65929">
                <a:tc>
                  <a:txBody>
                    <a:bodyPr/>
                    <a:lstStyle/>
                    <a:p>
                      <a:pPr algn="l" fontAlgn="ctr"/>
                      <a:r>
                        <a:rPr lang="en-US" sz="800" b="1" i="0" u="none" strike="noStrike" dirty="0">
                          <a:solidFill>
                            <a:srgbClr val="FF5792"/>
                          </a:solidFill>
                          <a:effectLst/>
                          <a:latin typeface="Consolas" panose="020B0609020204030204" pitchFamily="49" charset="0"/>
                        </a:rPr>
                        <a:t>/info-flask-3.0.2-pyhd8ed1ab_0/info/</a:t>
                      </a:r>
                      <a:r>
                        <a:rPr lang="en-US" sz="800" b="1" i="0" u="none" strike="noStrike" dirty="0" err="1">
                          <a:solidFill>
                            <a:srgbClr val="FF5792"/>
                          </a:solidFill>
                          <a:effectLst/>
                          <a:latin typeface="Consolas" panose="020B0609020204030204" pitchFamily="49" charset="0"/>
                        </a:rPr>
                        <a:t>hash_input.json</a:t>
                      </a:r>
                      <a:endParaRPr lang="en-US" sz="800" b="1" i="0" u="none" strike="noStrike" dirty="0">
                        <a:solidFill>
                          <a:srgbClr val="FF5792"/>
                        </a:solidFill>
                        <a:effectLst/>
                        <a:latin typeface="Consolas" panose="020B0609020204030204" pitchFamily="49" charset="0"/>
                      </a:endParaRPr>
                    </a:p>
                  </a:txBody>
                  <a:tcPr marL="3296" marR="3296" marT="3296" marB="0" anchor="ctr">
                    <a:lnL>
                      <a:noFill/>
                    </a:lnL>
                    <a:lnR>
                      <a:noFill/>
                    </a:lnR>
                    <a:lnT>
                      <a:noFill/>
                    </a:lnT>
                    <a:lnB>
                      <a:noFill/>
                    </a:lnB>
                    <a:noFill/>
                  </a:tcPr>
                </a:tc>
                <a:extLst>
                  <a:ext uri="{0D108BD9-81ED-4DB2-BD59-A6C34878D82A}">
                    <a16:rowId xmlns:a16="http://schemas.microsoft.com/office/drawing/2014/main" val="4133476576"/>
                  </a:ext>
                </a:extLst>
              </a:tr>
              <a:tr h="65929">
                <a:tc>
                  <a:txBody>
                    <a:bodyPr/>
                    <a:lstStyle/>
                    <a:p>
                      <a:pPr algn="l" fontAlgn="ctr"/>
                      <a:r>
                        <a:rPr lang="en-US" sz="800" b="1" i="0" u="none" strike="noStrike" dirty="0">
                          <a:solidFill>
                            <a:srgbClr val="FF5792"/>
                          </a:solidFill>
                          <a:effectLst/>
                          <a:latin typeface="Consolas" panose="020B0609020204030204" pitchFamily="49" charset="0"/>
                        </a:rPr>
                        <a:t>/info-flask-3.0.2-pyhd8ed1ab_0/info/</a:t>
                      </a:r>
                      <a:r>
                        <a:rPr lang="en-US" sz="800" b="1" i="0" u="none" strike="noStrike" dirty="0" err="1">
                          <a:solidFill>
                            <a:srgbClr val="FF5792"/>
                          </a:solidFill>
                          <a:effectLst/>
                          <a:latin typeface="Consolas" panose="020B0609020204030204" pitchFamily="49" charset="0"/>
                        </a:rPr>
                        <a:t>index.json</a:t>
                      </a:r>
                      <a:endParaRPr lang="en-US" sz="800" b="1" i="0" u="none" strike="noStrike" dirty="0">
                        <a:solidFill>
                          <a:srgbClr val="FF5792"/>
                        </a:solidFill>
                        <a:effectLst/>
                        <a:latin typeface="Consolas" panose="020B0609020204030204" pitchFamily="49" charset="0"/>
                      </a:endParaRPr>
                    </a:p>
                  </a:txBody>
                  <a:tcPr marL="3296" marR="3296" marT="3296" marB="0" anchor="ctr">
                    <a:lnL>
                      <a:noFill/>
                    </a:lnL>
                    <a:lnR>
                      <a:noFill/>
                    </a:lnR>
                    <a:lnT>
                      <a:noFill/>
                    </a:lnT>
                    <a:lnB>
                      <a:noFill/>
                    </a:lnB>
                    <a:noFill/>
                  </a:tcPr>
                </a:tc>
                <a:extLst>
                  <a:ext uri="{0D108BD9-81ED-4DB2-BD59-A6C34878D82A}">
                    <a16:rowId xmlns:a16="http://schemas.microsoft.com/office/drawing/2014/main" val="3868566543"/>
                  </a:ext>
                </a:extLst>
              </a:tr>
              <a:tr h="65929">
                <a:tc>
                  <a:txBody>
                    <a:bodyPr/>
                    <a:lstStyle/>
                    <a:p>
                      <a:pPr algn="l" fontAlgn="ctr"/>
                      <a:r>
                        <a:rPr lang="en-US" sz="800" b="1" i="0" u="none" strike="noStrike" dirty="0">
                          <a:solidFill>
                            <a:srgbClr val="FF5792"/>
                          </a:solidFill>
                          <a:effectLst/>
                          <a:latin typeface="Consolas" panose="020B0609020204030204" pitchFamily="49" charset="0"/>
                        </a:rPr>
                        <a:t>/info-flask-3.0.2-pyhd8ed1ab_0/info/</a:t>
                      </a:r>
                      <a:r>
                        <a:rPr lang="en-US" sz="800" b="1" i="0" u="none" strike="noStrike" dirty="0" err="1">
                          <a:solidFill>
                            <a:srgbClr val="FF5792"/>
                          </a:solidFill>
                          <a:effectLst/>
                          <a:latin typeface="Consolas" panose="020B0609020204030204" pitchFamily="49" charset="0"/>
                        </a:rPr>
                        <a:t>link.json</a:t>
                      </a:r>
                      <a:endParaRPr lang="en-US" sz="800" b="1" i="0" u="none" strike="noStrike" dirty="0">
                        <a:solidFill>
                          <a:srgbClr val="FF5792"/>
                        </a:solidFill>
                        <a:effectLst/>
                        <a:latin typeface="Consolas" panose="020B0609020204030204" pitchFamily="49" charset="0"/>
                      </a:endParaRPr>
                    </a:p>
                  </a:txBody>
                  <a:tcPr marL="3296" marR="3296" marT="3296" marB="0" anchor="ctr">
                    <a:lnL>
                      <a:noFill/>
                    </a:lnL>
                    <a:lnR>
                      <a:noFill/>
                    </a:lnR>
                    <a:lnT>
                      <a:noFill/>
                    </a:lnT>
                    <a:lnB>
                      <a:noFill/>
                    </a:lnB>
                    <a:noFill/>
                  </a:tcPr>
                </a:tc>
                <a:extLst>
                  <a:ext uri="{0D108BD9-81ED-4DB2-BD59-A6C34878D82A}">
                    <a16:rowId xmlns:a16="http://schemas.microsoft.com/office/drawing/2014/main" val="1854036849"/>
                  </a:ext>
                </a:extLst>
              </a:tr>
              <a:tr h="65929">
                <a:tc>
                  <a:txBody>
                    <a:bodyPr/>
                    <a:lstStyle/>
                    <a:p>
                      <a:pPr algn="l" fontAlgn="ctr"/>
                      <a:r>
                        <a:rPr lang="en-US" sz="800" b="1" i="0" u="none" strike="noStrike" dirty="0">
                          <a:solidFill>
                            <a:srgbClr val="FF5792"/>
                          </a:solidFill>
                          <a:effectLst/>
                          <a:latin typeface="Consolas" panose="020B0609020204030204" pitchFamily="49" charset="0"/>
                        </a:rPr>
                        <a:t>/info-flask-3.0.2-pyhd8ed1ab_0/info/</a:t>
                      </a:r>
                      <a:r>
                        <a:rPr lang="en-US" sz="800" b="1" i="0" u="none" strike="noStrike" dirty="0" err="1">
                          <a:solidFill>
                            <a:srgbClr val="FF5792"/>
                          </a:solidFill>
                          <a:effectLst/>
                          <a:latin typeface="Consolas" panose="020B0609020204030204" pitchFamily="49" charset="0"/>
                        </a:rPr>
                        <a:t>paths.json</a:t>
                      </a:r>
                      <a:endParaRPr lang="en-US" sz="800" b="1" i="0" u="none" strike="noStrike" dirty="0">
                        <a:solidFill>
                          <a:srgbClr val="FF5792"/>
                        </a:solidFill>
                        <a:effectLst/>
                        <a:latin typeface="Consolas" panose="020B0609020204030204" pitchFamily="49" charset="0"/>
                      </a:endParaRPr>
                    </a:p>
                  </a:txBody>
                  <a:tcPr marL="3296" marR="3296" marT="3296" marB="0" anchor="ctr">
                    <a:lnL>
                      <a:noFill/>
                    </a:lnL>
                    <a:lnR>
                      <a:noFill/>
                    </a:lnR>
                    <a:lnT>
                      <a:noFill/>
                    </a:lnT>
                    <a:lnB>
                      <a:noFill/>
                    </a:lnB>
                    <a:noFill/>
                  </a:tcPr>
                </a:tc>
                <a:extLst>
                  <a:ext uri="{0D108BD9-81ED-4DB2-BD59-A6C34878D82A}">
                    <a16:rowId xmlns:a16="http://schemas.microsoft.com/office/drawing/2014/main" val="2996765995"/>
                  </a:ext>
                </a:extLst>
              </a:tr>
              <a:tr h="65929">
                <a:tc>
                  <a:txBody>
                    <a:bodyPr/>
                    <a:lstStyle/>
                    <a:p>
                      <a:pPr algn="l" fontAlgn="ctr"/>
                      <a:r>
                        <a:rPr lang="en-US" sz="800" b="1" i="0" u="none" strike="noStrike" dirty="0">
                          <a:solidFill>
                            <a:srgbClr val="FF5792"/>
                          </a:solidFill>
                          <a:effectLst/>
                          <a:latin typeface="Consolas" panose="020B0609020204030204" pitchFamily="49" charset="0"/>
                        </a:rPr>
                        <a:t>/info-flask-3.0.2-pyhd8ed1ab_0/info/recipe</a:t>
                      </a:r>
                    </a:p>
                  </a:txBody>
                  <a:tcPr marL="3296" marR="3296" marT="3296" marB="0" anchor="ctr">
                    <a:lnL>
                      <a:noFill/>
                    </a:lnL>
                    <a:lnR>
                      <a:noFill/>
                    </a:lnR>
                    <a:lnT>
                      <a:noFill/>
                    </a:lnT>
                    <a:lnB>
                      <a:noFill/>
                    </a:lnB>
                    <a:noFill/>
                  </a:tcPr>
                </a:tc>
                <a:extLst>
                  <a:ext uri="{0D108BD9-81ED-4DB2-BD59-A6C34878D82A}">
                    <a16:rowId xmlns:a16="http://schemas.microsoft.com/office/drawing/2014/main" val="3581654426"/>
                  </a:ext>
                </a:extLst>
              </a:tr>
              <a:tr h="65929">
                <a:tc>
                  <a:txBody>
                    <a:bodyPr/>
                    <a:lstStyle/>
                    <a:p>
                      <a:pPr algn="l" fontAlgn="ctr"/>
                      <a:r>
                        <a:rPr lang="en-US" sz="800" b="1" i="0" u="none" strike="noStrike">
                          <a:solidFill>
                            <a:srgbClr val="FF5792"/>
                          </a:solidFill>
                          <a:effectLst/>
                          <a:latin typeface="Consolas" panose="020B0609020204030204" pitchFamily="49" charset="0"/>
                        </a:rPr>
                        <a:t>/info-flask-3.0.2-pyhd8ed1ab_0/info/recipe/conda_build_config.yaml</a:t>
                      </a:r>
                    </a:p>
                  </a:txBody>
                  <a:tcPr marL="3296" marR="3296" marT="3296" marB="0" anchor="ctr">
                    <a:lnL>
                      <a:noFill/>
                    </a:lnL>
                    <a:lnR>
                      <a:noFill/>
                    </a:lnR>
                    <a:lnT>
                      <a:noFill/>
                    </a:lnT>
                    <a:lnB>
                      <a:noFill/>
                    </a:lnB>
                    <a:noFill/>
                  </a:tcPr>
                </a:tc>
                <a:extLst>
                  <a:ext uri="{0D108BD9-81ED-4DB2-BD59-A6C34878D82A}">
                    <a16:rowId xmlns:a16="http://schemas.microsoft.com/office/drawing/2014/main" val="4199008074"/>
                  </a:ext>
                </a:extLst>
              </a:tr>
              <a:tr h="65929">
                <a:tc>
                  <a:txBody>
                    <a:bodyPr/>
                    <a:lstStyle/>
                    <a:p>
                      <a:pPr algn="l" fontAlgn="ctr"/>
                      <a:r>
                        <a:rPr lang="en-US" sz="800" b="1" i="0" u="none" strike="noStrike">
                          <a:solidFill>
                            <a:srgbClr val="FF5792"/>
                          </a:solidFill>
                          <a:effectLst/>
                          <a:latin typeface="Consolas" panose="020B0609020204030204" pitchFamily="49" charset="0"/>
                        </a:rPr>
                        <a:t>/info-flask-3.0.2-pyhd8ed1ab_0/info/recipe/meta.yaml</a:t>
                      </a:r>
                    </a:p>
                  </a:txBody>
                  <a:tcPr marL="3296" marR="3296" marT="3296" marB="0" anchor="ctr">
                    <a:lnL>
                      <a:noFill/>
                    </a:lnL>
                    <a:lnR>
                      <a:noFill/>
                    </a:lnR>
                    <a:lnT>
                      <a:noFill/>
                    </a:lnT>
                    <a:lnB>
                      <a:noFill/>
                    </a:lnB>
                    <a:noFill/>
                  </a:tcPr>
                </a:tc>
                <a:extLst>
                  <a:ext uri="{0D108BD9-81ED-4DB2-BD59-A6C34878D82A}">
                    <a16:rowId xmlns:a16="http://schemas.microsoft.com/office/drawing/2014/main" val="2564768648"/>
                  </a:ext>
                </a:extLst>
              </a:tr>
              <a:tr h="65929">
                <a:tc>
                  <a:txBody>
                    <a:bodyPr/>
                    <a:lstStyle/>
                    <a:p>
                      <a:pPr algn="l" fontAlgn="ctr"/>
                      <a:r>
                        <a:rPr lang="en-US" sz="800" b="1" i="0" u="none" strike="noStrike">
                          <a:solidFill>
                            <a:srgbClr val="FF5792"/>
                          </a:solidFill>
                          <a:effectLst/>
                          <a:latin typeface="Consolas" panose="020B0609020204030204" pitchFamily="49" charset="0"/>
                        </a:rPr>
                        <a:t>/info-flask-3.0.2-pyhd8ed1ab_0/info/recipe/meta.yaml.template</a:t>
                      </a:r>
                    </a:p>
                  </a:txBody>
                  <a:tcPr marL="3296" marR="3296" marT="3296" marB="0" anchor="ctr">
                    <a:lnL>
                      <a:noFill/>
                    </a:lnL>
                    <a:lnR>
                      <a:noFill/>
                    </a:lnR>
                    <a:lnT>
                      <a:noFill/>
                    </a:lnT>
                    <a:lnB>
                      <a:noFill/>
                    </a:lnB>
                    <a:noFill/>
                  </a:tcPr>
                </a:tc>
                <a:extLst>
                  <a:ext uri="{0D108BD9-81ED-4DB2-BD59-A6C34878D82A}">
                    <a16:rowId xmlns:a16="http://schemas.microsoft.com/office/drawing/2014/main" val="2967516539"/>
                  </a:ext>
                </a:extLst>
              </a:tr>
              <a:tr h="65929">
                <a:tc>
                  <a:txBody>
                    <a:bodyPr/>
                    <a:lstStyle/>
                    <a:p>
                      <a:pPr algn="l" fontAlgn="ctr"/>
                      <a:r>
                        <a:rPr lang="en-US" sz="800" b="1" i="0" u="none" strike="noStrike">
                          <a:solidFill>
                            <a:srgbClr val="FF5792"/>
                          </a:solidFill>
                          <a:effectLst/>
                          <a:latin typeface="Consolas" panose="020B0609020204030204" pitchFamily="49" charset="0"/>
                        </a:rPr>
                        <a:t>/info-flask-3.0.2-pyhd8ed1ab_0/info/recipe/recipe-scripts-license.txt</a:t>
                      </a:r>
                    </a:p>
                  </a:txBody>
                  <a:tcPr marL="3296" marR="3296" marT="3296" marB="0" anchor="ctr">
                    <a:lnL>
                      <a:noFill/>
                    </a:lnL>
                    <a:lnR>
                      <a:noFill/>
                    </a:lnR>
                    <a:lnT>
                      <a:noFill/>
                    </a:lnT>
                    <a:lnB>
                      <a:noFill/>
                    </a:lnB>
                    <a:noFill/>
                  </a:tcPr>
                </a:tc>
                <a:extLst>
                  <a:ext uri="{0D108BD9-81ED-4DB2-BD59-A6C34878D82A}">
                    <a16:rowId xmlns:a16="http://schemas.microsoft.com/office/drawing/2014/main" val="3947557640"/>
                  </a:ext>
                </a:extLst>
              </a:tr>
              <a:tr h="65929">
                <a:tc>
                  <a:txBody>
                    <a:bodyPr/>
                    <a:lstStyle/>
                    <a:p>
                      <a:pPr algn="l" fontAlgn="ctr"/>
                      <a:r>
                        <a:rPr lang="en-US" sz="800" b="1" i="0" u="none" strike="noStrike">
                          <a:solidFill>
                            <a:srgbClr val="FF5792"/>
                          </a:solidFill>
                          <a:effectLst/>
                          <a:latin typeface="Consolas" panose="020B0609020204030204" pitchFamily="49" charset="0"/>
                        </a:rPr>
                        <a:t>/info-flask-3.0.2-pyhd8ed1ab_0/info/test</a:t>
                      </a:r>
                    </a:p>
                  </a:txBody>
                  <a:tcPr marL="3296" marR="3296" marT="3296" marB="0" anchor="ctr">
                    <a:lnL>
                      <a:noFill/>
                    </a:lnL>
                    <a:lnR>
                      <a:noFill/>
                    </a:lnR>
                    <a:lnT>
                      <a:noFill/>
                    </a:lnT>
                    <a:lnB>
                      <a:noFill/>
                    </a:lnB>
                    <a:noFill/>
                  </a:tcPr>
                </a:tc>
                <a:extLst>
                  <a:ext uri="{0D108BD9-81ED-4DB2-BD59-A6C34878D82A}">
                    <a16:rowId xmlns:a16="http://schemas.microsoft.com/office/drawing/2014/main" val="610092398"/>
                  </a:ext>
                </a:extLst>
              </a:tr>
              <a:tr h="65929">
                <a:tc>
                  <a:txBody>
                    <a:bodyPr/>
                    <a:lstStyle/>
                    <a:p>
                      <a:pPr algn="l" fontAlgn="ctr"/>
                      <a:r>
                        <a:rPr lang="en-US" sz="800" b="1" i="0" u="none" strike="noStrike">
                          <a:solidFill>
                            <a:srgbClr val="FF5792"/>
                          </a:solidFill>
                          <a:effectLst/>
                          <a:latin typeface="Consolas" panose="020B0609020204030204" pitchFamily="49" charset="0"/>
                        </a:rPr>
                        <a:t>/info-flask-3.0.2-pyhd8ed1ab_0/info/test/run_test.bat</a:t>
                      </a:r>
                    </a:p>
                  </a:txBody>
                  <a:tcPr marL="3296" marR="3296" marT="3296" marB="0" anchor="ctr">
                    <a:lnL>
                      <a:noFill/>
                    </a:lnL>
                    <a:lnR>
                      <a:noFill/>
                    </a:lnR>
                    <a:lnT>
                      <a:noFill/>
                    </a:lnT>
                    <a:lnB>
                      <a:noFill/>
                    </a:lnB>
                    <a:noFill/>
                  </a:tcPr>
                </a:tc>
                <a:extLst>
                  <a:ext uri="{0D108BD9-81ED-4DB2-BD59-A6C34878D82A}">
                    <a16:rowId xmlns:a16="http://schemas.microsoft.com/office/drawing/2014/main" val="3618361007"/>
                  </a:ext>
                </a:extLst>
              </a:tr>
              <a:tr h="65929">
                <a:tc>
                  <a:txBody>
                    <a:bodyPr/>
                    <a:lstStyle/>
                    <a:p>
                      <a:pPr algn="l" fontAlgn="ctr"/>
                      <a:r>
                        <a:rPr lang="en-US" sz="800" b="1" i="0" u="none" strike="noStrike">
                          <a:solidFill>
                            <a:srgbClr val="FF5792"/>
                          </a:solidFill>
                          <a:effectLst/>
                          <a:latin typeface="Consolas" panose="020B0609020204030204" pitchFamily="49" charset="0"/>
                        </a:rPr>
                        <a:t>/info-flask-3.0.2-pyhd8ed1ab_0/info/test/run_test.py</a:t>
                      </a:r>
                    </a:p>
                  </a:txBody>
                  <a:tcPr marL="3296" marR="3296" marT="3296" marB="0" anchor="ctr">
                    <a:lnL>
                      <a:noFill/>
                    </a:lnL>
                    <a:lnR>
                      <a:noFill/>
                    </a:lnR>
                    <a:lnT>
                      <a:noFill/>
                    </a:lnT>
                    <a:lnB>
                      <a:noFill/>
                    </a:lnB>
                    <a:noFill/>
                  </a:tcPr>
                </a:tc>
                <a:extLst>
                  <a:ext uri="{0D108BD9-81ED-4DB2-BD59-A6C34878D82A}">
                    <a16:rowId xmlns:a16="http://schemas.microsoft.com/office/drawing/2014/main" val="3764357310"/>
                  </a:ext>
                </a:extLst>
              </a:tr>
              <a:tr h="65929">
                <a:tc>
                  <a:txBody>
                    <a:bodyPr/>
                    <a:lstStyle/>
                    <a:p>
                      <a:pPr algn="l" fontAlgn="ctr"/>
                      <a:r>
                        <a:rPr lang="en-US" sz="800" b="1" i="0" u="none" strike="noStrike">
                          <a:solidFill>
                            <a:srgbClr val="FF5792"/>
                          </a:solidFill>
                          <a:effectLst/>
                          <a:latin typeface="Consolas" panose="020B0609020204030204" pitchFamily="49" charset="0"/>
                        </a:rPr>
                        <a:t>/info-flask-3.0.2-pyhd8ed1ab_0/info/test/run_test.sh</a:t>
                      </a:r>
                    </a:p>
                  </a:txBody>
                  <a:tcPr marL="3296" marR="3296" marT="3296" marB="0" anchor="ctr">
                    <a:lnL>
                      <a:noFill/>
                    </a:lnL>
                    <a:lnR>
                      <a:noFill/>
                    </a:lnR>
                    <a:lnT>
                      <a:noFill/>
                    </a:lnT>
                    <a:lnB>
                      <a:noFill/>
                    </a:lnB>
                    <a:noFill/>
                  </a:tcPr>
                </a:tc>
                <a:extLst>
                  <a:ext uri="{0D108BD9-81ED-4DB2-BD59-A6C34878D82A}">
                    <a16:rowId xmlns:a16="http://schemas.microsoft.com/office/drawing/2014/main" val="2803805384"/>
                  </a:ext>
                </a:extLst>
              </a:tr>
              <a:tr h="65929">
                <a:tc>
                  <a:txBody>
                    <a:bodyPr/>
                    <a:lstStyle/>
                    <a:p>
                      <a:pPr algn="l" fontAlgn="ctr"/>
                      <a:r>
                        <a:rPr lang="en-US" sz="800" b="1" i="0" u="none" strike="noStrike">
                          <a:solidFill>
                            <a:srgbClr val="FF5792"/>
                          </a:solidFill>
                          <a:effectLst/>
                          <a:latin typeface="Consolas" panose="020B0609020204030204" pitchFamily="49" charset="0"/>
                        </a:rPr>
                        <a:t>/info-flask-3.0.2-pyhd8ed1ab_0/info/test/test_time_dependencies.json</a:t>
                      </a:r>
                    </a:p>
                  </a:txBody>
                  <a:tcPr marL="3296" marR="3296" marT="3296" marB="0" anchor="ctr">
                    <a:lnL>
                      <a:noFill/>
                    </a:lnL>
                    <a:lnR>
                      <a:noFill/>
                    </a:lnR>
                    <a:lnT>
                      <a:noFill/>
                    </a:lnT>
                    <a:lnB>
                      <a:noFill/>
                    </a:lnB>
                    <a:noFill/>
                  </a:tcPr>
                </a:tc>
                <a:extLst>
                  <a:ext uri="{0D108BD9-81ED-4DB2-BD59-A6C34878D82A}">
                    <a16:rowId xmlns:a16="http://schemas.microsoft.com/office/drawing/2014/main" val="2752789572"/>
                  </a:ext>
                </a:extLst>
              </a:tr>
              <a:tr h="65929">
                <a:tc>
                  <a:txBody>
                    <a:bodyPr/>
                    <a:lstStyle/>
                    <a:p>
                      <a:pPr algn="l" fontAlgn="ctr"/>
                      <a:r>
                        <a:rPr lang="en-US" sz="800" b="1" i="0" u="none" strike="noStrike">
                          <a:solidFill>
                            <a:srgbClr val="FF5792"/>
                          </a:solidFill>
                          <a:effectLst/>
                          <a:latin typeface="Consolas" panose="020B0609020204030204" pitchFamily="49" charset="0"/>
                        </a:rPr>
                        <a:t>/metadata.json</a:t>
                      </a:r>
                    </a:p>
                  </a:txBody>
                  <a:tcPr marL="3296" marR="3296" marT="3296" marB="0" anchor="ctr">
                    <a:lnL>
                      <a:noFill/>
                    </a:lnL>
                    <a:lnR>
                      <a:noFill/>
                    </a:lnR>
                    <a:lnT>
                      <a:noFill/>
                    </a:lnT>
                    <a:lnB>
                      <a:noFill/>
                    </a:lnB>
                    <a:noFill/>
                  </a:tcPr>
                </a:tc>
                <a:extLst>
                  <a:ext uri="{0D108BD9-81ED-4DB2-BD59-A6C34878D82A}">
                    <a16:rowId xmlns:a16="http://schemas.microsoft.com/office/drawing/2014/main" val="2640314746"/>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a:t>
                      </a:r>
                    </a:p>
                  </a:txBody>
                  <a:tcPr marL="3296" marR="3296" marT="3296" marB="0" anchor="ctr">
                    <a:lnL>
                      <a:noFill/>
                    </a:lnL>
                    <a:lnR>
                      <a:noFill/>
                    </a:lnR>
                    <a:lnT>
                      <a:noFill/>
                    </a:lnT>
                    <a:lnB>
                      <a:noFill/>
                    </a:lnB>
                    <a:noFill/>
                  </a:tcPr>
                </a:tc>
                <a:extLst>
                  <a:ext uri="{0D108BD9-81ED-4DB2-BD59-A6C34878D82A}">
                    <a16:rowId xmlns:a16="http://schemas.microsoft.com/office/drawing/2014/main" val="3796318348"/>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/pkg-flask-3.0.2-pyhd8ed1ab_0/info</a:t>
                      </a:r>
                    </a:p>
                  </a:txBody>
                  <a:tcPr marL="3296" marR="3296" marT="3296" marB="0" anchor="ctr">
                    <a:lnL>
                      <a:noFill/>
                    </a:lnL>
                    <a:lnR>
                      <a:noFill/>
                    </a:lnR>
                    <a:lnT>
                      <a:noFill/>
                    </a:lnT>
                    <a:lnB>
                      <a:noFill/>
                    </a:lnB>
                    <a:noFill/>
                  </a:tcPr>
                </a:tc>
                <a:extLst>
                  <a:ext uri="{0D108BD9-81ED-4DB2-BD59-A6C34878D82A}">
                    <a16:rowId xmlns:a16="http://schemas.microsoft.com/office/drawing/2014/main" val="1488239618"/>
                  </a:ext>
                </a:extLst>
              </a:tr>
              <a:tr h="65929">
                <a:tc>
                  <a:txBody>
                    <a:bodyPr/>
                    <a:lstStyle/>
                    <a:p>
                      <a:pPr algn="l" fontAlgn="ctr"/>
                      <a:r>
                        <a:rPr lang="en-US" sz="800" b="1" i="0" u="none" strike="noStrike">
                          <a:solidFill>
                            <a:srgbClr val="FF5792"/>
                          </a:solidFill>
                          <a:effectLst/>
                          <a:latin typeface="Consolas" panose="020B0609020204030204" pitchFamily="49" charset="0"/>
                        </a:rPr>
                        <a:t>/pkg-flask-3.0.2-pyhd8ed1ab_0/info/licenses</a:t>
                      </a:r>
                    </a:p>
                  </a:txBody>
                  <a:tcPr marL="3296" marR="3296" marT="3296" marB="0" anchor="ctr">
                    <a:lnL>
                      <a:noFill/>
                    </a:lnL>
                    <a:lnR>
                      <a:noFill/>
                    </a:lnR>
                    <a:lnT>
                      <a:noFill/>
                    </a:lnT>
                    <a:lnB>
                      <a:noFill/>
                    </a:lnB>
                    <a:noFill/>
                  </a:tcPr>
                </a:tc>
                <a:extLst>
                  <a:ext uri="{0D108BD9-81ED-4DB2-BD59-A6C34878D82A}">
                    <a16:rowId xmlns:a16="http://schemas.microsoft.com/office/drawing/2014/main" val="1436157134"/>
                  </a:ext>
                </a:extLst>
              </a:tr>
              <a:tr h="65929">
                <a:tc>
                  <a:txBody>
                    <a:bodyPr/>
                    <a:lstStyle/>
                    <a:p>
                      <a:pPr algn="l" fontAlgn="ctr"/>
                      <a:r>
                        <a:rPr lang="en-US" sz="800" b="1" i="0" u="none" strike="noStrike" dirty="0">
                          <a:solidFill>
                            <a:srgbClr val="FF5792"/>
                          </a:solidFill>
                          <a:effectLst/>
                          <a:latin typeface="Consolas" panose="020B0609020204030204" pitchFamily="49" charset="0"/>
                        </a:rPr>
                        <a:t>/pkg-flask-3.0.2-pyhd8ed1ab_0/info/licenses/</a:t>
                      </a:r>
                      <a:r>
                        <a:rPr lang="en-US" sz="800" b="1" i="0" u="none" strike="noStrike" dirty="0" err="1">
                          <a:solidFill>
                            <a:srgbClr val="FF5792"/>
                          </a:solidFill>
                          <a:effectLst/>
                          <a:latin typeface="Consolas" panose="020B0609020204030204" pitchFamily="49" charset="0"/>
                        </a:rPr>
                        <a:t>LICENSE.rst</a:t>
                      </a:r>
                      <a:endParaRPr lang="en-US" sz="800" b="1" i="0" u="none" strike="noStrike" dirty="0">
                        <a:solidFill>
                          <a:srgbClr val="FF5792"/>
                        </a:solidFill>
                        <a:effectLst/>
                        <a:latin typeface="Consolas" panose="020B0609020204030204" pitchFamily="49" charset="0"/>
                      </a:endParaRPr>
                    </a:p>
                  </a:txBody>
                  <a:tcPr marL="3296" marR="3296" marT="3296" marB="0" anchor="ctr">
                    <a:lnL>
                      <a:noFill/>
                    </a:lnL>
                    <a:lnR>
                      <a:noFill/>
                    </a:lnR>
                    <a:lnT>
                      <a:noFill/>
                    </a:lnT>
                    <a:lnB>
                      <a:noFill/>
                    </a:lnB>
                    <a:noFill/>
                  </a:tcPr>
                </a:tc>
                <a:extLst>
                  <a:ext uri="{0D108BD9-81ED-4DB2-BD59-A6C34878D82A}">
                    <a16:rowId xmlns:a16="http://schemas.microsoft.com/office/drawing/2014/main" val="3362850972"/>
                  </a:ext>
                </a:extLst>
              </a:tr>
            </a:tbl>
          </a:graphicData>
        </a:graphic>
      </p:graphicFrame>
      <p:sp>
        <p:nvSpPr>
          <p:cNvPr id="13" name="TextBox 12">
            <a:extLst>
              <a:ext uri="{FF2B5EF4-FFF2-40B4-BE49-F238E27FC236}">
                <a16:creationId xmlns:a16="http://schemas.microsoft.com/office/drawing/2014/main" id="{4DADC48A-1CE9-6530-D166-B734C05D8142}"/>
              </a:ext>
            </a:extLst>
          </p:cNvPr>
          <p:cNvSpPr txBox="1"/>
          <p:nvPr/>
        </p:nvSpPr>
        <p:spPr>
          <a:xfrm>
            <a:off x="1430375" y="2691063"/>
            <a:ext cx="1981898" cy="369332"/>
          </a:xfrm>
          <a:prstGeom prst="rect">
            <a:avLst/>
          </a:prstGeom>
          <a:noFill/>
        </p:spPr>
        <p:txBody>
          <a:bodyPr wrap="square" rtlCol="0">
            <a:spAutoFit/>
          </a:bodyPr>
          <a:lstStyle/>
          <a:p>
            <a:r>
              <a:rPr lang="en-US" dirty="0">
                <a:solidFill>
                  <a:srgbClr val="236356"/>
                </a:solidFill>
                <a:latin typeface="Georgia" panose="02040502050405020303" pitchFamily="18" charset="0"/>
              </a:rPr>
              <a:t>Meta data files</a:t>
            </a:r>
          </a:p>
        </p:txBody>
      </p:sp>
    </p:spTree>
    <p:extLst>
      <p:ext uri="{BB962C8B-B14F-4D97-AF65-F5344CB8AC3E}">
        <p14:creationId xmlns:p14="http://schemas.microsoft.com/office/powerpoint/2010/main" val="30393229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9ED2E6-6C0B-FA9E-5431-D846AED597B2}"/>
              </a:ext>
            </a:extLst>
          </p:cNvPr>
          <p:cNvSpPr>
            <a:spLocks noGrp="1"/>
          </p:cNvSpPr>
          <p:nvPr>
            <p:ph type="title"/>
          </p:nvPr>
        </p:nvSpPr>
        <p:spPr/>
        <p:txBody>
          <a:bodyPr/>
          <a:lstStyle/>
          <a:p>
            <a:r>
              <a:rPr lang="en-US" dirty="0"/>
              <a:t>Modern </a:t>
            </a:r>
            <a:r>
              <a:rPr lang="en-US" i="1" dirty="0" err="1"/>
              <a:t>conda</a:t>
            </a:r>
            <a:r>
              <a:rPr lang="en-US" dirty="0"/>
              <a:t> and </a:t>
            </a:r>
            <a:r>
              <a:rPr lang="en-US" i="1" dirty="0"/>
              <a:t>pip</a:t>
            </a:r>
            <a:r>
              <a:rPr lang="en-US" dirty="0"/>
              <a:t> work well together</a:t>
            </a:r>
          </a:p>
        </p:txBody>
      </p:sp>
      <p:sp>
        <p:nvSpPr>
          <p:cNvPr id="3" name="TextBox 2">
            <a:extLst>
              <a:ext uri="{FF2B5EF4-FFF2-40B4-BE49-F238E27FC236}">
                <a16:creationId xmlns:a16="http://schemas.microsoft.com/office/drawing/2014/main" id="{E1F53963-4826-1046-D1F2-D692D7948C3B}"/>
              </a:ext>
            </a:extLst>
          </p:cNvPr>
          <p:cNvSpPr txBox="1"/>
          <p:nvPr/>
        </p:nvSpPr>
        <p:spPr>
          <a:xfrm>
            <a:off x="838200" y="1827802"/>
            <a:ext cx="3930884" cy="954107"/>
          </a:xfrm>
          <a:prstGeom prst="rect">
            <a:avLst/>
          </a:prstGeom>
          <a:noFill/>
        </p:spPr>
        <p:txBody>
          <a:bodyPr wrap="none" rtlCol="0">
            <a:spAutoFit/>
          </a:bodyPr>
          <a:lstStyle/>
          <a:p>
            <a:r>
              <a:rPr lang="en-US" sz="2800" b="0" dirty="0">
                <a:solidFill>
                  <a:srgbClr val="00BDD6"/>
                </a:solidFill>
                <a:effectLst/>
                <a:latin typeface="Consolas" panose="020B0609020204030204" pitchFamily="49" charset="0"/>
              </a:rPr>
              <a:t>pip</a:t>
            </a:r>
            <a:r>
              <a:rPr lang="en-US" sz="2800" b="0" dirty="0">
                <a:solidFill>
                  <a:srgbClr val="FA8900"/>
                </a:solidFill>
                <a:effectLst/>
                <a:latin typeface="Consolas" panose="020B0609020204030204" pitchFamily="49" charset="0"/>
              </a:rPr>
              <a:t> </a:t>
            </a:r>
            <a:r>
              <a:rPr lang="en-US" sz="2800" b="0" dirty="0">
                <a:solidFill>
                  <a:srgbClr val="00B368"/>
                </a:solidFill>
                <a:effectLst/>
                <a:latin typeface="Consolas" panose="020B0609020204030204" pitchFamily="49" charset="0"/>
              </a:rPr>
              <a:t>install</a:t>
            </a:r>
            <a:r>
              <a:rPr lang="en-US" sz="2800" b="0" dirty="0">
                <a:solidFill>
                  <a:srgbClr val="FA8900"/>
                </a:solidFill>
                <a:effectLst/>
                <a:latin typeface="Consolas" panose="020B0609020204030204" pitchFamily="49" charset="0"/>
              </a:rPr>
              <a:t> </a:t>
            </a:r>
            <a:r>
              <a:rPr lang="en-US" sz="2800" b="0" dirty="0" err="1">
                <a:solidFill>
                  <a:srgbClr val="00B368"/>
                </a:solidFill>
                <a:effectLst/>
                <a:latin typeface="Consolas" panose="020B0609020204030204" pitchFamily="49" charset="0"/>
              </a:rPr>
              <a:t>tqdm</a:t>
            </a:r>
            <a:endParaRPr lang="en-US" sz="2800" b="0" dirty="0">
              <a:solidFill>
                <a:srgbClr val="00B368"/>
              </a:solidFill>
              <a:effectLst/>
              <a:latin typeface="Consolas" panose="020B0609020204030204" pitchFamily="49" charset="0"/>
            </a:endParaRPr>
          </a:p>
          <a:p>
            <a:r>
              <a:rPr lang="en-US" sz="2800" b="0" dirty="0" err="1">
                <a:solidFill>
                  <a:srgbClr val="00BDD6"/>
                </a:solidFill>
                <a:effectLst/>
                <a:latin typeface="Consolas" panose="020B0609020204030204" pitchFamily="49" charset="0"/>
              </a:rPr>
              <a:t>conda</a:t>
            </a:r>
            <a:r>
              <a:rPr lang="en-US" sz="2800" b="0" dirty="0">
                <a:solidFill>
                  <a:srgbClr val="00BDD6"/>
                </a:solidFill>
                <a:effectLst/>
                <a:latin typeface="Consolas" panose="020B0609020204030204" pitchFamily="49" charset="0"/>
              </a:rPr>
              <a:t> </a:t>
            </a:r>
            <a:r>
              <a:rPr lang="en-US" sz="2800" b="0" dirty="0">
                <a:solidFill>
                  <a:srgbClr val="00B368"/>
                </a:solidFill>
                <a:effectLst/>
                <a:latin typeface="Consolas" panose="020B0609020204030204" pitchFamily="49" charset="0"/>
              </a:rPr>
              <a:t>install</a:t>
            </a:r>
            <a:r>
              <a:rPr lang="en-US" sz="2800" b="0" dirty="0">
                <a:solidFill>
                  <a:srgbClr val="FA8900"/>
                </a:solidFill>
                <a:effectLst/>
                <a:latin typeface="Consolas" panose="020B0609020204030204" pitchFamily="49" charset="0"/>
              </a:rPr>
              <a:t> </a:t>
            </a:r>
            <a:r>
              <a:rPr lang="en-US" sz="2800" b="0" dirty="0">
                <a:solidFill>
                  <a:srgbClr val="00B368"/>
                </a:solidFill>
                <a:effectLst/>
                <a:latin typeface="Consolas" panose="020B0609020204030204" pitchFamily="49" charset="0"/>
              </a:rPr>
              <a:t>flask</a:t>
            </a:r>
            <a:endParaRPr lang="en-US" sz="2800" b="0" dirty="0">
              <a:solidFill>
                <a:srgbClr val="005661"/>
              </a:solidFill>
              <a:effectLst/>
              <a:latin typeface="Consolas" panose="020B0609020204030204" pitchFamily="49" charset="0"/>
            </a:endParaRPr>
          </a:p>
        </p:txBody>
      </p:sp>
      <p:sp>
        <p:nvSpPr>
          <p:cNvPr id="5" name="TextBox 4">
            <a:extLst>
              <a:ext uri="{FF2B5EF4-FFF2-40B4-BE49-F238E27FC236}">
                <a16:creationId xmlns:a16="http://schemas.microsoft.com/office/drawing/2014/main" id="{106B0529-1EC0-873A-31B1-B0685AE3CF66}"/>
              </a:ext>
            </a:extLst>
          </p:cNvPr>
          <p:cNvSpPr txBox="1"/>
          <p:nvPr/>
        </p:nvSpPr>
        <p:spPr>
          <a:xfrm>
            <a:off x="838200" y="3168151"/>
            <a:ext cx="11149361" cy="2308324"/>
          </a:xfrm>
          <a:prstGeom prst="rect">
            <a:avLst/>
          </a:prstGeom>
          <a:noFill/>
        </p:spPr>
        <p:txBody>
          <a:bodyPr wrap="square">
            <a:spAutoFit/>
          </a:bodyPr>
          <a:lstStyle/>
          <a:p>
            <a:r>
              <a:rPr lang="en-US" sz="1600" dirty="0">
                <a:solidFill>
                  <a:srgbClr val="94573F"/>
                </a:solidFill>
                <a:latin typeface="Consolas" panose="020B0609020204030204" pitchFamily="49" charset="0"/>
              </a:rPr>
              <a:t>(adv_python2) C:\Users\shahb&gt;python</a:t>
            </a:r>
          </a:p>
          <a:p>
            <a:r>
              <a:rPr lang="en-US" sz="1600" dirty="0">
                <a:solidFill>
                  <a:srgbClr val="94573F"/>
                </a:solidFill>
                <a:latin typeface="Consolas" panose="020B0609020204030204" pitchFamily="49" charset="0"/>
              </a:rPr>
              <a:t>Python 3.12.1 | packaged by Anaconda, Inc. | (main, Jan 19 2024, 15:44:08) [MSC v.1916 64 bit (AMD64)] on win32</a:t>
            </a:r>
          </a:p>
          <a:p>
            <a:r>
              <a:rPr lang="en-US" sz="1600" dirty="0">
                <a:solidFill>
                  <a:srgbClr val="94573F"/>
                </a:solidFill>
                <a:latin typeface="Consolas" panose="020B0609020204030204" pitchFamily="49" charset="0"/>
              </a:rPr>
              <a:t>Type "help", "copyright", "credits" or "license" for more information.</a:t>
            </a:r>
          </a:p>
          <a:p>
            <a:r>
              <a:rPr lang="en-US" sz="1600" dirty="0">
                <a:solidFill>
                  <a:srgbClr val="94573F"/>
                </a:solidFill>
                <a:latin typeface="Consolas" panose="020B0609020204030204" pitchFamily="49" charset="0"/>
              </a:rPr>
              <a:t>&gt;&gt;&gt; import </a:t>
            </a:r>
            <a:r>
              <a:rPr lang="en-US" sz="1600" dirty="0" err="1">
                <a:solidFill>
                  <a:srgbClr val="94573F"/>
                </a:solidFill>
                <a:latin typeface="Consolas" panose="020B0609020204030204" pitchFamily="49" charset="0"/>
              </a:rPr>
              <a:t>tqdm</a:t>
            </a:r>
            <a:r>
              <a:rPr lang="en-US" sz="1600" dirty="0">
                <a:solidFill>
                  <a:srgbClr val="94573F"/>
                </a:solidFill>
                <a:latin typeface="Consolas" panose="020B0609020204030204" pitchFamily="49" charset="0"/>
              </a:rPr>
              <a:t>, flask</a:t>
            </a:r>
          </a:p>
          <a:p>
            <a:r>
              <a:rPr lang="en-US" sz="1600" dirty="0">
                <a:solidFill>
                  <a:srgbClr val="94573F"/>
                </a:solidFill>
                <a:latin typeface="Consolas" panose="020B0609020204030204" pitchFamily="49" charset="0"/>
              </a:rPr>
              <a:t>&gt;&gt;&gt; </a:t>
            </a:r>
            <a:r>
              <a:rPr lang="en-US" sz="1600" dirty="0" err="1">
                <a:solidFill>
                  <a:srgbClr val="94573F"/>
                </a:solidFill>
                <a:latin typeface="Consolas" panose="020B0609020204030204" pitchFamily="49" charset="0"/>
              </a:rPr>
              <a:t>tqdm</a:t>
            </a:r>
            <a:r>
              <a:rPr lang="en-US" sz="1600" dirty="0">
                <a:solidFill>
                  <a:srgbClr val="94573F"/>
                </a:solidFill>
                <a:latin typeface="Consolas" panose="020B0609020204030204" pitchFamily="49" charset="0"/>
              </a:rPr>
              <a:t>.__file__</a:t>
            </a:r>
          </a:p>
          <a:p>
            <a:r>
              <a:rPr lang="en-US" sz="1600" b="1" dirty="0">
                <a:solidFill>
                  <a:srgbClr val="94573F"/>
                </a:solidFill>
                <a:latin typeface="Consolas" panose="020B0609020204030204" pitchFamily="49" charset="0"/>
              </a:rPr>
              <a:t>'C:\\Users\\</a:t>
            </a:r>
            <a:r>
              <a:rPr lang="en-US" sz="1600" b="1" dirty="0" err="1">
                <a:solidFill>
                  <a:srgbClr val="94573F"/>
                </a:solidFill>
                <a:latin typeface="Consolas" panose="020B0609020204030204" pitchFamily="49" charset="0"/>
              </a:rPr>
              <a:t>shahb</a:t>
            </a:r>
            <a:r>
              <a:rPr lang="en-US" sz="1600" b="1" dirty="0">
                <a:solidFill>
                  <a:srgbClr val="94573F"/>
                </a:solidFill>
                <a:latin typeface="Consolas" panose="020B0609020204030204" pitchFamily="49" charset="0"/>
              </a:rPr>
              <a:t>\\anaconda3\\</a:t>
            </a:r>
            <a:r>
              <a:rPr lang="en-US" sz="1600" b="1" dirty="0" err="1">
                <a:solidFill>
                  <a:srgbClr val="94573F"/>
                </a:solidFill>
                <a:latin typeface="Consolas" panose="020B0609020204030204" pitchFamily="49" charset="0"/>
              </a:rPr>
              <a:t>envs</a:t>
            </a:r>
            <a:r>
              <a:rPr lang="en-US" sz="1600" b="1" dirty="0">
                <a:solidFill>
                  <a:srgbClr val="94573F"/>
                </a:solidFill>
                <a:latin typeface="Consolas" panose="020B0609020204030204" pitchFamily="49" charset="0"/>
              </a:rPr>
              <a:t>\\adv_python2\\Lib\\site-packages</a:t>
            </a:r>
            <a:r>
              <a:rPr lang="en-US" sz="1600" dirty="0">
                <a:solidFill>
                  <a:srgbClr val="94573F"/>
                </a:solidFill>
                <a:latin typeface="Consolas" panose="020B0609020204030204" pitchFamily="49" charset="0"/>
              </a:rPr>
              <a:t>\\</a:t>
            </a:r>
            <a:r>
              <a:rPr lang="en-US" sz="1600" b="1" dirty="0" err="1">
                <a:solidFill>
                  <a:srgbClr val="94573F"/>
                </a:solidFill>
                <a:latin typeface="Consolas" panose="020B0609020204030204" pitchFamily="49" charset="0"/>
              </a:rPr>
              <a:t>tqdm</a:t>
            </a:r>
            <a:r>
              <a:rPr lang="en-US" sz="1600" dirty="0">
                <a:solidFill>
                  <a:srgbClr val="94573F"/>
                </a:solidFill>
                <a:latin typeface="Consolas" panose="020B0609020204030204" pitchFamily="49" charset="0"/>
              </a:rPr>
              <a:t>\\__init__.py'</a:t>
            </a:r>
          </a:p>
          <a:p>
            <a:r>
              <a:rPr lang="en-US" sz="1600" dirty="0">
                <a:solidFill>
                  <a:srgbClr val="94573F"/>
                </a:solidFill>
                <a:latin typeface="Consolas" panose="020B0609020204030204" pitchFamily="49" charset="0"/>
              </a:rPr>
              <a:t>&gt;&gt;&gt; </a:t>
            </a:r>
            <a:r>
              <a:rPr lang="en-US" sz="1600" dirty="0" err="1">
                <a:solidFill>
                  <a:srgbClr val="94573F"/>
                </a:solidFill>
                <a:latin typeface="Consolas" panose="020B0609020204030204" pitchFamily="49" charset="0"/>
              </a:rPr>
              <a:t>flask.__file</a:t>
            </a:r>
            <a:r>
              <a:rPr lang="en-US" sz="1600" dirty="0">
                <a:solidFill>
                  <a:srgbClr val="94573F"/>
                </a:solidFill>
                <a:latin typeface="Consolas" panose="020B0609020204030204" pitchFamily="49" charset="0"/>
              </a:rPr>
              <a:t>__</a:t>
            </a:r>
          </a:p>
          <a:p>
            <a:r>
              <a:rPr lang="en-US" sz="1600" b="1" dirty="0">
                <a:solidFill>
                  <a:srgbClr val="94573F"/>
                </a:solidFill>
                <a:latin typeface="Consolas" panose="020B0609020204030204" pitchFamily="49" charset="0"/>
              </a:rPr>
              <a:t>'C:\\Users\\</a:t>
            </a:r>
            <a:r>
              <a:rPr lang="en-US" sz="1600" b="1" dirty="0" err="1">
                <a:solidFill>
                  <a:srgbClr val="94573F"/>
                </a:solidFill>
                <a:latin typeface="Consolas" panose="020B0609020204030204" pitchFamily="49" charset="0"/>
              </a:rPr>
              <a:t>shahb</a:t>
            </a:r>
            <a:r>
              <a:rPr lang="en-US" sz="1600" b="1" dirty="0">
                <a:solidFill>
                  <a:srgbClr val="94573F"/>
                </a:solidFill>
                <a:latin typeface="Consolas" panose="020B0609020204030204" pitchFamily="49" charset="0"/>
              </a:rPr>
              <a:t>\\anaconda3\\</a:t>
            </a:r>
            <a:r>
              <a:rPr lang="en-US" sz="1600" b="1" dirty="0" err="1">
                <a:solidFill>
                  <a:srgbClr val="94573F"/>
                </a:solidFill>
                <a:latin typeface="Consolas" panose="020B0609020204030204" pitchFamily="49" charset="0"/>
              </a:rPr>
              <a:t>envs</a:t>
            </a:r>
            <a:r>
              <a:rPr lang="en-US" sz="1600" b="1" dirty="0">
                <a:solidFill>
                  <a:srgbClr val="94573F"/>
                </a:solidFill>
                <a:latin typeface="Consolas" panose="020B0609020204030204" pitchFamily="49" charset="0"/>
              </a:rPr>
              <a:t>\\adv_python2\\Lib\\site-packages</a:t>
            </a:r>
            <a:r>
              <a:rPr lang="en-US" sz="1600" dirty="0">
                <a:solidFill>
                  <a:srgbClr val="94573F"/>
                </a:solidFill>
                <a:latin typeface="Consolas" panose="020B0609020204030204" pitchFamily="49" charset="0"/>
              </a:rPr>
              <a:t>\\</a:t>
            </a:r>
            <a:r>
              <a:rPr lang="en-US" sz="1600" b="1" dirty="0">
                <a:solidFill>
                  <a:srgbClr val="94573F"/>
                </a:solidFill>
                <a:latin typeface="Consolas" panose="020B0609020204030204" pitchFamily="49" charset="0"/>
              </a:rPr>
              <a:t>flask</a:t>
            </a:r>
            <a:r>
              <a:rPr lang="en-US" sz="1600" dirty="0">
                <a:solidFill>
                  <a:srgbClr val="94573F"/>
                </a:solidFill>
                <a:latin typeface="Consolas" panose="020B0609020204030204" pitchFamily="49" charset="0"/>
              </a:rPr>
              <a:t>\\__init__.py'</a:t>
            </a:r>
          </a:p>
        </p:txBody>
      </p:sp>
    </p:spTree>
    <p:extLst>
      <p:ext uri="{BB962C8B-B14F-4D97-AF65-F5344CB8AC3E}">
        <p14:creationId xmlns:p14="http://schemas.microsoft.com/office/powerpoint/2010/main" val="378323901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6E147054-FDCC-9F8F-A1C7-1E8718443D3C}"/>
              </a:ext>
            </a:extLst>
          </p:cNvPr>
          <p:cNvGraphicFramePr>
            <a:graphicFrameLocks noGrp="1"/>
          </p:cNvGraphicFramePr>
          <p:nvPr>
            <p:extLst>
              <p:ext uri="{D42A27DB-BD31-4B8C-83A1-F6EECF244321}">
                <p14:modId xmlns:p14="http://schemas.microsoft.com/office/powerpoint/2010/main" val="3895907855"/>
              </p:ext>
            </p:extLst>
          </p:nvPr>
        </p:nvGraphicFramePr>
        <p:xfrm>
          <a:off x="838201" y="1529780"/>
          <a:ext cx="10515599" cy="4697321"/>
        </p:xfrm>
        <a:graphic>
          <a:graphicData uri="http://schemas.openxmlformats.org/drawingml/2006/table">
            <a:tbl>
              <a:tblPr/>
              <a:tblGrid>
                <a:gridCol w="3627473">
                  <a:extLst>
                    <a:ext uri="{9D8B030D-6E8A-4147-A177-3AD203B41FA5}">
                      <a16:colId xmlns:a16="http://schemas.microsoft.com/office/drawing/2014/main" val="2743210805"/>
                    </a:ext>
                  </a:extLst>
                </a:gridCol>
                <a:gridCol w="2289863">
                  <a:extLst>
                    <a:ext uri="{9D8B030D-6E8A-4147-A177-3AD203B41FA5}">
                      <a16:colId xmlns:a16="http://schemas.microsoft.com/office/drawing/2014/main" val="3067563334"/>
                    </a:ext>
                  </a:extLst>
                </a:gridCol>
                <a:gridCol w="42136">
                  <a:extLst>
                    <a:ext uri="{9D8B030D-6E8A-4147-A177-3AD203B41FA5}">
                      <a16:colId xmlns:a16="http://schemas.microsoft.com/office/drawing/2014/main" val="2963384100"/>
                    </a:ext>
                  </a:extLst>
                </a:gridCol>
                <a:gridCol w="2867220">
                  <a:extLst>
                    <a:ext uri="{9D8B030D-6E8A-4147-A177-3AD203B41FA5}">
                      <a16:colId xmlns:a16="http://schemas.microsoft.com/office/drawing/2014/main" val="151943830"/>
                    </a:ext>
                  </a:extLst>
                </a:gridCol>
                <a:gridCol w="1688907">
                  <a:extLst>
                    <a:ext uri="{9D8B030D-6E8A-4147-A177-3AD203B41FA5}">
                      <a16:colId xmlns:a16="http://schemas.microsoft.com/office/drawing/2014/main" val="1312733690"/>
                    </a:ext>
                  </a:extLst>
                </a:gridCol>
              </a:tblGrid>
              <a:tr h="167359">
                <a:tc>
                  <a:txBody>
                    <a:bodyPr/>
                    <a:lstStyle/>
                    <a:p>
                      <a:pPr algn="l" fontAlgn="b"/>
                      <a:r>
                        <a:rPr lang="en-US" sz="900" b="0" i="0" u="none" strike="noStrike" dirty="0" err="1">
                          <a:solidFill>
                            <a:srgbClr val="000000"/>
                          </a:solidFill>
                          <a:effectLst/>
                          <a:latin typeface="Consolas" panose="020B0609020204030204" pitchFamily="49" charset="0"/>
                        </a:rPr>
                        <a:t>flask_conda</a:t>
                      </a:r>
                      <a:r>
                        <a:rPr lang="en-US" sz="900" b="0" i="0" u="none" strike="noStrike" dirty="0">
                          <a:solidFill>
                            <a:srgbClr val="000000"/>
                          </a:solidFill>
                          <a:effectLst/>
                          <a:latin typeface="Consolas" panose="020B0609020204030204" pitchFamily="49" charset="0"/>
                        </a:rPr>
                        <a:t>/Lib/site-packages/Jinja2-3.1.3.dist-info:</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REQUESTED</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1221163432"/>
                  </a:ext>
                </a:extLst>
              </a:tr>
              <a:tr h="167359">
                <a:tc>
                  <a:txBody>
                    <a:bodyPr/>
                    <a:lstStyle/>
                    <a:p>
                      <a:pPr algn="l" fontAlgn="b"/>
                      <a:r>
                        <a:rPr lang="en-US" sz="900" b="0" i="0" u="none" strike="noStrike" dirty="0" err="1">
                          <a:solidFill>
                            <a:srgbClr val="000000"/>
                          </a:solidFill>
                          <a:effectLst/>
                          <a:latin typeface="Consolas" panose="020B0609020204030204" pitchFamily="49" charset="0"/>
                        </a:rPr>
                        <a:t>flask_conda</a:t>
                      </a:r>
                      <a:r>
                        <a:rPr lang="en-US" sz="900" b="0" i="0" u="none" strike="noStrike" dirty="0">
                          <a:solidFill>
                            <a:srgbClr val="000000"/>
                          </a:solidFill>
                          <a:effectLst/>
                          <a:latin typeface="Consolas" panose="020B0609020204030204" pitchFamily="49" charset="0"/>
                        </a:rPr>
                        <a:t>/Lib/site-packages/Jinja2-3.1.3.dist-info:</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direct_url.json</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2462230973"/>
                  </a:ext>
                </a:extLst>
              </a:tr>
              <a:tr h="167359">
                <a:tc>
                  <a:txBody>
                    <a:bodyPr/>
                    <a:lstStyle/>
                    <a:p>
                      <a:pPr algn="l" fontAlgn="b"/>
                      <a:r>
                        <a:rPr lang="en-US" sz="900" b="0" i="0" u="none" strike="noStrike">
                          <a:solidFill>
                            <a:srgbClr val="000000"/>
                          </a:solidFill>
                          <a:effectLst/>
                          <a:latin typeface="Consolas" panose="020B0609020204030204" pitchFamily="49" charset="0"/>
                        </a:rPr>
                        <a:t>flask_conda/Lib/site-packages/click-8.1.7.dist-info:</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REQUESTED</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dirty="0">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1274165817"/>
                  </a:ext>
                </a:extLst>
              </a:tr>
              <a:tr h="167359">
                <a:tc>
                  <a:txBody>
                    <a:bodyPr/>
                    <a:lstStyle/>
                    <a:p>
                      <a:pPr algn="l" fontAlgn="b"/>
                      <a:r>
                        <a:rPr lang="en-US" sz="900" b="0" i="0" u="none" strike="noStrike" dirty="0" err="1">
                          <a:solidFill>
                            <a:srgbClr val="000000"/>
                          </a:solidFill>
                          <a:effectLst/>
                          <a:latin typeface="Consolas" panose="020B0609020204030204" pitchFamily="49" charset="0"/>
                        </a:rPr>
                        <a:t>flask_conda</a:t>
                      </a:r>
                      <a:r>
                        <a:rPr lang="en-US" sz="900" b="0" i="0" u="none" strike="noStrike" dirty="0">
                          <a:solidFill>
                            <a:srgbClr val="000000"/>
                          </a:solidFill>
                          <a:effectLst/>
                          <a:latin typeface="Consolas" panose="020B0609020204030204" pitchFamily="49" charset="0"/>
                        </a:rPr>
                        <a:t>/Lib/site-packages/click-8.1.7.dist-info:</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direct_url.json</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2156511975"/>
                  </a:ext>
                </a:extLst>
              </a:tr>
              <a:tr h="167359">
                <a:tc>
                  <a:txBody>
                    <a:bodyPr/>
                    <a:lstStyle/>
                    <a:p>
                      <a:pPr algn="l" fontAlgn="b"/>
                      <a:r>
                        <a:rPr lang="en-US" sz="900" b="0" i="0" u="none" strike="noStrike" dirty="0" err="1">
                          <a:solidFill>
                            <a:srgbClr val="000000"/>
                          </a:solidFill>
                          <a:effectLst/>
                          <a:latin typeface="Consolas" panose="020B0609020204030204" pitchFamily="49" charset="0"/>
                        </a:rPr>
                        <a:t>flask_conda</a:t>
                      </a:r>
                      <a:r>
                        <a:rPr lang="en-US" sz="900" b="0" i="0" u="none" strike="noStrike" dirty="0">
                          <a:solidFill>
                            <a:srgbClr val="000000"/>
                          </a:solidFill>
                          <a:effectLst/>
                          <a:latin typeface="Consolas" panose="020B0609020204030204" pitchFamily="49" charset="0"/>
                        </a:rPr>
                        <a:t>/Lib/site-packages/colorama-0.4.6.dist-info:</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REQUESTED</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dirty="0">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dirty="0">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988564791"/>
                  </a:ext>
                </a:extLst>
              </a:tr>
              <a:tr h="167359">
                <a:tc>
                  <a:txBody>
                    <a:bodyPr/>
                    <a:lstStyle/>
                    <a:p>
                      <a:pPr algn="l" fontAlgn="b"/>
                      <a:r>
                        <a:rPr lang="en-US" sz="900" b="0" i="0" u="none" strike="noStrike" dirty="0" err="1">
                          <a:solidFill>
                            <a:srgbClr val="000000"/>
                          </a:solidFill>
                          <a:effectLst/>
                          <a:latin typeface="Consolas" panose="020B0609020204030204" pitchFamily="49" charset="0"/>
                        </a:rPr>
                        <a:t>flask_conda</a:t>
                      </a:r>
                      <a:r>
                        <a:rPr lang="en-US" sz="900" b="0" i="0" u="none" strike="noStrike" dirty="0">
                          <a:solidFill>
                            <a:srgbClr val="000000"/>
                          </a:solidFill>
                          <a:effectLst/>
                          <a:latin typeface="Consolas" panose="020B0609020204030204" pitchFamily="49" charset="0"/>
                        </a:rPr>
                        <a:t>/Lib/site-packages/colorama-0.4.6.dist-info:</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direct_url.json</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2153856587"/>
                  </a:ext>
                </a:extLst>
              </a:tr>
              <a:tr h="167359">
                <a:tc>
                  <a:txBody>
                    <a:bodyPr/>
                    <a:lstStyle/>
                    <a:p>
                      <a:pPr algn="l" fontAlgn="b"/>
                      <a:r>
                        <a:rPr lang="en-US" sz="900" b="0" i="0" u="none" strike="noStrike" dirty="0" err="1">
                          <a:solidFill>
                            <a:srgbClr val="000000"/>
                          </a:solidFill>
                          <a:effectLst/>
                          <a:latin typeface="Consolas" panose="020B0609020204030204" pitchFamily="49" charset="0"/>
                        </a:rPr>
                        <a:t>flask_conda</a:t>
                      </a:r>
                      <a:r>
                        <a:rPr lang="en-US" sz="900" b="0" i="0" u="none" strike="noStrike" dirty="0">
                          <a:solidFill>
                            <a:srgbClr val="000000"/>
                          </a:solidFill>
                          <a:effectLst/>
                          <a:latin typeface="Consolas" panose="020B0609020204030204" pitchFamily="49" charset="0"/>
                        </a:rPr>
                        <a:t>/Lib/site-packages/flask/__</a:t>
                      </a:r>
                      <a:r>
                        <a:rPr lang="en-US" sz="900" b="0" i="0" u="none" strike="noStrike" dirty="0" err="1">
                          <a:solidFill>
                            <a:srgbClr val="000000"/>
                          </a:solidFill>
                          <a:effectLst/>
                          <a:latin typeface="Consolas" panose="020B0609020204030204" pitchFamily="49" charset="0"/>
                        </a:rPr>
                        <a:t>pycache</a:t>
                      </a:r>
                      <a:r>
                        <a:rPr lang="en-US" sz="900" b="0" i="0" u="none" strike="noStrike" dirty="0">
                          <a:solidFill>
                            <a:srgbClr val="000000"/>
                          </a:solidFill>
                          <a:effectLst/>
                          <a:latin typeface="Consolas" panose="020B0609020204030204" pitchFamily="49" charset="0"/>
                        </a:rPr>
                        <a:t>__:</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scaffold.cpython-310.pyc</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dirty="0">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3359834211"/>
                  </a:ext>
                </a:extLst>
              </a:tr>
              <a:tr h="167359">
                <a:tc>
                  <a:txBody>
                    <a:bodyPr/>
                    <a:lstStyle/>
                    <a:p>
                      <a:pPr algn="l" fontAlgn="b"/>
                      <a:r>
                        <a:rPr lang="en-US" sz="900" b="0" i="0" u="none" strike="noStrike">
                          <a:solidFill>
                            <a:srgbClr val="000000"/>
                          </a:solidFill>
                          <a:effectLst/>
                          <a:latin typeface="Consolas" panose="020B0609020204030204" pitchFamily="49" charset="0"/>
                        </a:rPr>
                        <a:t>flask_conda/Lib/site-packages/flask:</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scaffold.py</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4257984671"/>
                  </a:ext>
                </a:extLst>
              </a:tr>
              <a:tr h="167359">
                <a:tc>
                  <a:txBody>
                    <a:bodyPr/>
                    <a:lstStyle/>
                    <a:p>
                      <a:pPr algn="l" fontAlgn="b"/>
                      <a:r>
                        <a:rPr lang="en-US" sz="900" b="0" i="0" u="none" strike="noStrike" dirty="0" err="1">
                          <a:solidFill>
                            <a:srgbClr val="000000"/>
                          </a:solidFill>
                          <a:effectLst/>
                          <a:latin typeface="Consolas" panose="020B0609020204030204" pitchFamily="49" charset="0"/>
                        </a:rPr>
                        <a:t>flask_conda</a:t>
                      </a:r>
                      <a:r>
                        <a:rPr lang="en-US" sz="900" b="0" i="0" u="none" strike="noStrike" dirty="0">
                          <a:solidFill>
                            <a:srgbClr val="000000"/>
                          </a:solidFill>
                          <a:effectLst/>
                          <a:latin typeface="Consolas" panose="020B0609020204030204" pitchFamily="49" charset="0"/>
                        </a:rPr>
                        <a:t>/Lib/site-packages/</a:t>
                      </a:r>
                      <a:r>
                        <a:rPr lang="en-US" sz="900" b="0" i="0" u="none" strike="noStrike" dirty="0" err="1">
                          <a:solidFill>
                            <a:srgbClr val="000000"/>
                          </a:solidFill>
                          <a:effectLst/>
                          <a:latin typeface="Consolas" panose="020B0609020204030204" pitchFamily="49" charset="0"/>
                        </a:rPr>
                        <a:t>itsdangerous</a:t>
                      </a:r>
                      <a:r>
                        <a:rPr lang="en-US" sz="900" b="0" i="0" u="none" strike="noStrike" dirty="0">
                          <a:solidFill>
                            <a:srgbClr val="000000"/>
                          </a:solidFill>
                          <a:effectLst/>
                          <a:latin typeface="Consolas" panose="020B0609020204030204" pitchFamily="49" charset="0"/>
                        </a:rPr>
                        <a:t>/__</a:t>
                      </a:r>
                      <a:r>
                        <a:rPr lang="en-US" sz="900" b="0" i="0" u="none" strike="noStrike" dirty="0" err="1">
                          <a:solidFill>
                            <a:srgbClr val="000000"/>
                          </a:solidFill>
                          <a:effectLst/>
                          <a:latin typeface="Consolas" panose="020B0609020204030204" pitchFamily="49" charset="0"/>
                        </a:rPr>
                        <a:t>pycache</a:t>
                      </a:r>
                      <a:r>
                        <a:rPr lang="en-US" sz="900" b="0" i="0" u="none" strike="noStrike" dirty="0">
                          <a:solidFill>
                            <a:srgbClr val="000000"/>
                          </a:solidFill>
                          <a:effectLst/>
                          <a:latin typeface="Consolas" panose="020B0609020204030204" pitchFamily="49" charset="0"/>
                        </a:rPr>
                        <a:t>__:</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jws.cpython-310.pyc</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1241701427"/>
                  </a:ext>
                </a:extLst>
              </a:tr>
              <a:tr h="167359">
                <a:tc>
                  <a:txBody>
                    <a:bodyPr/>
                    <a:lstStyle/>
                    <a:p>
                      <a:pPr algn="l" fontAlgn="b"/>
                      <a:r>
                        <a:rPr lang="en-US" sz="900" b="0" i="0" u="none" strike="noStrike">
                          <a:solidFill>
                            <a:srgbClr val="000000"/>
                          </a:solidFill>
                          <a:effectLst/>
                          <a:latin typeface="Consolas" panose="020B0609020204030204" pitchFamily="49" charset="0"/>
                        </a:rPr>
                        <a:t>flask_conda/Lib/site-packages/itsdangerous:</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jws.py</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1996426002"/>
                  </a:ext>
                </a:extLst>
              </a:tr>
              <a:tr h="167359">
                <a:tc>
                  <a:txBody>
                    <a:bodyPr/>
                    <a:lstStyle/>
                    <a:p>
                      <a:pPr algn="l" fontAlgn="b"/>
                      <a:r>
                        <a:rPr lang="en-US" sz="900" b="0" i="0" u="none" strike="noStrike" dirty="0" err="1">
                          <a:solidFill>
                            <a:srgbClr val="000000"/>
                          </a:solidFill>
                          <a:effectLst/>
                          <a:highlight>
                            <a:srgbClr val="FFFF00"/>
                          </a:highlight>
                          <a:latin typeface="Consolas" panose="020B0609020204030204" pitchFamily="49" charset="0"/>
                        </a:rPr>
                        <a:t>flask_conda</a:t>
                      </a:r>
                      <a:r>
                        <a:rPr lang="en-US" sz="900" b="0" i="0" u="none" strike="noStrike" dirty="0">
                          <a:solidFill>
                            <a:srgbClr val="000000"/>
                          </a:solidFill>
                          <a:effectLst/>
                          <a:highlight>
                            <a:srgbClr val="FFFF00"/>
                          </a:highlight>
                          <a:latin typeface="Consolas" panose="020B0609020204030204" pitchFamily="49" charset="0"/>
                        </a:rPr>
                        <a:t>/Lib/site-packages:</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highlight>
                            <a:srgbClr val="FFFF00"/>
                          </a:highlight>
                          <a:latin typeface="Consolas" panose="020B0609020204030204" pitchFamily="49" charset="0"/>
                        </a:rPr>
                        <a:t>Flask-2.2.5.dist-info</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highlight>
                          <a:srgbClr val="FFFF00"/>
                        </a:highligh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r>
                        <a:rPr lang="en-US" sz="900" b="0" i="0" u="none" strike="noStrike" dirty="0" err="1">
                          <a:solidFill>
                            <a:srgbClr val="000000"/>
                          </a:solidFill>
                          <a:effectLst/>
                          <a:highlight>
                            <a:srgbClr val="FFFF00"/>
                          </a:highlight>
                          <a:latin typeface="Consolas" panose="020B0609020204030204" pitchFamily="49" charset="0"/>
                        </a:rPr>
                        <a:t>flask_pip</a:t>
                      </a:r>
                      <a:r>
                        <a:rPr lang="en-US" sz="900" b="0" i="0" u="none" strike="noStrike" dirty="0">
                          <a:solidFill>
                            <a:srgbClr val="000000"/>
                          </a:solidFill>
                          <a:effectLst/>
                          <a:highlight>
                            <a:srgbClr val="FFFF00"/>
                          </a:highlight>
                          <a:latin typeface="Consolas" panose="020B0609020204030204" pitchFamily="49" charset="0"/>
                        </a:rPr>
                        <a:t>/Lib/site-packages:</a:t>
                      </a:r>
                    </a:p>
                  </a:txBody>
                  <a:tcPr marL="8368" marR="8368" marT="8368" marB="0" anchor="b">
                    <a:lnL>
                      <a:noFill/>
                    </a:lnL>
                    <a:lnR>
                      <a:noFill/>
                    </a:lnR>
                    <a:lnT>
                      <a:noFill/>
                    </a:lnT>
                    <a:lnB>
                      <a:noFill/>
                    </a:lnB>
                    <a:noFill/>
                  </a:tcPr>
                </a:tc>
                <a:tc>
                  <a:txBody>
                    <a:bodyPr/>
                    <a:lstStyle/>
                    <a:p>
                      <a:pPr algn="l" fontAlgn="b"/>
                      <a:r>
                        <a:rPr lang="en-US" sz="900" b="0" i="0" u="none" strike="noStrike" dirty="0">
                          <a:solidFill>
                            <a:srgbClr val="000000"/>
                          </a:solidFill>
                          <a:effectLst/>
                          <a:highlight>
                            <a:srgbClr val="FFFF00"/>
                          </a:highlight>
                          <a:latin typeface="Consolas" panose="020B0609020204030204" pitchFamily="49" charset="0"/>
                        </a:rPr>
                        <a:t>flask-3.0.2.dist-info</a:t>
                      </a:r>
                    </a:p>
                  </a:txBody>
                  <a:tcPr marL="8368" marR="8368" marT="8368" marB="0" anchor="b">
                    <a:lnL>
                      <a:noFill/>
                    </a:lnL>
                    <a:lnR>
                      <a:noFill/>
                    </a:lnR>
                    <a:lnT>
                      <a:noFill/>
                    </a:lnT>
                    <a:lnB>
                      <a:noFill/>
                    </a:lnB>
                    <a:noFill/>
                  </a:tcPr>
                </a:tc>
                <a:extLst>
                  <a:ext uri="{0D108BD9-81ED-4DB2-BD59-A6C34878D82A}">
                    <a16:rowId xmlns:a16="http://schemas.microsoft.com/office/drawing/2014/main" val="2765921568"/>
                  </a:ext>
                </a:extLst>
              </a:tr>
              <a:tr h="167359">
                <a:tc>
                  <a:txBody>
                    <a:bodyPr/>
                    <a:lstStyle/>
                    <a:p>
                      <a:pPr algn="l" fontAlgn="b"/>
                      <a:r>
                        <a:rPr lang="en-US" sz="900" b="0" i="0" u="none" strike="noStrike">
                          <a:solidFill>
                            <a:srgbClr val="000000"/>
                          </a:solidFill>
                          <a:effectLst/>
                          <a:highlight>
                            <a:srgbClr val="FFFF00"/>
                          </a:highlight>
                          <a:latin typeface="Consolas" panose="020B0609020204030204" pitchFamily="49" charset="0"/>
                        </a:rPr>
                        <a:t>flask_conda/Lib/site-packages:</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highlight>
                            <a:srgbClr val="FFFF00"/>
                          </a:highlight>
                          <a:latin typeface="Consolas" panose="020B0609020204030204" pitchFamily="49" charset="0"/>
                        </a:rPr>
                        <a:t>MarkupSafe-2.1.3.dist-info</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highlight>
                          <a:srgbClr val="FFFF00"/>
                        </a:highligh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highlight>
                            <a:srgbClr val="FFFF00"/>
                          </a:highlight>
                          <a:latin typeface="Consolas" panose="020B0609020204030204" pitchFamily="49" charset="0"/>
                        </a:rPr>
                        <a:t>flask_pip/Lib/site-packages:</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highlight>
                            <a:srgbClr val="FFFF00"/>
                          </a:highlight>
                          <a:latin typeface="Consolas" panose="020B0609020204030204" pitchFamily="49" charset="0"/>
                        </a:rPr>
                        <a:t>MarkupSafe-2.1.5.dist-info</a:t>
                      </a:r>
                    </a:p>
                  </a:txBody>
                  <a:tcPr marL="8368" marR="8368" marT="8368" marB="0" anchor="b">
                    <a:lnL>
                      <a:noFill/>
                    </a:lnL>
                    <a:lnR>
                      <a:noFill/>
                    </a:lnR>
                    <a:lnT>
                      <a:noFill/>
                    </a:lnT>
                    <a:lnB>
                      <a:noFill/>
                    </a:lnB>
                    <a:noFill/>
                  </a:tcPr>
                </a:tc>
                <a:extLst>
                  <a:ext uri="{0D108BD9-81ED-4DB2-BD59-A6C34878D82A}">
                    <a16:rowId xmlns:a16="http://schemas.microsoft.com/office/drawing/2014/main" val="1091677534"/>
                  </a:ext>
                </a:extLst>
              </a:tr>
              <a:tr h="167359">
                <a:tc>
                  <a:txBody>
                    <a:bodyPr/>
                    <a:lstStyle/>
                    <a:p>
                      <a:pPr algn="l" fontAlgn="b"/>
                      <a:r>
                        <a:rPr lang="en-US" sz="900" b="0" i="0" u="none" strike="noStrike" dirty="0" err="1">
                          <a:solidFill>
                            <a:srgbClr val="000000"/>
                          </a:solidFill>
                          <a:effectLst/>
                          <a:highlight>
                            <a:srgbClr val="FFFF00"/>
                          </a:highlight>
                          <a:latin typeface="Consolas" panose="020B0609020204030204" pitchFamily="49" charset="0"/>
                        </a:rPr>
                        <a:t>flask_conda</a:t>
                      </a:r>
                      <a:r>
                        <a:rPr lang="en-US" sz="900" b="0" i="0" u="none" strike="noStrike" dirty="0">
                          <a:solidFill>
                            <a:srgbClr val="000000"/>
                          </a:solidFill>
                          <a:effectLst/>
                          <a:highlight>
                            <a:srgbClr val="FFFF00"/>
                          </a:highlight>
                          <a:latin typeface="Consolas" panose="020B0609020204030204" pitchFamily="49" charset="0"/>
                        </a:rPr>
                        <a:t>/Lib/site-packages:</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highlight>
                            <a:srgbClr val="FFFF00"/>
                          </a:highlight>
                          <a:latin typeface="Consolas" panose="020B0609020204030204" pitchFamily="49" charset="0"/>
                        </a:rPr>
                        <a:t>itsdangerous-2.0.1.dist-info</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highlight>
                          <a:srgbClr val="FFFF00"/>
                        </a:highligh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highlight>
                            <a:srgbClr val="FFFF00"/>
                          </a:highlight>
                          <a:latin typeface="Consolas" panose="020B0609020204030204" pitchFamily="49" charset="0"/>
                        </a:rPr>
                        <a:t>flask_pip/Lib/site-packages:</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highlight>
                            <a:srgbClr val="FFFF00"/>
                          </a:highlight>
                          <a:latin typeface="Consolas" panose="020B0609020204030204" pitchFamily="49" charset="0"/>
                        </a:rPr>
                        <a:t>itsdangerous-2.1.2.dist-info</a:t>
                      </a:r>
                    </a:p>
                  </a:txBody>
                  <a:tcPr marL="8368" marR="8368" marT="8368" marB="0" anchor="b">
                    <a:lnL>
                      <a:noFill/>
                    </a:lnL>
                    <a:lnR>
                      <a:noFill/>
                    </a:lnR>
                    <a:lnT>
                      <a:noFill/>
                    </a:lnT>
                    <a:lnB>
                      <a:noFill/>
                    </a:lnB>
                    <a:noFill/>
                  </a:tcPr>
                </a:tc>
                <a:extLst>
                  <a:ext uri="{0D108BD9-81ED-4DB2-BD59-A6C34878D82A}">
                    <a16:rowId xmlns:a16="http://schemas.microsoft.com/office/drawing/2014/main" val="3139648575"/>
                  </a:ext>
                </a:extLst>
              </a:tr>
              <a:tr h="167359">
                <a:tc>
                  <a:txBody>
                    <a:bodyPr/>
                    <a:lstStyle/>
                    <a:p>
                      <a:pPr algn="l" fontAlgn="b"/>
                      <a:r>
                        <a:rPr lang="en-US" sz="900" b="0" i="0" u="none" strike="noStrike">
                          <a:solidFill>
                            <a:srgbClr val="000000"/>
                          </a:solidFill>
                          <a:effectLst/>
                          <a:highlight>
                            <a:srgbClr val="FFFF00"/>
                          </a:highlight>
                          <a:latin typeface="Consolas" panose="020B0609020204030204" pitchFamily="49" charset="0"/>
                        </a:rPr>
                        <a:t>flask_conda/Lib/site-packages:</a:t>
                      </a:r>
                    </a:p>
                  </a:txBody>
                  <a:tcPr marL="8368" marR="8368" marT="8368" marB="0" anchor="b">
                    <a:lnL>
                      <a:noFill/>
                    </a:lnL>
                    <a:lnR>
                      <a:noFill/>
                    </a:lnR>
                    <a:lnT>
                      <a:noFill/>
                    </a:lnT>
                    <a:lnB>
                      <a:noFill/>
                    </a:lnB>
                    <a:noFill/>
                  </a:tcPr>
                </a:tc>
                <a:tc>
                  <a:txBody>
                    <a:bodyPr/>
                    <a:lstStyle/>
                    <a:p>
                      <a:pPr algn="l" fontAlgn="b"/>
                      <a:r>
                        <a:rPr lang="en-US" sz="900" b="0" i="0" u="none" strike="noStrike" dirty="0">
                          <a:solidFill>
                            <a:srgbClr val="000000"/>
                          </a:solidFill>
                          <a:effectLst/>
                          <a:highlight>
                            <a:srgbClr val="FFFF00"/>
                          </a:highlight>
                          <a:latin typeface="Consolas" panose="020B0609020204030204" pitchFamily="49" charset="0"/>
                        </a:rPr>
                        <a:t>werkzeug-2.3.8.dist-info</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highlight>
                          <a:srgbClr val="FFFF00"/>
                        </a:highligh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highlight>
                            <a:srgbClr val="FFFF00"/>
                          </a:highlight>
                          <a:latin typeface="Consolas" panose="020B0609020204030204" pitchFamily="49" charset="0"/>
                        </a:rPr>
                        <a:t>flask_pip/Lib/site-packages:</a:t>
                      </a:r>
                    </a:p>
                  </a:txBody>
                  <a:tcPr marL="8368" marR="8368" marT="8368" marB="0" anchor="b">
                    <a:lnL>
                      <a:noFill/>
                    </a:lnL>
                    <a:lnR>
                      <a:noFill/>
                    </a:lnR>
                    <a:lnT>
                      <a:noFill/>
                    </a:lnT>
                    <a:lnB>
                      <a:noFill/>
                    </a:lnB>
                    <a:noFill/>
                  </a:tcPr>
                </a:tc>
                <a:tc>
                  <a:txBody>
                    <a:bodyPr/>
                    <a:lstStyle/>
                    <a:p>
                      <a:pPr algn="l" fontAlgn="b"/>
                      <a:r>
                        <a:rPr lang="en-US" sz="900" b="0" i="0" u="none" strike="noStrike" dirty="0">
                          <a:solidFill>
                            <a:srgbClr val="000000"/>
                          </a:solidFill>
                          <a:effectLst/>
                          <a:highlight>
                            <a:srgbClr val="FFFF00"/>
                          </a:highlight>
                          <a:latin typeface="Consolas" panose="020B0609020204030204" pitchFamily="49" charset="0"/>
                        </a:rPr>
                        <a:t>werkzeug-3.0.1.dist-info</a:t>
                      </a:r>
                    </a:p>
                  </a:txBody>
                  <a:tcPr marL="8368" marR="8368" marT="8368" marB="0" anchor="b">
                    <a:lnL>
                      <a:noFill/>
                    </a:lnL>
                    <a:lnR>
                      <a:noFill/>
                    </a:lnR>
                    <a:lnT>
                      <a:noFill/>
                    </a:lnT>
                    <a:lnB>
                      <a:noFill/>
                    </a:lnB>
                    <a:noFill/>
                  </a:tcPr>
                </a:tc>
                <a:extLst>
                  <a:ext uri="{0D108BD9-81ED-4DB2-BD59-A6C34878D82A}">
                    <a16:rowId xmlns:a16="http://schemas.microsoft.com/office/drawing/2014/main" val="2312018197"/>
                  </a:ext>
                </a:extLst>
              </a:tr>
              <a:tr h="167359">
                <a:tc>
                  <a:txBody>
                    <a:bodyPr/>
                    <a:lstStyle/>
                    <a:p>
                      <a:pPr algn="l" fontAlgn="b"/>
                      <a:r>
                        <a:rPr lang="en-US" sz="900" b="0" i="0" u="none" strike="noStrike" dirty="0" err="1">
                          <a:solidFill>
                            <a:srgbClr val="000000"/>
                          </a:solidFill>
                          <a:effectLst/>
                          <a:latin typeface="Consolas" panose="020B0609020204030204" pitchFamily="49" charset="0"/>
                        </a:rPr>
                        <a:t>flask_conda</a:t>
                      </a:r>
                      <a:r>
                        <a:rPr lang="en-US" sz="900" b="0" i="0" u="none" strike="noStrike" dirty="0">
                          <a:solidFill>
                            <a:srgbClr val="000000"/>
                          </a:solidFill>
                          <a:effectLst/>
                          <a:latin typeface="Consolas" panose="020B0609020204030204" pitchFamily="49" charset="0"/>
                        </a:rPr>
                        <a:t>/Scripts:</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flask-script.py</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2181191764"/>
                  </a:ext>
                </a:extLst>
              </a:tr>
              <a:tr h="167359">
                <a:tc>
                  <a:txBody>
                    <a:bodyPr/>
                    <a:lstStyle/>
                    <a:p>
                      <a:pPr algn="l" fontAlgn="b"/>
                      <a:r>
                        <a:rPr lang="en-US" sz="900" b="0" i="0" u="none" strike="noStrike">
                          <a:solidFill>
                            <a:srgbClr val="000000"/>
                          </a:solidFill>
                          <a:effectLst/>
                          <a:latin typeface="Consolas" panose="020B0609020204030204" pitchFamily="49" charset="0"/>
                        </a:rPr>
                        <a:t>flask_conda/conda-meta:</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click-8.1.7-py310haa95532_0.json</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544289917"/>
                  </a:ext>
                </a:extLst>
              </a:tr>
              <a:tr h="167359">
                <a:tc>
                  <a:txBody>
                    <a:bodyPr/>
                    <a:lstStyle/>
                    <a:p>
                      <a:pPr algn="l" fontAlgn="b"/>
                      <a:r>
                        <a:rPr lang="en-US" sz="900" b="0" i="0" u="none" strike="noStrike" dirty="0" err="1">
                          <a:solidFill>
                            <a:srgbClr val="000000"/>
                          </a:solidFill>
                          <a:effectLst/>
                          <a:latin typeface="Consolas" panose="020B0609020204030204" pitchFamily="49" charset="0"/>
                        </a:rPr>
                        <a:t>flask_conda</a:t>
                      </a:r>
                      <a:r>
                        <a:rPr lang="en-US" sz="900" b="0" i="0" u="none" strike="noStrike" dirty="0">
                          <a:solidFill>
                            <a:srgbClr val="000000"/>
                          </a:solidFill>
                          <a:effectLst/>
                          <a:latin typeface="Consolas" panose="020B0609020204030204" pitchFamily="49" charset="0"/>
                        </a:rPr>
                        <a:t>/</a:t>
                      </a:r>
                      <a:r>
                        <a:rPr lang="en-US" sz="900" b="0" i="0" u="none" strike="noStrike" dirty="0" err="1">
                          <a:solidFill>
                            <a:srgbClr val="000000"/>
                          </a:solidFill>
                          <a:effectLst/>
                          <a:latin typeface="Consolas" panose="020B0609020204030204" pitchFamily="49" charset="0"/>
                        </a:rPr>
                        <a:t>conda</a:t>
                      </a:r>
                      <a:r>
                        <a:rPr lang="en-US" sz="900" b="0" i="0" u="none" strike="noStrike" dirty="0">
                          <a:solidFill>
                            <a:srgbClr val="000000"/>
                          </a:solidFill>
                          <a:effectLst/>
                          <a:latin typeface="Consolas" panose="020B0609020204030204" pitchFamily="49" charset="0"/>
                        </a:rPr>
                        <a:t>-meta:</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colorama-0.4.6-py310haa95532_0.json</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1978280552"/>
                  </a:ext>
                </a:extLst>
              </a:tr>
              <a:tr h="167359">
                <a:tc>
                  <a:txBody>
                    <a:bodyPr/>
                    <a:lstStyle/>
                    <a:p>
                      <a:pPr algn="l" fontAlgn="b"/>
                      <a:r>
                        <a:rPr lang="en-US" sz="900" b="0" i="0" u="none" strike="noStrike">
                          <a:solidFill>
                            <a:srgbClr val="000000"/>
                          </a:solidFill>
                          <a:effectLst/>
                          <a:latin typeface="Consolas" panose="020B0609020204030204" pitchFamily="49" charset="0"/>
                        </a:rPr>
                        <a:t>flask_conda/conda-meta:</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flask-2.2.5-py310haa95532_0.json</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1081823211"/>
                  </a:ext>
                </a:extLst>
              </a:tr>
              <a:tr h="167359">
                <a:tc>
                  <a:txBody>
                    <a:bodyPr/>
                    <a:lstStyle/>
                    <a:p>
                      <a:pPr algn="l" fontAlgn="b"/>
                      <a:r>
                        <a:rPr lang="en-US" sz="900" b="0" i="0" u="none" strike="noStrike" dirty="0" err="1">
                          <a:solidFill>
                            <a:srgbClr val="000000"/>
                          </a:solidFill>
                          <a:effectLst/>
                          <a:latin typeface="Consolas" panose="020B0609020204030204" pitchFamily="49" charset="0"/>
                        </a:rPr>
                        <a:t>flask_conda</a:t>
                      </a:r>
                      <a:r>
                        <a:rPr lang="en-US" sz="900" b="0" i="0" u="none" strike="noStrike" dirty="0">
                          <a:solidFill>
                            <a:srgbClr val="000000"/>
                          </a:solidFill>
                          <a:effectLst/>
                          <a:latin typeface="Consolas" panose="020B0609020204030204" pitchFamily="49" charset="0"/>
                        </a:rPr>
                        <a:t>/</a:t>
                      </a:r>
                      <a:r>
                        <a:rPr lang="en-US" sz="900" b="0" i="0" u="none" strike="noStrike" dirty="0" err="1">
                          <a:solidFill>
                            <a:srgbClr val="000000"/>
                          </a:solidFill>
                          <a:effectLst/>
                          <a:latin typeface="Consolas" panose="020B0609020204030204" pitchFamily="49" charset="0"/>
                        </a:rPr>
                        <a:t>conda</a:t>
                      </a:r>
                      <a:r>
                        <a:rPr lang="en-US" sz="900" b="0" i="0" u="none" strike="noStrike" dirty="0">
                          <a:solidFill>
                            <a:srgbClr val="000000"/>
                          </a:solidFill>
                          <a:effectLst/>
                          <a:latin typeface="Consolas" panose="020B0609020204030204" pitchFamily="49" charset="0"/>
                        </a:rPr>
                        <a:t>-meta:</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itsdangerous-2.0.1-pyhd3eb1b0_0.json</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2200816890"/>
                  </a:ext>
                </a:extLst>
              </a:tr>
              <a:tr h="167359">
                <a:tc>
                  <a:txBody>
                    <a:bodyPr/>
                    <a:lstStyle/>
                    <a:p>
                      <a:pPr algn="l" fontAlgn="b"/>
                      <a:r>
                        <a:rPr lang="en-US" sz="900" b="0" i="0" u="none" strike="noStrike">
                          <a:solidFill>
                            <a:srgbClr val="000000"/>
                          </a:solidFill>
                          <a:effectLst/>
                          <a:latin typeface="Consolas" panose="020B0609020204030204" pitchFamily="49" charset="0"/>
                        </a:rPr>
                        <a:t>flask_conda/conda-meta:</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jinja2-3.1.3-py310haa95532_0.json</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585051361"/>
                  </a:ext>
                </a:extLst>
              </a:tr>
              <a:tr h="167359">
                <a:tc>
                  <a:txBody>
                    <a:bodyPr/>
                    <a:lstStyle/>
                    <a:p>
                      <a:pPr algn="l" fontAlgn="b"/>
                      <a:r>
                        <a:rPr lang="en-US" sz="900" b="0" i="0" u="none" strike="noStrike">
                          <a:solidFill>
                            <a:srgbClr val="000000"/>
                          </a:solidFill>
                          <a:effectLst/>
                          <a:latin typeface="Consolas" panose="020B0609020204030204" pitchFamily="49" charset="0"/>
                        </a:rPr>
                        <a:t>flask_conda/conda-meta:</a:t>
                      </a:r>
                    </a:p>
                  </a:txBody>
                  <a:tcPr marL="8368" marR="8368" marT="8368" marB="0" anchor="b">
                    <a:lnL>
                      <a:noFill/>
                    </a:lnL>
                    <a:lnR>
                      <a:noFill/>
                    </a:lnR>
                    <a:lnT>
                      <a:noFill/>
                    </a:lnT>
                    <a:lnB>
                      <a:noFill/>
                    </a:lnB>
                    <a:noFill/>
                  </a:tcPr>
                </a:tc>
                <a:tc>
                  <a:txBody>
                    <a:bodyPr/>
                    <a:lstStyle/>
                    <a:p>
                      <a:pPr algn="l" fontAlgn="b"/>
                      <a:r>
                        <a:rPr lang="en-US" sz="900" b="0" i="0" u="none" strike="noStrike" dirty="0">
                          <a:solidFill>
                            <a:srgbClr val="000000"/>
                          </a:solidFill>
                          <a:effectLst/>
                          <a:latin typeface="Consolas" panose="020B0609020204030204" pitchFamily="49" charset="0"/>
                        </a:rPr>
                        <a:t>markupsafe-2.1.3-py310h2bbff1b_0.json</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1287523649"/>
                  </a:ext>
                </a:extLst>
              </a:tr>
              <a:tr h="167359">
                <a:tc>
                  <a:txBody>
                    <a:bodyPr/>
                    <a:lstStyle/>
                    <a:p>
                      <a:pPr algn="l" fontAlgn="b"/>
                      <a:r>
                        <a:rPr lang="en-US" sz="900" b="0" i="0" u="none" strike="noStrike">
                          <a:solidFill>
                            <a:srgbClr val="000000"/>
                          </a:solidFill>
                          <a:effectLst/>
                          <a:latin typeface="Consolas" panose="020B0609020204030204" pitchFamily="49" charset="0"/>
                        </a:rPr>
                        <a:t>flask_conda/conda-meta:</a:t>
                      </a:r>
                    </a:p>
                  </a:txBody>
                  <a:tcPr marL="8368" marR="8368" marT="8368" marB="0" anchor="b">
                    <a:lnL>
                      <a:noFill/>
                    </a:lnL>
                    <a:lnR>
                      <a:noFill/>
                    </a:lnR>
                    <a:lnT>
                      <a:noFill/>
                    </a:lnT>
                    <a:lnB>
                      <a:noFill/>
                    </a:lnB>
                    <a:noFill/>
                  </a:tcPr>
                </a:tc>
                <a:tc>
                  <a:txBody>
                    <a:bodyPr/>
                    <a:lstStyle/>
                    <a:p>
                      <a:pPr algn="l" fontAlgn="b"/>
                      <a:r>
                        <a:rPr lang="en-US" sz="900" b="0" i="0" u="none" strike="noStrike" dirty="0">
                          <a:solidFill>
                            <a:srgbClr val="000000"/>
                          </a:solidFill>
                          <a:effectLst/>
                          <a:latin typeface="Consolas" panose="020B0609020204030204" pitchFamily="49" charset="0"/>
                        </a:rPr>
                        <a:t>werkzeug-2.3.8-py310haa95532_0.json</a:t>
                      </a: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extLst>
                  <a:ext uri="{0D108BD9-81ED-4DB2-BD59-A6C34878D82A}">
                    <a16:rowId xmlns:a16="http://schemas.microsoft.com/office/drawing/2014/main" val="3239110985"/>
                  </a:ext>
                </a:extLst>
              </a:tr>
              <a:tr h="167359">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flask_pip/Lib/site-packages/colorama:</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tests</a:t>
                      </a:r>
                    </a:p>
                  </a:txBody>
                  <a:tcPr marL="8368" marR="8368" marT="8368" marB="0" anchor="b">
                    <a:lnL>
                      <a:noFill/>
                    </a:lnL>
                    <a:lnR>
                      <a:noFill/>
                    </a:lnR>
                    <a:lnT>
                      <a:noFill/>
                    </a:lnT>
                    <a:lnB>
                      <a:noFill/>
                    </a:lnB>
                    <a:noFill/>
                  </a:tcPr>
                </a:tc>
                <a:extLst>
                  <a:ext uri="{0D108BD9-81ED-4DB2-BD59-A6C34878D82A}">
                    <a16:rowId xmlns:a16="http://schemas.microsoft.com/office/drawing/2014/main" val="1237790856"/>
                  </a:ext>
                </a:extLst>
              </a:tr>
              <a:tr h="167359">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flask_pip/Lib/site-packages/flask:</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sansio</a:t>
                      </a:r>
                    </a:p>
                  </a:txBody>
                  <a:tcPr marL="8368" marR="8368" marT="8368" marB="0" anchor="b">
                    <a:lnL>
                      <a:noFill/>
                    </a:lnL>
                    <a:lnR>
                      <a:noFill/>
                    </a:lnR>
                    <a:lnT>
                      <a:noFill/>
                    </a:lnT>
                    <a:lnB>
                      <a:noFill/>
                    </a:lnB>
                    <a:noFill/>
                  </a:tcPr>
                </a:tc>
                <a:extLst>
                  <a:ext uri="{0D108BD9-81ED-4DB2-BD59-A6C34878D82A}">
                    <a16:rowId xmlns:a16="http://schemas.microsoft.com/office/drawing/2014/main" val="598178726"/>
                  </a:ext>
                </a:extLst>
              </a:tr>
              <a:tr h="167359">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flask_pip/Lib/site-packages:</a:t>
                      </a: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blinker</a:t>
                      </a:r>
                    </a:p>
                  </a:txBody>
                  <a:tcPr marL="8368" marR="8368" marT="8368" marB="0" anchor="b">
                    <a:lnL>
                      <a:noFill/>
                    </a:lnL>
                    <a:lnR>
                      <a:noFill/>
                    </a:lnR>
                    <a:lnT>
                      <a:noFill/>
                    </a:lnT>
                    <a:lnB>
                      <a:noFill/>
                    </a:lnB>
                    <a:noFill/>
                  </a:tcPr>
                </a:tc>
                <a:extLst>
                  <a:ext uri="{0D108BD9-81ED-4DB2-BD59-A6C34878D82A}">
                    <a16:rowId xmlns:a16="http://schemas.microsoft.com/office/drawing/2014/main" val="1622518067"/>
                  </a:ext>
                </a:extLst>
              </a:tr>
              <a:tr h="167359">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endParaRPr lang="en-US" sz="900" b="0" i="0" u="none" strike="noStrike">
                        <a:solidFill>
                          <a:srgbClr val="000000"/>
                        </a:solidFill>
                        <a:effectLst/>
                        <a:latin typeface="Consolas" panose="020B0609020204030204" pitchFamily="49" charset="0"/>
                      </a:endParaRPr>
                    </a:p>
                  </a:txBody>
                  <a:tcPr marL="8368" marR="8368" marT="8368" marB="0" anchor="b">
                    <a:lnL>
                      <a:noFill/>
                    </a:lnL>
                    <a:lnR>
                      <a:noFill/>
                    </a:lnR>
                    <a:lnT>
                      <a:noFill/>
                    </a:lnT>
                    <a:lnB>
                      <a:noFill/>
                    </a:lnB>
                    <a:noFill/>
                  </a:tcPr>
                </a:tc>
                <a:tc>
                  <a:txBody>
                    <a:bodyPr/>
                    <a:lstStyle/>
                    <a:p>
                      <a:pPr algn="l" fontAlgn="b"/>
                      <a:r>
                        <a:rPr lang="en-US" sz="900" b="0" i="0" u="none" strike="noStrike">
                          <a:solidFill>
                            <a:srgbClr val="000000"/>
                          </a:solidFill>
                          <a:effectLst/>
                          <a:latin typeface="Consolas" panose="020B0609020204030204" pitchFamily="49" charset="0"/>
                        </a:rPr>
                        <a:t>flask_pip/Lib/site-packages:</a:t>
                      </a:r>
                    </a:p>
                  </a:txBody>
                  <a:tcPr marL="8368" marR="8368" marT="8368" marB="0" anchor="b">
                    <a:lnL>
                      <a:noFill/>
                    </a:lnL>
                    <a:lnR>
                      <a:noFill/>
                    </a:lnR>
                    <a:lnT>
                      <a:noFill/>
                    </a:lnT>
                    <a:lnB>
                      <a:noFill/>
                    </a:lnB>
                    <a:noFill/>
                  </a:tcPr>
                </a:tc>
                <a:tc>
                  <a:txBody>
                    <a:bodyPr/>
                    <a:lstStyle/>
                    <a:p>
                      <a:pPr algn="l" fontAlgn="b"/>
                      <a:r>
                        <a:rPr lang="en-US" sz="900" b="0" i="0" u="none" strike="noStrike" dirty="0">
                          <a:solidFill>
                            <a:srgbClr val="000000"/>
                          </a:solidFill>
                          <a:effectLst/>
                          <a:latin typeface="Consolas" panose="020B0609020204030204" pitchFamily="49" charset="0"/>
                        </a:rPr>
                        <a:t>blinker-1.7.0.dist-info</a:t>
                      </a:r>
                    </a:p>
                  </a:txBody>
                  <a:tcPr marL="8368" marR="8368" marT="8368" marB="0" anchor="b">
                    <a:lnL>
                      <a:noFill/>
                    </a:lnL>
                    <a:lnR>
                      <a:noFill/>
                    </a:lnR>
                    <a:lnT>
                      <a:noFill/>
                    </a:lnT>
                    <a:lnB>
                      <a:noFill/>
                    </a:lnB>
                    <a:noFill/>
                  </a:tcPr>
                </a:tc>
                <a:extLst>
                  <a:ext uri="{0D108BD9-81ED-4DB2-BD59-A6C34878D82A}">
                    <a16:rowId xmlns:a16="http://schemas.microsoft.com/office/drawing/2014/main" val="3422045340"/>
                  </a:ext>
                </a:extLst>
              </a:tr>
            </a:tbl>
          </a:graphicData>
        </a:graphic>
      </p:graphicFrame>
      <p:sp>
        <p:nvSpPr>
          <p:cNvPr id="2" name="Title 1">
            <a:extLst>
              <a:ext uri="{FF2B5EF4-FFF2-40B4-BE49-F238E27FC236}">
                <a16:creationId xmlns:a16="http://schemas.microsoft.com/office/drawing/2014/main" id="{879ED2E6-6C0B-FA9E-5431-D846AED597B2}"/>
              </a:ext>
            </a:extLst>
          </p:cNvPr>
          <p:cNvSpPr>
            <a:spLocks noGrp="1"/>
          </p:cNvSpPr>
          <p:nvPr>
            <p:ph type="title"/>
          </p:nvPr>
        </p:nvSpPr>
        <p:spPr/>
        <p:txBody>
          <a:bodyPr>
            <a:normAutofit/>
          </a:bodyPr>
          <a:lstStyle/>
          <a:p>
            <a:r>
              <a:rPr lang="en-US" sz="3600" b="0" dirty="0">
                <a:solidFill>
                  <a:srgbClr val="00BDD6"/>
                </a:solidFill>
                <a:effectLst/>
                <a:latin typeface="Consolas" panose="020B0609020204030204" pitchFamily="49" charset="0"/>
              </a:rPr>
              <a:t>pip</a:t>
            </a:r>
            <a:r>
              <a:rPr lang="en-US" sz="3600" b="0" dirty="0">
                <a:solidFill>
                  <a:srgbClr val="FA8900"/>
                </a:solidFill>
                <a:effectLst/>
                <a:latin typeface="Consolas" panose="020B0609020204030204" pitchFamily="49" charset="0"/>
              </a:rPr>
              <a:t> </a:t>
            </a:r>
            <a:r>
              <a:rPr lang="en-US" sz="3600" b="0" dirty="0">
                <a:solidFill>
                  <a:srgbClr val="00B368"/>
                </a:solidFill>
                <a:effectLst/>
                <a:latin typeface="Consolas" panose="020B0609020204030204" pitchFamily="49" charset="0"/>
              </a:rPr>
              <a:t>install</a:t>
            </a:r>
            <a:r>
              <a:rPr lang="en-US" sz="3600" b="0" dirty="0">
                <a:solidFill>
                  <a:srgbClr val="FA8900"/>
                </a:solidFill>
                <a:effectLst/>
                <a:latin typeface="Consolas" panose="020B0609020204030204" pitchFamily="49" charset="0"/>
              </a:rPr>
              <a:t> </a:t>
            </a:r>
            <a:r>
              <a:rPr lang="en-US" sz="3600" b="0" dirty="0">
                <a:solidFill>
                  <a:srgbClr val="00B368"/>
                </a:solidFill>
                <a:effectLst/>
                <a:latin typeface="Consolas" panose="020B0609020204030204" pitchFamily="49" charset="0"/>
              </a:rPr>
              <a:t>flask</a:t>
            </a:r>
            <a:r>
              <a:rPr lang="en-US" sz="3600" b="0" dirty="0">
                <a:solidFill>
                  <a:srgbClr val="00BDD6"/>
                </a:solidFill>
                <a:effectLst/>
                <a:latin typeface="Consolas" panose="020B0609020204030204" pitchFamily="49" charset="0"/>
              </a:rPr>
              <a:t> </a:t>
            </a:r>
            <a:r>
              <a:rPr lang="en-US" sz="3600" b="0" dirty="0">
                <a:effectLst/>
                <a:latin typeface="Consolas" panose="020B0609020204030204" pitchFamily="49" charset="0"/>
              </a:rPr>
              <a:t>vs</a:t>
            </a:r>
            <a:r>
              <a:rPr lang="en-US" sz="3600" b="0" dirty="0">
                <a:solidFill>
                  <a:srgbClr val="00BDD6"/>
                </a:solidFill>
                <a:effectLst/>
                <a:latin typeface="Consolas" panose="020B0609020204030204" pitchFamily="49" charset="0"/>
              </a:rPr>
              <a:t> </a:t>
            </a:r>
            <a:r>
              <a:rPr lang="en-US" sz="3600" b="0" dirty="0" err="1">
                <a:solidFill>
                  <a:srgbClr val="00BDD6"/>
                </a:solidFill>
                <a:effectLst/>
                <a:latin typeface="Consolas" panose="020B0609020204030204" pitchFamily="49" charset="0"/>
              </a:rPr>
              <a:t>conda</a:t>
            </a:r>
            <a:r>
              <a:rPr lang="en-US" sz="3600" b="0" dirty="0">
                <a:solidFill>
                  <a:srgbClr val="00BDD6"/>
                </a:solidFill>
                <a:effectLst/>
                <a:latin typeface="Consolas" panose="020B0609020204030204" pitchFamily="49" charset="0"/>
              </a:rPr>
              <a:t> </a:t>
            </a:r>
            <a:r>
              <a:rPr lang="en-US" sz="3600" b="0" dirty="0">
                <a:solidFill>
                  <a:srgbClr val="00B368"/>
                </a:solidFill>
                <a:effectLst/>
                <a:latin typeface="Consolas" panose="020B0609020204030204" pitchFamily="49" charset="0"/>
              </a:rPr>
              <a:t>install</a:t>
            </a:r>
            <a:r>
              <a:rPr lang="en-US" sz="3600" b="0" dirty="0">
                <a:solidFill>
                  <a:srgbClr val="FA8900"/>
                </a:solidFill>
                <a:effectLst/>
                <a:latin typeface="Consolas" panose="020B0609020204030204" pitchFamily="49" charset="0"/>
              </a:rPr>
              <a:t> </a:t>
            </a:r>
            <a:r>
              <a:rPr lang="en-US" sz="3600" b="0" dirty="0">
                <a:solidFill>
                  <a:srgbClr val="00B368"/>
                </a:solidFill>
                <a:effectLst/>
                <a:latin typeface="Consolas" panose="020B0609020204030204" pitchFamily="49" charset="0"/>
              </a:rPr>
              <a:t>flask</a:t>
            </a:r>
            <a:endParaRPr lang="en-US" sz="3600" b="0" dirty="0">
              <a:solidFill>
                <a:srgbClr val="005661"/>
              </a:solidFill>
              <a:effectLst/>
              <a:latin typeface="Consolas" panose="020B0609020204030204" pitchFamily="49" charset="0"/>
            </a:endParaRPr>
          </a:p>
        </p:txBody>
      </p:sp>
      <p:sp>
        <p:nvSpPr>
          <p:cNvPr id="12" name="Rectangle: Rounded Corners 11">
            <a:extLst>
              <a:ext uri="{FF2B5EF4-FFF2-40B4-BE49-F238E27FC236}">
                <a16:creationId xmlns:a16="http://schemas.microsoft.com/office/drawing/2014/main" id="{1FC38889-8A82-AE30-8AA2-213A295B36CF}"/>
              </a:ext>
            </a:extLst>
          </p:cNvPr>
          <p:cNvSpPr/>
          <p:nvPr/>
        </p:nvSpPr>
        <p:spPr>
          <a:xfrm>
            <a:off x="914400" y="6453963"/>
            <a:ext cx="5699051" cy="223284"/>
          </a:xfrm>
          <a:prstGeom prst="roundRect">
            <a:avLst/>
          </a:prstGeom>
          <a:solidFill>
            <a:srgbClr val="236356"/>
          </a:solidFill>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100" dirty="0">
                <a:latin typeface="Georgia" panose="02040502050405020303" pitchFamily="18" charset="0"/>
              </a:rPr>
              <a:t>Only in </a:t>
            </a:r>
            <a:r>
              <a:rPr lang="en-US" sz="1100" dirty="0" err="1">
                <a:latin typeface="Georgia" panose="02040502050405020303" pitchFamily="18" charset="0"/>
              </a:rPr>
              <a:t>conda</a:t>
            </a:r>
            <a:endParaRPr lang="en-US" sz="1100" dirty="0">
              <a:latin typeface="Georgia" panose="02040502050405020303" pitchFamily="18" charset="0"/>
            </a:endParaRPr>
          </a:p>
        </p:txBody>
      </p:sp>
      <p:sp>
        <p:nvSpPr>
          <p:cNvPr id="13" name="Rectangle: Rounded Corners 12">
            <a:extLst>
              <a:ext uri="{FF2B5EF4-FFF2-40B4-BE49-F238E27FC236}">
                <a16:creationId xmlns:a16="http://schemas.microsoft.com/office/drawing/2014/main" id="{AE6FFC0C-CED1-BB28-2FEF-715B27591A5A}"/>
              </a:ext>
            </a:extLst>
          </p:cNvPr>
          <p:cNvSpPr/>
          <p:nvPr/>
        </p:nvSpPr>
        <p:spPr>
          <a:xfrm>
            <a:off x="6783573" y="6453963"/>
            <a:ext cx="4905154" cy="223284"/>
          </a:xfrm>
          <a:prstGeom prst="roundRect">
            <a:avLst/>
          </a:prstGeom>
          <a:solidFill>
            <a:srgbClr val="94573F"/>
          </a:solidFill>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100" dirty="0">
                <a:latin typeface="Georgia" panose="02040502050405020303" pitchFamily="18" charset="0"/>
              </a:rPr>
              <a:t>Only in pip</a:t>
            </a:r>
          </a:p>
        </p:txBody>
      </p:sp>
      <p:sp>
        <p:nvSpPr>
          <p:cNvPr id="14" name="TextBox 13">
            <a:extLst>
              <a:ext uri="{FF2B5EF4-FFF2-40B4-BE49-F238E27FC236}">
                <a16:creationId xmlns:a16="http://schemas.microsoft.com/office/drawing/2014/main" id="{B838BDFB-D469-F2C0-86A4-98C94E4837DC}"/>
              </a:ext>
            </a:extLst>
          </p:cNvPr>
          <p:cNvSpPr txBox="1"/>
          <p:nvPr/>
        </p:nvSpPr>
        <p:spPr>
          <a:xfrm>
            <a:off x="7596231" y="1618142"/>
            <a:ext cx="1925959" cy="523220"/>
          </a:xfrm>
          <a:prstGeom prst="rect">
            <a:avLst/>
          </a:prstGeom>
          <a:noFill/>
          <a:ln>
            <a:solidFill>
              <a:schemeClr val="tx1"/>
            </a:solidFill>
            <a:prstDash val="lgDash"/>
          </a:ln>
        </p:spPr>
        <p:txBody>
          <a:bodyPr wrap="square" rtlCol="0">
            <a:spAutoFit/>
          </a:bodyPr>
          <a:lstStyle/>
          <a:p>
            <a:r>
              <a:rPr lang="en-US" sz="1400" dirty="0">
                <a:latin typeface="Georgia" panose="02040502050405020303" pitchFamily="18" charset="0"/>
              </a:rPr>
              <a:t>Out of about 6.7k lines, only these differ</a:t>
            </a:r>
          </a:p>
        </p:txBody>
      </p:sp>
      <p:cxnSp>
        <p:nvCxnSpPr>
          <p:cNvPr id="16" name="Straight Arrow Connector 15">
            <a:extLst>
              <a:ext uri="{FF2B5EF4-FFF2-40B4-BE49-F238E27FC236}">
                <a16:creationId xmlns:a16="http://schemas.microsoft.com/office/drawing/2014/main" id="{FBF1599F-FD96-908A-1025-3CF76A299DAB}"/>
              </a:ext>
            </a:extLst>
          </p:cNvPr>
          <p:cNvCxnSpPr>
            <a:cxnSpLocks/>
          </p:cNvCxnSpPr>
          <p:nvPr/>
        </p:nvCxnSpPr>
        <p:spPr>
          <a:xfrm flipH="1">
            <a:off x="6096000" y="1879752"/>
            <a:ext cx="1389321" cy="1707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EC89FF5-5D55-1400-BA85-8EB2D395A2CD}"/>
              </a:ext>
            </a:extLst>
          </p:cNvPr>
          <p:cNvCxnSpPr>
            <a:cxnSpLocks/>
          </p:cNvCxnSpPr>
          <p:nvPr/>
        </p:nvCxnSpPr>
        <p:spPr>
          <a:xfrm>
            <a:off x="8559210" y="2229724"/>
            <a:ext cx="381590" cy="6150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46CA7CC6-5CA6-5218-DB33-84B8296F2325}"/>
              </a:ext>
            </a:extLst>
          </p:cNvPr>
          <p:cNvSpPr txBox="1"/>
          <p:nvPr/>
        </p:nvSpPr>
        <p:spPr>
          <a:xfrm>
            <a:off x="9104156" y="4500572"/>
            <a:ext cx="1925959" cy="738664"/>
          </a:xfrm>
          <a:prstGeom prst="rect">
            <a:avLst/>
          </a:prstGeom>
          <a:noFill/>
          <a:ln>
            <a:solidFill>
              <a:schemeClr val="tx1"/>
            </a:solidFill>
            <a:prstDash val="lgDash"/>
          </a:ln>
        </p:spPr>
        <p:txBody>
          <a:bodyPr wrap="square" rtlCol="0">
            <a:spAutoFit/>
          </a:bodyPr>
          <a:lstStyle/>
          <a:p>
            <a:r>
              <a:rPr lang="en-US" sz="1400" dirty="0">
                <a:latin typeface="Georgia" panose="02040502050405020303" pitchFamily="18" charset="0"/>
              </a:rPr>
              <a:t>These lines only differ due to capitalization or version numbers</a:t>
            </a:r>
          </a:p>
        </p:txBody>
      </p:sp>
      <p:cxnSp>
        <p:nvCxnSpPr>
          <p:cNvPr id="25" name="Straight Arrow Connector 24">
            <a:extLst>
              <a:ext uri="{FF2B5EF4-FFF2-40B4-BE49-F238E27FC236}">
                <a16:creationId xmlns:a16="http://schemas.microsoft.com/office/drawing/2014/main" id="{1BFB07EE-0428-C523-DECB-B56642702B71}"/>
              </a:ext>
            </a:extLst>
          </p:cNvPr>
          <p:cNvCxnSpPr>
            <a:cxnSpLocks/>
          </p:cNvCxnSpPr>
          <p:nvPr/>
        </p:nvCxnSpPr>
        <p:spPr>
          <a:xfrm flipH="1" flipV="1">
            <a:off x="8201891" y="4174836"/>
            <a:ext cx="891309" cy="7666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1CF042C0-5A3E-75BE-9A2B-42397BFC4624}"/>
              </a:ext>
            </a:extLst>
          </p:cNvPr>
          <p:cNvCxnSpPr>
            <a:cxnSpLocks/>
          </p:cNvCxnSpPr>
          <p:nvPr/>
        </p:nvCxnSpPr>
        <p:spPr>
          <a:xfrm flipH="1" flipV="1">
            <a:off x="2955636" y="3878440"/>
            <a:ext cx="6078835" cy="11692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001076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9ED2E6-6C0B-FA9E-5431-D846AED597B2}"/>
              </a:ext>
            </a:extLst>
          </p:cNvPr>
          <p:cNvSpPr>
            <a:spLocks noGrp="1"/>
          </p:cNvSpPr>
          <p:nvPr>
            <p:ph type="title"/>
          </p:nvPr>
        </p:nvSpPr>
        <p:spPr/>
        <p:txBody>
          <a:bodyPr>
            <a:normAutofit/>
          </a:bodyPr>
          <a:lstStyle/>
          <a:p>
            <a:r>
              <a:rPr lang="en-US" sz="3600" b="0" dirty="0" err="1">
                <a:solidFill>
                  <a:srgbClr val="00BDD6"/>
                </a:solidFill>
                <a:effectLst/>
                <a:latin typeface="Consolas" panose="020B0609020204030204" pitchFamily="49" charset="0"/>
              </a:rPr>
              <a:t>conda</a:t>
            </a:r>
            <a:r>
              <a:rPr lang="en-US" sz="3600" b="0" dirty="0">
                <a:solidFill>
                  <a:srgbClr val="FA8900"/>
                </a:solidFill>
                <a:effectLst/>
                <a:latin typeface="Consolas" panose="020B0609020204030204" pitchFamily="49" charset="0"/>
              </a:rPr>
              <a:t> </a:t>
            </a:r>
            <a:r>
              <a:rPr lang="en-US" sz="3600" b="0" dirty="0">
                <a:solidFill>
                  <a:srgbClr val="00B368"/>
                </a:solidFill>
                <a:effectLst/>
                <a:latin typeface="Consolas" panose="020B0609020204030204" pitchFamily="49" charset="0"/>
              </a:rPr>
              <a:t>install</a:t>
            </a:r>
            <a:r>
              <a:rPr lang="en-US" sz="3600" b="0" dirty="0">
                <a:solidFill>
                  <a:srgbClr val="FA8900"/>
                </a:solidFill>
                <a:effectLst/>
                <a:latin typeface="Consolas" panose="020B0609020204030204" pitchFamily="49" charset="0"/>
              </a:rPr>
              <a:t> </a:t>
            </a:r>
            <a:r>
              <a:rPr lang="en-US" sz="3600" b="0" dirty="0">
                <a:solidFill>
                  <a:srgbClr val="00B368"/>
                </a:solidFill>
                <a:effectLst/>
                <a:latin typeface="Consolas" panose="020B0609020204030204" pitchFamily="49" charset="0"/>
              </a:rPr>
              <a:t>flask</a:t>
            </a:r>
            <a:r>
              <a:rPr lang="en-US" sz="3600" b="0" dirty="0">
                <a:solidFill>
                  <a:srgbClr val="00BDD6"/>
                </a:solidFill>
                <a:effectLst/>
                <a:latin typeface="Consolas" panose="020B0609020204030204" pitchFamily="49" charset="0"/>
              </a:rPr>
              <a:t> </a:t>
            </a:r>
            <a:r>
              <a:rPr lang="en-US" sz="3600" b="0" dirty="0">
                <a:effectLst/>
                <a:latin typeface="Consolas" panose="020B0609020204030204" pitchFamily="49" charset="0"/>
              </a:rPr>
              <a:t>vs</a:t>
            </a:r>
            <a:r>
              <a:rPr lang="en-US" sz="3600" b="0" dirty="0">
                <a:solidFill>
                  <a:srgbClr val="00BDD6"/>
                </a:solidFill>
                <a:effectLst/>
                <a:latin typeface="Consolas" panose="020B0609020204030204" pitchFamily="49" charset="0"/>
              </a:rPr>
              <a:t> pip </a:t>
            </a:r>
            <a:r>
              <a:rPr lang="en-US" sz="3600" b="0" dirty="0">
                <a:solidFill>
                  <a:srgbClr val="00B368"/>
                </a:solidFill>
                <a:effectLst/>
                <a:latin typeface="Consolas" panose="020B0609020204030204" pitchFamily="49" charset="0"/>
              </a:rPr>
              <a:t>install</a:t>
            </a:r>
            <a:r>
              <a:rPr lang="en-US" sz="3600" b="0" dirty="0">
                <a:solidFill>
                  <a:srgbClr val="FA8900"/>
                </a:solidFill>
                <a:effectLst/>
                <a:latin typeface="Consolas" panose="020B0609020204030204" pitchFamily="49" charset="0"/>
              </a:rPr>
              <a:t> </a:t>
            </a:r>
            <a:r>
              <a:rPr lang="en-US" sz="3600" b="0" dirty="0">
                <a:solidFill>
                  <a:srgbClr val="00B368"/>
                </a:solidFill>
                <a:effectLst/>
                <a:latin typeface="Consolas" panose="020B0609020204030204" pitchFamily="49" charset="0"/>
              </a:rPr>
              <a:t>flask</a:t>
            </a:r>
            <a:endParaRPr lang="en-US" sz="3600" b="0" dirty="0">
              <a:solidFill>
                <a:srgbClr val="005661"/>
              </a:solidFill>
              <a:effectLst/>
              <a:latin typeface="Consolas" panose="020B0609020204030204" pitchFamily="49" charset="0"/>
            </a:endParaRPr>
          </a:p>
        </p:txBody>
      </p:sp>
      <p:sp>
        <p:nvSpPr>
          <p:cNvPr id="12" name="Rectangle: Rounded Corners 11">
            <a:extLst>
              <a:ext uri="{FF2B5EF4-FFF2-40B4-BE49-F238E27FC236}">
                <a16:creationId xmlns:a16="http://schemas.microsoft.com/office/drawing/2014/main" id="{1FC38889-8A82-AE30-8AA2-213A295B36CF}"/>
              </a:ext>
            </a:extLst>
          </p:cNvPr>
          <p:cNvSpPr/>
          <p:nvPr/>
        </p:nvSpPr>
        <p:spPr>
          <a:xfrm>
            <a:off x="914400" y="6453963"/>
            <a:ext cx="5699051" cy="223284"/>
          </a:xfrm>
          <a:prstGeom prst="roundRect">
            <a:avLst/>
          </a:prstGeom>
          <a:solidFill>
            <a:srgbClr val="236356"/>
          </a:solidFill>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100" dirty="0" err="1">
                <a:latin typeface="Georgia" panose="02040502050405020303" pitchFamily="18" charset="0"/>
              </a:rPr>
              <a:t>Conda</a:t>
            </a:r>
            <a:r>
              <a:rPr lang="en-US" sz="1100" dirty="0">
                <a:latin typeface="Georgia" panose="02040502050405020303" pitchFamily="18" charset="0"/>
              </a:rPr>
              <a:t> env’s export file</a:t>
            </a:r>
          </a:p>
        </p:txBody>
      </p:sp>
      <p:sp>
        <p:nvSpPr>
          <p:cNvPr id="13" name="Rectangle: Rounded Corners 12">
            <a:extLst>
              <a:ext uri="{FF2B5EF4-FFF2-40B4-BE49-F238E27FC236}">
                <a16:creationId xmlns:a16="http://schemas.microsoft.com/office/drawing/2014/main" id="{AE6FFC0C-CED1-BB28-2FEF-715B27591A5A}"/>
              </a:ext>
            </a:extLst>
          </p:cNvPr>
          <p:cNvSpPr/>
          <p:nvPr/>
        </p:nvSpPr>
        <p:spPr>
          <a:xfrm>
            <a:off x="6783573" y="6453963"/>
            <a:ext cx="4905154" cy="223284"/>
          </a:xfrm>
          <a:prstGeom prst="roundRect">
            <a:avLst/>
          </a:prstGeom>
          <a:solidFill>
            <a:srgbClr val="94573F"/>
          </a:solidFill>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100" dirty="0">
                <a:latin typeface="Georgia" panose="02040502050405020303" pitchFamily="18" charset="0"/>
              </a:rPr>
              <a:t>Pip env’s export file</a:t>
            </a:r>
          </a:p>
        </p:txBody>
      </p:sp>
      <p:sp>
        <p:nvSpPr>
          <p:cNvPr id="14" name="TextBox 13">
            <a:extLst>
              <a:ext uri="{FF2B5EF4-FFF2-40B4-BE49-F238E27FC236}">
                <a16:creationId xmlns:a16="http://schemas.microsoft.com/office/drawing/2014/main" id="{B838BDFB-D469-F2C0-86A4-98C94E4837DC}"/>
              </a:ext>
            </a:extLst>
          </p:cNvPr>
          <p:cNvSpPr txBox="1"/>
          <p:nvPr/>
        </p:nvSpPr>
        <p:spPr>
          <a:xfrm>
            <a:off x="4263808" y="1506022"/>
            <a:ext cx="2332075" cy="369332"/>
          </a:xfrm>
          <a:prstGeom prst="rect">
            <a:avLst/>
          </a:prstGeom>
          <a:noFill/>
          <a:ln>
            <a:solidFill>
              <a:schemeClr val="tx1"/>
            </a:solidFill>
            <a:prstDash val="lgDash"/>
          </a:ln>
        </p:spPr>
        <p:txBody>
          <a:bodyPr wrap="square" rtlCol="0">
            <a:spAutoFit/>
          </a:bodyPr>
          <a:lstStyle/>
          <a:p>
            <a:r>
              <a:rPr lang="en-US" b="0" dirty="0" err="1">
                <a:solidFill>
                  <a:srgbClr val="00BDD6"/>
                </a:solidFill>
                <a:effectLst/>
                <a:latin typeface="Consolas" panose="020B0609020204030204" pitchFamily="49" charset="0"/>
              </a:rPr>
              <a:t>conda</a:t>
            </a:r>
            <a:r>
              <a:rPr lang="en-US" b="0" dirty="0">
                <a:solidFill>
                  <a:srgbClr val="00BDD6"/>
                </a:solidFill>
                <a:effectLst/>
                <a:latin typeface="Consolas" panose="020B0609020204030204" pitchFamily="49" charset="0"/>
              </a:rPr>
              <a:t> </a:t>
            </a:r>
            <a:r>
              <a:rPr lang="en-US" b="0" dirty="0">
                <a:solidFill>
                  <a:srgbClr val="FA8900"/>
                </a:solidFill>
                <a:effectLst/>
                <a:latin typeface="Consolas" panose="020B0609020204030204" pitchFamily="49" charset="0"/>
              </a:rPr>
              <a:t>env export</a:t>
            </a:r>
            <a:endParaRPr lang="en-US" b="0" dirty="0">
              <a:solidFill>
                <a:srgbClr val="005661"/>
              </a:solidFill>
              <a:effectLst/>
              <a:latin typeface="Consolas" panose="020B0609020204030204" pitchFamily="49" charset="0"/>
            </a:endParaRPr>
          </a:p>
        </p:txBody>
      </p:sp>
      <p:sp>
        <p:nvSpPr>
          <p:cNvPr id="4" name="TextBox 3">
            <a:extLst>
              <a:ext uri="{FF2B5EF4-FFF2-40B4-BE49-F238E27FC236}">
                <a16:creationId xmlns:a16="http://schemas.microsoft.com/office/drawing/2014/main" id="{6036959E-C14C-3D0B-30E9-143DA83163B2}"/>
              </a:ext>
            </a:extLst>
          </p:cNvPr>
          <p:cNvSpPr txBox="1"/>
          <p:nvPr/>
        </p:nvSpPr>
        <p:spPr>
          <a:xfrm>
            <a:off x="1624123" y="1755972"/>
            <a:ext cx="4053663" cy="4247317"/>
          </a:xfrm>
          <a:prstGeom prst="rect">
            <a:avLst/>
          </a:prstGeom>
          <a:noFill/>
        </p:spPr>
        <p:txBody>
          <a:bodyPr wrap="square">
            <a:spAutoFit/>
          </a:bodyPr>
          <a:lstStyle/>
          <a:p>
            <a:r>
              <a:rPr lang="en-US" sz="1000" b="0" dirty="0">
                <a:solidFill>
                  <a:srgbClr val="E64100"/>
                </a:solidFill>
                <a:effectLst/>
                <a:latin typeface="Consolas" panose="020B0609020204030204" pitchFamily="49" charset="0"/>
              </a:rPr>
              <a:t>name</a:t>
            </a:r>
            <a:r>
              <a:rPr lang="en-US" sz="1000" b="1"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flask_conda</a:t>
            </a:r>
            <a:endParaRPr lang="en-US" sz="1000" b="0" dirty="0">
              <a:solidFill>
                <a:srgbClr val="005661"/>
              </a:solidFill>
              <a:effectLst/>
              <a:latin typeface="Consolas" panose="020B0609020204030204" pitchFamily="49" charset="0"/>
            </a:endParaRPr>
          </a:p>
          <a:p>
            <a:r>
              <a:rPr lang="en-US" sz="1000" b="0" dirty="0">
                <a:solidFill>
                  <a:srgbClr val="E64100"/>
                </a:solidFill>
                <a:effectLst/>
                <a:latin typeface="Consolas" panose="020B0609020204030204" pitchFamily="49" charset="0"/>
              </a:rPr>
              <a:t>channels</a:t>
            </a:r>
            <a:r>
              <a:rPr lang="en-US" sz="1000" b="1"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defaults</a:t>
            </a:r>
            <a:endParaRPr lang="en-US" sz="1000" b="0" dirty="0">
              <a:solidFill>
                <a:srgbClr val="005661"/>
              </a:solidFill>
              <a:effectLst/>
              <a:latin typeface="Consolas" panose="020B0609020204030204" pitchFamily="49" charset="0"/>
            </a:endParaRPr>
          </a:p>
          <a:p>
            <a:r>
              <a:rPr lang="en-US" sz="1000" b="0" dirty="0">
                <a:solidFill>
                  <a:srgbClr val="E64100"/>
                </a:solidFill>
                <a:effectLst/>
                <a:latin typeface="Consolas" panose="020B0609020204030204" pitchFamily="49" charset="0"/>
              </a:rPr>
              <a:t>dependencies</a:t>
            </a:r>
            <a:r>
              <a:rPr lang="en-US" sz="1000" b="1"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bzip2=1.0.8=he774522_0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ca-certificates=2023.12.12=haa95532_0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click=8.1.7=py310haa95532_0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colorama</a:t>
            </a:r>
            <a:r>
              <a:rPr lang="en-US" sz="1000" b="0" dirty="0">
                <a:solidFill>
                  <a:srgbClr val="00B368"/>
                </a:solidFill>
                <a:effectLst/>
                <a:latin typeface="Consolas" panose="020B0609020204030204" pitchFamily="49" charset="0"/>
              </a:rPr>
              <a:t>=0.4.6=py310haa95532_0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flask=2.2.5=py310haa95532_0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itsdangerous</a:t>
            </a:r>
            <a:r>
              <a:rPr lang="en-US" sz="1000" b="0" dirty="0">
                <a:solidFill>
                  <a:srgbClr val="00B368"/>
                </a:solidFill>
                <a:effectLst/>
                <a:latin typeface="Consolas" panose="020B0609020204030204" pitchFamily="49" charset="0"/>
              </a:rPr>
              <a:t>=2.0.1=pyhd3eb1b0_0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jinja2=3.1.3=py310haa95532_0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libffi</a:t>
            </a:r>
            <a:r>
              <a:rPr lang="en-US" sz="1000" b="0" dirty="0">
                <a:solidFill>
                  <a:srgbClr val="00B368"/>
                </a:solidFill>
                <a:effectLst/>
                <a:latin typeface="Consolas" panose="020B0609020204030204" pitchFamily="49" charset="0"/>
              </a:rPr>
              <a:t>=3.4.4=hd77b12b_0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markupsafe</a:t>
            </a:r>
            <a:r>
              <a:rPr lang="en-US" sz="1000" b="0" dirty="0">
                <a:solidFill>
                  <a:srgbClr val="00B368"/>
                </a:solidFill>
                <a:effectLst/>
                <a:latin typeface="Consolas" panose="020B0609020204030204" pitchFamily="49" charset="0"/>
              </a:rPr>
              <a:t>=2.1.3=py310h2bbff1b_0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openssl</a:t>
            </a:r>
            <a:r>
              <a:rPr lang="en-US" sz="1000" b="0" dirty="0">
                <a:solidFill>
                  <a:srgbClr val="00B368"/>
                </a:solidFill>
                <a:effectLst/>
                <a:latin typeface="Consolas" panose="020B0609020204030204" pitchFamily="49" charset="0"/>
              </a:rPr>
              <a:t>=3.0.13=h2bbff1b_0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pip=23.3.1=py310haa95532_0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python=3.10.13=he1021f5_0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setuptools</a:t>
            </a:r>
            <a:r>
              <a:rPr lang="en-US" sz="1000" b="0" dirty="0">
                <a:solidFill>
                  <a:srgbClr val="00B368"/>
                </a:solidFill>
                <a:effectLst/>
                <a:latin typeface="Consolas" panose="020B0609020204030204" pitchFamily="49" charset="0"/>
              </a:rPr>
              <a:t>=68.2.2=py310haa95532_0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sqlite</a:t>
            </a:r>
            <a:r>
              <a:rPr lang="en-US" sz="1000" b="0" dirty="0">
                <a:solidFill>
                  <a:srgbClr val="00B368"/>
                </a:solidFill>
                <a:effectLst/>
                <a:latin typeface="Consolas" panose="020B0609020204030204" pitchFamily="49" charset="0"/>
              </a:rPr>
              <a:t>=3.41.2=h2bbff1b_0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tk</a:t>
            </a:r>
            <a:r>
              <a:rPr lang="en-US" sz="1000" b="0" dirty="0">
                <a:solidFill>
                  <a:srgbClr val="00B368"/>
                </a:solidFill>
                <a:effectLst/>
                <a:latin typeface="Consolas" panose="020B0609020204030204" pitchFamily="49" charset="0"/>
              </a:rPr>
              <a:t>=8.6.12=h2bbff1b_0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tzdata</a:t>
            </a:r>
            <a:r>
              <a:rPr lang="en-US" sz="1000" b="0" dirty="0">
                <a:solidFill>
                  <a:srgbClr val="00B368"/>
                </a:solidFill>
                <a:effectLst/>
                <a:latin typeface="Consolas" panose="020B0609020204030204" pitchFamily="49" charset="0"/>
              </a:rPr>
              <a:t>=2023d=h04d1e81_0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vc</a:t>
            </a:r>
            <a:r>
              <a:rPr lang="en-US" sz="1000" b="0" dirty="0">
                <a:solidFill>
                  <a:srgbClr val="00B368"/>
                </a:solidFill>
                <a:effectLst/>
                <a:latin typeface="Consolas" panose="020B0609020204030204" pitchFamily="49" charset="0"/>
              </a:rPr>
              <a:t>=14.2=h21ff451_1</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vs2015_runtime=14.27.29016=h5e58377_2</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werkzeug</a:t>
            </a:r>
            <a:r>
              <a:rPr lang="en-US" sz="1000" b="0" dirty="0">
                <a:solidFill>
                  <a:srgbClr val="00B368"/>
                </a:solidFill>
                <a:effectLst/>
                <a:latin typeface="Consolas" panose="020B0609020204030204" pitchFamily="49" charset="0"/>
              </a:rPr>
              <a:t>=2.3.8=py310haa95532_0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wheel=0.41.2=py310haa95532_0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xz</a:t>
            </a:r>
            <a:r>
              <a:rPr lang="en-US" sz="1000" b="0" dirty="0">
                <a:solidFill>
                  <a:srgbClr val="00B368"/>
                </a:solidFill>
                <a:effectLst/>
                <a:latin typeface="Consolas" panose="020B0609020204030204" pitchFamily="49" charset="0"/>
              </a:rPr>
              <a:t>=5.4.5=h8cc25b3_0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zlib</a:t>
            </a:r>
            <a:r>
              <a:rPr lang="en-US" sz="1000" b="0" dirty="0">
                <a:solidFill>
                  <a:srgbClr val="00B368"/>
                </a:solidFill>
                <a:effectLst/>
                <a:latin typeface="Consolas" panose="020B0609020204030204" pitchFamily="49" charset="0"/>
              </a:rPr>
              <a:t>=1.2.13=h8cc25b3_0</a:t>
            </a:r>
            <a:endParaRPr lang="en-US" sz="1000" b="0" dirty="0">
              <a:solidFill>
                <a:srgbClr val="005661"/>
              </a:solidFill>
              <a:effectLst/>
              <a:latin typeface="Consolas" panose="020B0609020204030204" pitchFamily="49" charset="0"/>
            </a:endParaRPr>
          </a:p>
          <a:p>
            <a:r>
              <a:rPr lang="en-US" sz="1000" b="0" dirty="0">
                <a:solidFill>
                  <a:srgbClr val="E64100"/>
                </a:solidFill>
                <a:effectLst/>
                <a:latin typeface="Consolas" panose="020B0609020204030204" pitchFamily="49" charset="0"/>
              </a:rPr>
              <a:t>prefix</a:t>
            </a:r>
            <a:r>
              <a:rPr lang="en-US" sz="1000" b="1"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C:\Users\shahb\anaconda3\envs\flask_conda</a:t>
            </a:r>
            <a:endParaRPr lang="en-US" sz="1000" b="0" dirty="0">
              <a:solidFill>
                <a:srgbClr val="005661"/>
              </a:solidFill>
              <a:effectLst/>
              <a:latin typeface="Consolas" panose="020B0609020204030204" pitchFamily="49" charset="0"/>
            </a:endParaRPr>
          </a:p>
        </p:txBody>
      </p:sp>
      <p:sp>
        <p:nvSpPr>
          <p:cNvPr id="6" name="TextBox 5">
            <a:extLst>
              <a:ext uri="{FF2B5EF4-FFF2-40B4-BE49-F238E27FC236}">
                <a16:creationId xmlns:a16="http://schemas.microsoft.com/office/drawing/2014/main" id="{134EA380-16BA-9D5E-0E6F-427DB626446C}"/>
              </a:ext>
            </a:extLst>
          </p:cNvPr>
          <p:cNvSpPr txBox="1"/>
          <p:nvPr/>
        </p:nvSpPr>
        <p:spPr>
          <a:xfrm>
            <a:off x="7107498" y="1602083"/>
            <a:ext cx="3734687" cy="4555093"/>
          </a:xfrm>
          <a:prstGeom prst="rect">
            <a:avLst/>
          </a:prstGeom>
          <a:noFill/>
        </p:spPr>
        <p:txBody>
          <a:bodyPr wrap="square">
            <a:spAutoFit/>
          </a:bodyPr>
          <a:lstStyle/>
          <a:p>
            <a:r>
              <a:rPr lang="en-US" sz="1000" b="0" dirty="0">
                <a:solidFill>
                  <a:srgbClr val="E64100"/>
                </a:solidFill>
                <a:effectLst/>
                <a:latin typeface="Consolas" panose="020B0609020204030204" pitchFamily="49" charset="0"/>
              </a:rPr>
              <a:t>name</a:t>
            </a:r>
            <a:r>
              <a:rPr lang="en-US" sz="1000" b="1"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flask_pip</a:t>
            </a:r>
            <a:endParaRPr lang="en-US" sz="1000" b="0" dirty="0">
              <a:solidFill>
                <a:srgbClr val="005661"/>
              </a:solidFill>
              <a:effectLst/>
              <a:latin typeface="Consolas" panose="020B0609020204030204" pitchFamily="49" charset="0"/>
            </a:endParaRPr>
          </a:p>
          <a:p>
            <a:r>
              <a:rPr lang="en-US" sz="1000" b="0" dirty="0">
                <a:solidFill>
                  <a:srgbClr val="E64100"/>
                </a:solidFill>
                <a:effectLst/>
                <a:latin typeface="Consolas" panose="020B0609020204030204" pitchFamily="49" charset="0"/>
              </a:rPr>
              <a:t>channels</a:t>
            </a:r>
            <a:r>
              <a:rPr lang="en-US" sz="1000" b="1"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defaults</a:t>
            </a:r>
            <a:endParaRPr lang="en-US" sz="1000" b="0" dirty="0">
              <a:solidFill>
                <a:srgbClr val="005661"/>
              </a:solidFill>
              <a:effectLst/>
              <a:latin typeface="Consolas" panose="020B0609020204030204" pitchFamily="49" charset="0"/>
            </a:endParaRPr>
          </a:p>
          <a:p>
            <a:r>
              <a:rPr lang="en-US" sz="1000" b="0" dirty="0">
                <a:solidFill>
                  <a:srgbClr val="E64100"/>
                </a:solidFill>
                <a:effectLst/>
                <a:latin typeface="Consolas" panose="020B0609020204030204" pitchFamily="49" charset="0"/>
              </a:rPr>
              <a:t>dependencies</a:t>
            </a:r>
            <a:r>
              <a:rPr lang="en-US" sz="1000" b="1"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bzip2=1.0.8=he774522_0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ca-certificates=2023.12.12=haa95532_0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libffi</a:t>
            </a:r>
            <a:r>
              <a:rPr lang="en-US" sz="1000" b="0" dirty="0">
                <a:solidFill>
                  <a:srgbClr val="00B368"/>
                </a:solidFill>
                <a:effectLst/>
                <a:latin typeface="Consolas" panose="020B0609020204030204" pitchFamily="49" charset="0"/>
              </a:rPr>
              <a:t>=3.4.4=hd77b12b_0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openssl</a:t>
            </a:r>
            <a:r>
              <a:rPr lang="en-US" sz="1000" b="0" dirty="0">
                <a:solidFill>
                  <a:srgbClr val="00B368"/>
                </a:solidFill>
                <a:effectLst/>
                <a:latin typeface="Consolas" panose="020B0609020204030204" pitchFamily="49" charset="0"/>
              </a:rPr>
              <a:t>=3.0.13=h2bbff1b_0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pip=23.3.1=py310haa95532_0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python=3.10.13=he1021f5_0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setuptools</a:t>
            </a:r>
            <a:r>
              <a:rPr lang="en-US" sz="1000" b="0" dirty="0">
                <a:solidFill>
                  <a:srgbClr val="00B368"/>
                </a:solidFill>
                <a:effectLst/>
                <a:latin typeface="Consolas" panose="020B0609020204030204" pitchFamily="49" charset="0"/>
              </a:rPr>
              <a:t>=68.2.2=py310haa95532_0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sqlite</a:t>
            </a:r>
            <a:r>
              <a:rPr lang="en-US" sz="1000" b="0" dirty="0">
                <a:solidFill>
                  <a:srgbClr val="00B368"/>
                </a:solidFill>
                <a:effectLst/>
                <a:latin typeface="Consolas" panose="020B0609020204030204" pitchFamily="49" charset="0"/>
              </a:rPr>
              <a:t>=3.41.2=h2bbff1b_0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tk</a:t>
            </a:r>
            <a:r>
              <a:rPr lang="en-US" sz="1000" b="0" dirty="0">
                <a:solidFill>
                  <a:srgbClr val="00B368"/>
                </a:solidFill>
                <a:effectLst/>
                <a:latin typeface="Consolas" panose="020B0609020204030204" pitchFamily="49" charset="0"/>
              </a:rPr>
              <a:t>=8.6.12=h2bbff1b_0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tzdata</a:t>
            </a:r>
            <a:r>
              <a:rPr lang="en-US" sz="1000" b="0" dirty="0">
                <a:solidFill>
                  <a:srgbClr val="00B368"/>
                </a:solidFill>
                <a:effectLst/>
                <a:latin typeface="Consolas" panose="020B0609020204030204" pitchFamily="49" charset="0"/>
              </a:rPr>
              <a:t>=2023d=h04d1e81_0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vc</a:t>
            </a:r>
            <a:r>
              <a:rPr lang="en-US" sz="1000" b="0" dirty="0">
                <a:solidFill>
                  <a:srgbClr val="00B368"/>
                </a:solidFill>
                <a:effectLst/>
                <a:latin typeface="Consolas" panose="020B0609020204030204" pitchFamily="49" charset="0"/>
              </a:rPr>
              <a:t>=14.2=h21ff451_1</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vs2015_runtime=14.27.29016=h5e58377_2</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wheel=0.41.2=py310haa95532_0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xz</a:t>
            </a:r>
            <a:r>
              <a:rPr lang="en-US" sz="1000" b="0" dirty="0">
                <a:solidFill>
                  <a:srgbClr val="00B368"/>
                </a:solidFill>
                <a:effectLst/>
                <a:latin typeface="Consolas" panose="020B0609020204030204" pitchFamily="49" charset="0"/>
              </a:rPr>
              <a:t>=5.4.5=h8cc25b3_0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zlib</a:t>
            </a:r>
            <a:r>
              <a:rPr lang="en-US" sz="1000" b="0" dirty="0">
                <a:solidFill>
                  <a:srgbClr val="00B368"/>
                </a:solidFill>
                <a:effectLst/>
                <a:latin typeface="Consolas" panose="020B0609020204030204" pitchFamily="49" charset="0"/>
              </a:rPr>
              <a:t>=1.2.13=h8cc25b3_0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E64100"/>
                </a:solidFill>
                <a:effectLst/>
                <a:latin typeface="Consolas" panose="020B0609020204030204" pitchFamily="49" charset="0"/>
              </a:rPr>
              <a:t>pip</a:t>
            </a:r>
            <a:r>
              <a:rPr lang="en-US" sz="1000" b="1"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blinker==1.7.0</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click==8.1.7</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colorama</a:t>
            </a:r>
            <a:r>
              <a:rPr lang="en-US" sz="1000" b="0" dirty="0">
                <a:solidFill>
                  <a:srgbClr val="00B368"/>
                </a:solidFill>
                <a:effectLst/>
                <a:latin typeface="Consolas" panose="020B0609020204030204" pitchFamily="49" charset="0"/>
              </a:rPr>
              <a:t>==0.4.6</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flask==3.0.2</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itsdangerous</a:t>
            </a:r>
            <a:r>
              <a:rPr lang="en-US" sz="1000" b="0" dirty="0">
                <a:solidFill>
                  <a:srgbClr val="00B368"/>
                </a:solidFill>
                <a:effectLst/>
                <a:latin typeface="Consolas" panose="020B0609020204030204" pitchFamily="49" charset="0"/>
              </a:rPr>
              <a:t>==2.1.2</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jinja2==3.1.3</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markupsafe</a:t>
            </a:r>
            <a:r>
              <a:rPr lang="en-US" sz="1000" b="0" dirty="0">
                <a:solidFill>
                  <a:srgbClr val="00B368"/>
                </a:solidFill>
                <a:effectLst/>
                <a:latin typeface="Consolas" panose="020B0609020204030204" pitchFamily="49" charset="0"/>
              </a:rPr>
              <a:t>==2.1.5</a:t>
            </a:r>
            <a:endParaRPr lang="en-US" sz="1000" b="0" dirty="0">
              <a:solidFill>
                <a:srgbClr val="005661"/>
              </a:solidFill>
              <a:effectLst/>
              <a:latin typeface="Consolas" panose="020B0609020204030204" pitchFamily="49" charset="0"/>
            </a:endParaRPr>
          </a:p>
          <a:p>
            <a:r>
              <a:rPr lang="en-US" sz="1000" b="0" dirty="0">
                <a:solidFill>
                  <a:srgbClr val="005661"/>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werkzeug</a:t>
            </a:r>
            <a:r>
              <a:rPr lang="en-US" sz="1000" b="0" dirty="0">
                <a:solidFill>
                  <a:srgbClr val="00B368"/>
                </a:solidFill>
                <a:effectLst/>
                <a:latin typeface="Consolas" panose="020B0609020204030204" pitchFamily="49" charset="0"/>
              </a:rPr>
              <a:t>==3.0.1</a:t>
            </a:r>
            <a:endParaRPr lang="en-US" sz="1000" b="0" dirty="0">
              <a:solidFill>
                <a:srgbClr val="005661"/>
              </a:solidFill>
              <a:effectLst/>
              <a:latin typeface="Consolas" panose="020B0609020204030204" pitchFamily="49" charset="0"/>
            </a:endParaRPr>
          </a:p>
          <a:p>
            <a:r>
              <a:rPr lang="en-US" sz="1000" b="0" dirty="0">
                <a:solidFill>
                  <a:srgbClr val="E64100"/>
                </a:solidFill>
                <a:effectLst/>
                <a:latin typeface="Consolas" panose="020B0609020204030204" pitchFamily="49" charset="0"/>
              </a:rPr>
              <a:t>prefix</a:t>
            </a:r>
            <a:r>
              <a:rPr lang="en-US" sz="1000" b="1" dirty="0">
                <a:solidFill>
                  <a:srgbClr val="004D57"/>
                </a:solidFill>
                <a:effectLst/>
                <a:latin typeface="Consolas" panose="020B0609020204030204" pitchFamily="49" charset="0"/>
              </a:rPr>
              <a:t>:</a:t>
            </a:r>
            <a:r>
              <a:rPr lang="en-US" sz="1000" b="0" dirty="0">
                <a:solidFill>
                  <a:srgbClr val="005661"/>
                </a:solidFill>
                <a:effectLst/>
                <a:latin typeface="Consolas" panose="020B0609020204030204" pitchFamily="49" charset="0"/>
              </a:rPr>
              <a:t> </a:t>
            </a:r>
            <a:r>
              <a:rPr lang="en-US" sz="1000" b="0" dirty="0">
                <a:solidFill>
                  <a:srgbClr val="00B368"/>
                </a:solidFill>
                <a:effectLst/>
                <a:latin typeface="Consolas" panose="020B0609020204030204" pitchFamily="49" charset="0"/>
              </a:rPr>
              <a:t>C:\Users\shahb\anaconda3\envs\flask_pip</a:t>
            </a:r>
            <a:endParaRPr lang="en-US" sz="1000" b="0" dirty="0">
              <a:solidFill>
                <a:srgbClr val="005661"/>
              </a:solidFill>
              <a:effectLst/>
              <a:latin typeface="Consolas" panose="020B0609020204030204" pitchFamily="49" charset="0"/>
            </a:endParaRPr>
          </a:p>
        </p:txBody>
      </p:sp>
    </p:spTree>
    <p:extLst>
      <p:ext uri="{BB962C8B-B14F-4D97-AF65-F5344CB8AC3E}">
        <p14:creationId xmlns:p14="http://schemas.microsoft.com/office/powerpoint/2010/main" val="16839179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9ED2E6-6C0B-FA9E-5431-D846AED597B2}"/>
              </a:ext>
            </a:extLst>
          </p:cNvPr>
          <p:cNvSpPr>
            <a:spLocks noGrp="1"/>
          </p:cNvSpPr>
          <p:nvPr>
            <p:ph type="title"/>
          </p:nvPr>
        </p:nvSpPr>
        <p:spPr/>
        <p:txBody>
          <a:bodyPr/>
          <a:lstStyle/>
          <a:p>
            <a:r>
              <a:rPr lang="en-US" dirty="0"/>
              <a:t>Modern </a:t>
            </a:r>
            <a:r>
              <a:rPr lang="en-US" i="1" dirty="0" err="1"/>
              <a:t>conda</a:t>
            </a:r>
            <a:r>
              <a:rPr lang="en-US" dirty="0"/>
              <a:t> and </a:t>
            </a:r>
            <a:r>
              <a:rPr lang="en-US" i="1" dirty="0"/>
              <a:t>pip</a:t>
            </a:r>
            <a:r>
              <a:rPr lang="en-US" dirty="0"/>
              <a:t> work well together</a:t>
            </a:r>
          </a:p>
        </p:txBody>
      </p:sp>
      <p:sp>
        <p:nvSpPr>
          <p:cNvPr id="6" name="TextBox 5">
            <a:extLst>
              <a:ext uri="{FF2B5EF4-FFF2-40B4-BE49-F238E27FC236}">
                <a16:creationId xmlns:a16="http://schemas.microsoft.com/office/drawing/2014/main" id="{F2862FAC-576C-262C-9E1A-4989081E2A05}"/>
              </a:ext>
            </a:extLst>
          </p:cNvPr>
          <p:cNvSpPr txBox="1"/>
          <p:nvPr/>
        </p:nvSpPr>
        <p:spPr>
          <a:xfrm>
            <a:off x="8031665" y="1968560"/>
            <a:ext cx="3677115" cy="4524315"/>
          </a:xfrm>
          <a:prstGeom prst="rect">
            <a:avLst/>
          </a:prstGeom>
          <a:noFill/>
        </p:spPr>
        <p:txBody>
          <a:bodyPr wrap="square">
            <a:spAutoFit/>
          </a:bodyPr>
          <a:lstStyle/>
          <a:p>
            <a:r>
              <a:rPr lang="en-US" sz="2400" b="0" dirty="0">
                <a:solidFill>
                  <a:srgbClr val="E64100"/>
                </a:solidFill>
                <a:effectLst/>
                <a:latin typeface="Consolas" panose="020B0609020204030204" pitchFamily="49" charset="0"/>
              </a:rPr>
              <a:t>name</a:t>
            </a:r>
            <a:r>
              <a:rPr lang="en-US" sz="2400" b="1" dirty="0">
                <a:solidFill>
                  <a:srgbClr val="004D57"/>
                </a:solidFill>
                <a:effectLst/>
                <a:latin typeface="Consolas" panose="020B0609020204030204" pitchFamily="49" charset="0"/>
              </a:rPr>
              <a:t>:</a:t>
            </a:r>
            <a:r>
              <a:rPr lang="en-US" sz="2400" b="0" dirty="0">
                <a:solidFill>
                  <a:srgbClr val="005661"/>
                </a:solidFill>
                <a:effectLst/>
                <a:latin typeface="Consolas" panose="020B0609020204030204" pitchFamily="49" charset="0"/>
              </a:rPr>
              <a:t> </a:t>
            </a:r>
            <a:r>
              <a:rPr lang="en-US" sz="2400" b="0" dirty="0" err="1">
                <a:solidFill>
                  <a:srgbClr val="00B368"/>
                </a:solidFill>
                <a:effectLst/>
                <a:latin typeface="Consolas" panose="020B0609020204030204" pitchFamily="49" charset="0"/>
              </a:rPr>
              <a:t>adv_python</a:t>
            </a:r>
            <a:endParaRPr lang="en-US" sz="2400" b="0" dirty="0">
              <a:solidFill>
                <a:srgbClr val="005661"/>
              </a:solidFill>
              <a:effectLst/>
              <a:latin typeface="Consolas" panose="020B0609020204030204" pitchFamily="49" charset="0"/>
            </a:endParaRPr>
          </a:p>
          <a:p>
            <a:r>
              <a:rPr lang="en-US" sz="2400" b="0" dirty="0">
                <a:solidFill>
                  <a:srgbClr val="E64100"/>
                </a:solidFill>
                <a:effectLst/>
                <a:latin typeface="Consolas" panose="020B0609020204030204" pitchFamily="49" charset="0"/>
              </a:rPr>
              <a:t>channels</a:t>
            </a:r>
            <a:r>
              <a:rPr lang="en-US" sz="2400" b="1" dirty="0">
                <a:solidFill>
                  <a:srgbClr val="004D57"/>
                </a:solidFill>
                <a:effectLst/>
                <a:latin typeface="Consolas" panose="020B0609020204030204" pitchFamily="49" charset="0"/>
              </a:rPr>
              <a:t>:</a:t>
            </a:r>
            <a:endParaRPr lang="en-US" sz="2400" b="0" dirty="0">
              <a:solidFill>
                <a:srgbClr val="005661"/>
              </a:solidFill>
              <a:effectLst/>
              <a:latin typeface="Consolas" panose="020B0609020204030204" pitchFamily="49" charset="0"/>
            </a:endParaRPr>
          </a:p>
          <a:p>
            <a:r>
              <a:rPr lang="en-US" sz="2400" b="0" dirty="0">
                <a:solidFill>
                  <a:srgbClr val="005661"/>
                </a:solidFill>
                <a:effectLst/>
                <a:latin typeface="Consolas" panose="020B0609020204030204" pitchFamily="49" charset="0"/>
              </a:rPr>
              <a:t>  </a:t>
            </a:r>
            <a:r>
              <a:rPr lang="en-US" sz="2400" b="0" dirty="0">
                <a:solidFill>
                  <a:srgbClr val="004D57"/>
                </a:solidFill>
                <a:effectLst/>
                <a:latin typeface="Consolas" panose="020B0609020204030204" pitchFamily="49" charset="0"/>
              </a:rPr>
              <a:t>-</a:t>
            </a:r>
            <a:r>
              <a:rPr lang="en-US" sz="2400" b="0" dirty="0">
                <a:solidFill>
                  <a:srgbClr val="005661"/>
                </a:solidFill>
                <a:effectLst/>
                <a:latin typeface="Consolas" panose="020B0609020204030204" pitchFamily="49" charset="0"/>
              </a:rPr>
              <a:t> </a:t>
            </a:r>
            <a:r>
              <a:rPr lang="en-US" sz="2400" b="0" dirty="0" err="1">
                <a:solidFill>
                  <a:srgbClr val="00B368"/>
                </a:solidFill>
                <a:effectLst/>
                <a:latin typeface="Consolas" panose="020B0609020204030204" pitchFamily="49" charset="0"/>
              </a:rPr>
              <a:t>conda</a:t>
            </a:r>
            <a:r>
              <a:rPr lang="en-US" sz="2400" b="0" dirty="0">
                <a:solidFill>
                  <a:srgbClr val="00B368"/>
                </a:solidFill>
                <a:effectLst/>
                <a:latin typeface="Consolas" panose="020B0609020204030204" pitchFamily="49" charset="0"/>
              </a:rPr>
              <a:t>-forge</a:t>
            </a:r>
            <a:endParaRPr lang="en-US" sz="2400" b="0" dirty="0">
              <a:solidFill>
                <a:srgbClr val="005661"/>
              </a:solidFill>
              <a:effectLst/>
              <a:latin typeface="Consolas" panose="020B0609020204030204" pitchFamily="49" charset="0"/>
            </a:endParaRPr>
          </a:p>
          <a:p>
            <a:r>
              <a:rPr lang="en-US" sz="2400" b="0" dirty="0">
                <a:solidFill>
                  <a:srgbClr val="E64100"/>
                </a:solidFill>
                <a:effectLst/>
                <a:latin typeface="Consolas" panose="020B0609020204030204" pitchFamily="49" charset="0"/>
              </a:rPr>
              <a:t>dependencies</a:t>
            </a:r>
            <a:r>
              <a:rPr lang="en-US" sz="2400" b="1" dirty="0">
                <a:solidFill>
                  <a:srgbClr val="004D57"/>
                </a:solidFill>
                <a:effectLst/>
                <a:latin typeface="Consolas" panose="020B0609020204030204" pitchFamily="49" charset="0"/>
              </a:rPr>
              <a:t>:</a:t>
            </a:r>
            <a:endParaRPr lang="en-US" sz="2400" b="0" dirty="0">
              <a:solidFill>
                <a:srgbClr val="005661"/>
              </a:solidFill>
              <a:effectLst/>
              <a:latin typeface="Consolas" panose="020B0609020204030204" pitchFamily="49" charset="0"/>
            </a:endParaRPr>
          </a:p>
          <a:p>
            <a:r>
              <a:rPr lang="en-US" sz="2400" b="0" dirty="0">
                <a:solidFill>
                  <a:srgbClr val="005661"/>
                </a:solidFill>
                <a:effectLst/>
                <a:latin typeface="Consolas" panose="020B0609020204030204" pitchFamily="49" charset="0"/>
              </a:rPr>
              <a:t>  </a:t>
            </a:r>
            <a:r>
              <a:rPr lang="en-US" sz="2400" b="0" dirty="0">
                <a:solidFill>
                  <a:srgbClr val="004D57"/>
                </a:solidFill>
                <a:effectLst/>
                <a:latin typeface="Consolas" panose="020B0609020204030204" pitchFamily="49" charset="0"/>
              </a:rPr>
              <a:t>-</a:t>
            </a:r>
            <a:r>
              <a:rPr lang="en-US" sz="2400" b="0" dirty="0">
                <a:solidFill>
                  <a:srgbClr val="005661"/>
                </a:solidFill>
                <a:effectLst/>
                <a:latin typeface="Consolas" panose="020B0609020204030204" pitchFamily="49" charset="0"/>
              </a:rPr>
              <a:t> </a:t>
            </a:r>
            <a:r>
              <a:rPr lang="en-US" sz="2400" b="0" dirty="0">
                <a:solidFill>
                  <a:srgbClr val="00B368"/>
                </a:solidFill>
                <a:effectLst/>
                <a:latin typeface="Consolas" panose="020B0609020204030204" pitchFamily="49" charset="0"/>
              </a:rPr>
              <a:t>python</a:t>
            </a:r>
            <a:endParaRPr lang="en-US" sz="2400" b="0" dirty="0">
              <a:solidFill>
                <a:srgbClr val="005661"/>
              </a:solidFill>
              <a:effectLst/>
              <a:latin typeface="Consolas" panose="020B0609020204030204" pitchFamily="49" charset="0"/>
            </a:endParaRPr>
          </a:p>
          <a:p>
            <a:r>
              <a:rPr lang="en-US" sz="2400" b="0" dirty="0">
                <a:solidFill>
                  <a:srgbClr val="005661"/>
                </a:solidFill>
                <a:effectLst/>
                <a:latin typeface="Consolas" panose="020B0609020204030204" pitchFamily="49" charset="0"/>
              </a:rPr>
              <a:t>  </a:t>
            </a:r>
            <a:r>
              <a:rPr lang="en-US" sz="2400" b="0" dirty="0">
                <a:solidFill>
                  <a:srgbClr val="004D57"/>
                </a:solidFill>
                <a:effectLst/>
                <a:latin typeface="Consolas" panose="020B0609020204030204" pitchFamily="49" charset="0"/>
              </a:rPr>
              <a:t>-</a:t>
            </a:r>
            <a:r>
              <a:rPr lang="en-US" sz="2400" b="0" dirty="0">
                <a:solidFill>
                  <a:srgbClr val="005661"/>
                </a:solidFill>
                <a:effectLst/>
                <a:latin typeface="Consolas" panose="020B0609020204030204" pitchFamily="49" charset="0"/>
              </a:rPr>
              <a:t> </a:t>
            </a:r>
            <a:r>
              <a:rPr lang="en-US" sz="2400" b="0" dirty="0">
                <a:solidFill>
                  <a:srgbClr val="00B368"/>
                </a:solidFill>
                <a:effectLst/>
                <a:latin typeface="Consolas" panose="020B0609020204030204" pitchFamily="49" charset="0"/>
              </a:rPr>
              <a:t>pandas</a:t>
            </a:r>
            <a:endParaRPr lang="en-US" sz="2400" b="0" dirty="0">
              <a:solidFill>
                <a:srgbClr val="005661"/>
              </a:solidFill>
              <a:effectLst/>
              <a:latin typeface="Consolas" panose="020B0609020204030204" pitchFamily="49" charset="0"/>
            </a:endParaRPr>
          </a:p>
          <a:p>
            <a:r>
              <a:rPr lang="en-US" sz="2400" b="0" dirty="0">
                <a:solidFill>
                  <a:srgbClr val="005661"/>
                </a:solidFill>
                <a:effectLst/>
                <a:latin typeface="Consolas" panose="020B0609020204030204" pitchFamily="49" charset="0"/>
              </a:rPr>
              <a:t>  </a:t>
            </a:r>
            <a:r>
              <a:rPr lang="en-US" sz="2400" b="0" dirty="0">
                <a:solidFill>
                  <a:srgbClr val="004D57"/>
                </a:solidFill>
                <a:effectLst/>
                <a:latin typeface="Consolas" panose="020B0609020204030204" pitchFamily="49" charset="0"/>
              </a:rPr>
              <a:t>-</a:t>
            </a:r>
            <a:r>
              <a:rPr lang="en-US" sz="2400" b="0" dirty="0">
                <a:solidFill>
                  <a:srgbClr val="005661"/>
                </a:solidFill>
                <a:effectLst/>
                <a:latin typeface="Consolas" panose="020B0609020204030204" pitchFamily="49" charset="0"/>
              </a:rPr>
              <a:t> </a:t>
            </a:r>
            <a:r>
              <a:rPr lang="en-US" sz="2400" b="0" dirty="0" err="1">
                <a:solidFill>
                  <a:srgbClr val="00B368"/>
                </a:solidFill>
                <a:effectLst/>
                <a:latin typeface="Consolas" panose="020B0609020204030204" pitchFamily="49" charset="0"/>
              </a:rPr>
              <a:t>numpy</a:t>
            </a:r>
            <a:endParaRPr lang="en-US" sz="2400" b="0" dirty="0">
              <a:solidFill>
                <a:srgbClr val="005661"/>
              </a:solidFill>
              <a:effectLst/>
              <a:latin typeface="Consolas" panose="020B0609020204030204" pitchFamily="49" charset="0"/>
            </a:endParaRPr>
          </a:p>
          <a:p>
            <a:r>
              <a:rPr lang="en-US" sz="2400" b="0" dirty="0">
                <a:solidFill>
                  <a:srgbClr val="005661"/>
                </a:solidFill>
                <a:effectLst/>
                <a:latin typeface="Consolas" panose="020B0609020204030204" pitchFamily="49" charset="0"/>
              </a:rPr>
              <a:t>  </a:t>
            </a:r>
            <a:r>
              <a:rPr lang="en-US" sz="2400" b="0" dirty="0">
                <a:solidFill>
                  <a:srgbClr val="004D57"/>
                </a:solidFill>
                <a:effectLst/>
                <a:latin typeface="Consolas" panose="020B0609020204030204" pitchFamily="49" charset="0"/>
              </a:rPr>
              <a:t>-</a:t>
            </a:r>
            <a:r>
              <a:rPr lang="en-US" sz="2400" b="0" dirty="0">
                <a:solidFill>
                  <a:srgbClr val="005661"/>
                </a:solidFill>
                <a:effectLst/>
                <a:latin typeface="Consolas" panose="020B0609020204030204" pitchFamily="49" charset="0"/>
              </a:rPr>
              <a:t> </a:t>
            </a:r>
            <a:r>
              <a:rPr lang="en-US" sz="2400" b="0" dirty="0">
                <a:solidFill>
                  <a:srgbClr val="00B368"/>
                </a:solidFill>
                <a:effectLst/>
                <a:latin typeface="Consolas" panose="020B0609020204030204" pitchFamily="49" charset="0"/>
              </a:rPr>
              <a:t>pip</a:t>
            </a:r>
            <a:endParaRPr lang="en-US" sz="2400" b="0" dirty="0">
              <a:solidFill>
                <a:srgbClr val="005661"/>
              </a:solidFill>
              <a:effectLst/>
              <a:latin typeface="Consolas" panose="020B0609020204030204" pitchFamily="49" charset="0"/>
            </a:endParaRPr>
          </a:p>
          <a:p>
            <a:r>
              <a:rPr lang="en-US" sz="2400" b="0" dirty="0">
                <a:solidFill>
                  <a:srgbClr val="005661"/>
                </a:solidFill>
                <a:effectLst/>
                <a:latin typeface="Consolas" panose="020B0609020204030204" pitchFamily="49" charset="0"/>
              </a:rPr>
              <a:t>  </a:t>
            </a:r>
            <a:r>
              <a:rPr lang="en-US" sz="2400" b="0" dirty="0">
                <a:solidFill>
                  <a:srgbClr val="004D57"/>
                </a:solidFill>
                <a:effectLst/>
                <a:latin typeface="Consolas" panose="020B0609020204030204" pitchFamily="49" charset="0"/>
              </a:rPr>
              <a:t>-</a:t>
            </a:r>
            <a:r>
              <a:rPr lang="en-US" sz="2400" b="0" dirty="0">
                <a:solidFill>
                  <a:srgbClr val="005661"/>
                </a:solidFill>
                <a:effectLst/>
                <a:latin typeface="Consolas" panose="020B0609020204030204" pitchFamily="49" charset="0"/>
              </a:rPr>
              <a:t> </a:t>
            </a:r>
            <a:r>
              <a:rPr lang="en-US" sz="2400" b="0" dirty="0">
                <a:solidFill>
                  <a:srgbClr val="E64100"/>
                </a:solidFill>
                <a:effectLst/>
                <a:latin typeface="Consolas" panose="020B0609020204030204" pitchFamily="49" charset="0"/>
              </a:rPr>
              <a:t>pip</a:t>
            </a:r>
            <a:r>
              <a:rPr lang="en-US" sz="2400" b="1" dirty="0">
                <a:solidFill>
                  <a:srgbClr val="004D57"/>
                </a:solidFill>
                <a:effectLst/>
                <a:latin typeface="Consolas" panose="020B0609020204030204" pitchFamily="49" charset="0"/>
              </a:rPr>
              <a:t>:</a:t>
            </a:r>
            <a:endParaRPr lang="en-US" sz="2400" b="0" dirty="0">
              <a:solidFill>
                <a:srgbClr val="005661"/>
              </a:solidFill>
              <a:effectLst/>
              <a:latin typeface="Consolas" panose="020B0609020204030204" pitchFamily="49" charset="0"/>
            </a:endParaRPr>
          </a:p>
          <a:p>
            <a:r>
              <a:rPr lang="en-US" sz="2400" b="0" dirty="0">
                <a:solidFill>
                  <a:srgbClr val="005661"/>
                </a:solidFill>
                <a:effectLst/>
                <a:latin typeface="Consolas" panose="020B0609020204030204" pitchFamily="49" charset="0"/>
              </a:rPr>
              <a:t>    </a:t>
            </a:r>
            <a:r>
              <a:rPr lang="en-US" sz="2400" b="0" dirty="0">
                <a:solidFill>
                  <a:srgbClr val="004D57"/>
                </a:solidFill>
                <a:effectLst/>
                <a:latin typeface="Consolas" panose="020B0609020204030204" pitchFamily="49" charset="0"/>
              </a:rPr>
              <a:t>-</a:t>
            </a:r>
            <a:r>
              <a:rPr lang="en-US" sz="2400" b="0" dirty="0">
                <a:solidFill>
                  <a:srgbClr val="005661"/>
                </a:solidFill>
                <a:effectLst/>
                <a:latin typeface="Consolas" panose="020B0609020204030204" pitchFamily="49" charset="0"/>
              </a:rPr>
              <a:t> </a:t>
            </a:r>
            <a:r>
              <a:rPr lang="en-US" sz="2400" b="0" dirty="0" err="1">
                <a:solidFill>
                  <a:srgbClr val="00B368"/>
                </a:solidFill>
                <a:effectLst/>
                <a:latin typeface="Consolas" panose="020B0609020204030204" pitchFamily="49" charset="0"/>
              </a:rPr>
              <a:t>pytorch</a:t>
            </a:r>
            <a:endParaRPr lang="en-US" sz="2400" b="0" dirty="0">
              <a:solidFill>
                <a:srgbClr val="005661"/>
              </a:solidFill>
              <a:effectLst/>
              <a:latin typeface="Consolas" panose="020B0609020204030204" pitchFamily="49" charset="0"/>
            </a:endParaRPr>
          </a:p>
          <a:p>
            <a:r>
              <a:rPr lang="en-US" sz="2400" b="0" dirty="0">
                <a:solidFill>
                  <a:srgbClr val="005661"/>
                </a:solidFill>
                <a:effectLst/>
                <a:latin typeface="Consolas" panose="020B0609020204030204" pitchFamily="49" charset="0"/>
              </a:rPr>
              <a:t>    </a:t>
            </a:r>
            <a:r>
              <a:rPr lang="en-US" sz="2400" b="0" dirty="0">
                <a:solidFill>
                  <a:srgbClr val="004D57"/>
                </a:solidFill>
                <a:effectLst/>
                <a:latin typeface="Consolas" panose="020B0609020204030204" pitchFamily="49" charset="0"/>
              </a:rPr>
              <a:t>-</a:t>
            </a:r>
            <a:r>
              <a:rPr lang="en-US" sz="2400" b="0" dirty="0">
                <a:solidFill>
                  <a:srgbClr val="005661"/>
                </a:solidFill>
                <a:effectLst/>
                <a:latin typeface="Consolas" panose="020B0609020204030204" pitchFamily="49" charset="0"/>
              </a:rPr>
              <a:t> </a:t>
            </a:r>
            <a:r>
              <a:rPr lang="en-US" sz="2400" b="0" dirty="0">
                <a:solidFill>
                  <a:srgbClr val="00B368"/>
                </a:solidFill>
                <a:effectLst/>
                <a:latin typeface="Consolas" panose="020B0609020204030204" pitchFamily="49" charset="0"/>
              </a:rPr>
              <a:t>flask</a:t>
            </a:r>
            <a:endParaRPr lang="en-US" sz="2400" b="0" dirty="0">
              <a:solidFill>
                <a:srgbClr val="005661"/>
              </a:solidFill>
              <a:effectLst/>
              <a:latin typeface="Consolas" panose="020B0609020204030204" pitchFamily="49" charset="0"/>
            </a:endParaRPr>
          </a:p>
          <a:p>
            <a:endParaRPr lang="en-US" sz="2400" b="0" dirty="0">
              <a:solidFill>
                <a:srgbClr val="005661"/>
              </a:solidFill>
              <a:effectLst/>
              <a:latin typeface="Consolas" panose="020B0609020204030204" pitchFamily="49" charset="0"/>
            </a:endParaRPr>
          </a:p>
        </p:txBody>
      </p:sp>
      <p:sp>
        <p:nvSpPr>
          <p:cNvPr id="7" name="TextBox 6">
            <a:extLst>
              <a:ext uri="{FF2B5EF4-FFF2-40B4-BE49-F238E27FC236}">
                <a16:creationId xmlns:a16="http://schemas.microsoft.com/office/drawing/2014/main" id="{7DC87717-0061-AE69-A0F1-3F3ED1FC3CDB}"/>
              </a:ext>
            </a:extLst>
          </p:cNvPr>
          <p:cNvSpPr txBox="1"/>
          <p:nvPr/>
        </p:nvSpPr>
        <p:spPr>
          <a:xfrm>
            <a:off x="8031665" y="1629509"/>
            <a:ext cx="1957587" cy="369332"/>
          </a:xfrm>
          <a:prstGeom prst="rect">
            <a:avLst/>
          </a:prstGeom>
          <a:noFill/>
        </p:spPr>
        <p:txBody>
          <a:bodyPr wrap="none" rtlCol="0">
            <a:spAutoFit/>
          </a:bodyPr>
          <a:lstStyle/>
          <a:p>
            <a:r>
              <a:rPr lang="en-US" dirty="0" err="1">
                <a:solidFill>
                  <a:srgbClr val="236356"/>
                </a:solidFill>
                <a:latin typeface="Consolas" panose="020B0609020204030204" pitchFamily="49" charset="0"/>
              </a:rPr>
              <a:t>adv_python.yml</a:t>
            </a:r>
            <a:endParaRPr lang="en-US" dirty="0">
              <a:solidFill>
                <a:srgbClr val="236356"/>
              </a:solidFill>
              <a:latin typeface="Consolas" panose="020B0609020204030204" pitchFamily="49" charset="0"/>
            </a:endParaRPr>
          </a:p>
        </p:txBody>
      </p:sp>
      <p:sp>
        <p:nvSpPr>
          <p:cNvPr id="9" name="TextBox 8">
            <a:extLst>
              <a:ext uri="{FF2B5EF4-FFF2-40B4-BE49-F238E27FC236}">
                <a16:creationId xmlns:a16="http://schemas.microsoft.com/office/drawing/2014/main" id="{EB4D3221-44A3-0228-6A31-7E8CF4E6E3DA}"/>
              </a:ext>
            </a:extLst>
          </p:cNvPr>
          <p:cNvSpPr txBox="1"/>
          <p:nvPr/>
        </p:nvSpPr>
        <p:spPr>
          <a:xfrm>
            <a:off x="838200" y="2489656"/>
            <a:ext cx="6542049" cy="2677656"/>
          </a:xfrm>
          <a:prstGeom prst="rect">
            <a:avLst/>
          </a:prstGeom>
          <a:noFill/>
        </p:spPr>
        <p:txBody>
          <a:bodyPr wrap="square" rtlCol="0">
            <a:spAutoFit/>
          </a:bodyPr>
          <a:lstStyle/>
          <a:p>
            <a:r>
              <a:rPr lang="en-US" sz="2400" dirty="0">
                <a:solidFill>
                  <a:srgbClr val="236356"/>
                </a:solidFill>
                <a:latin typeface="Georgia" panose="02040502050405020303" pitchFamily="18" charset="0"/>
              </a:rPr>
              <a:t>Generate an environment </a:t>
            </a:r>
            <a:r>
              <a:rPr lang="en-US" sz="2400" dirty="0" err="1">
                <a:solidFill>
                  <a:srgbClr val="236356"/>
                </a:solidFill>
                <a:latin typeface="Georgia" panose="02040502050405020303" pitchFamily="18" charset="0"/>
              </a:rPr>
              <a:t>yaml</a:t>
            </a:r>
            <a:r>
              <a:rPr lang="en-US" sz="2400" dirty="0">
                <a:solidFill>
                  <a:srgbClr val="236356"/>
                </a:solidFill>
                <a:latin typeface="Georgia" panose="02040502050405020303" pitchFamily="18" charset="0"/>
              </a:rPr>
              <a:t> file</a:t>
            </a:r>
          </a:p>
          <a:p>
            <a:r>
              <a:rPr lang="fr-FR" sz="2400" b="0" dirty="0" err="1">
                <a:solidFill>
                  <a:srgbClr val="00BDD6"/>
                </a:solidFill>
                <a:effectLst/>
                <a:latin typeface="Consolas" panose="020B0609020204030204" pitchFamily="49" charset="0"/>
              </a:rPr>
              <a:t>conda</a:t>
            </a:r>
            <a:r>
              <a:rPr lang="fr-FR" sz="2400" b="0" dirty="0">
                <a:solidFill>
                  <a:srgbClr val="FA8900"/>
                </a:solidFill>
                <a:effectLst/>
                <a:latin typeface="Consolas" panose="020B0609020204030204" pitchFamily="49" charset="0"/>
              </a:rPr>
              <a:t> </a:t>
            </a:r>
            <a:r>
              <a:rPr lang="fr-FR" sz="2400" b="0" dirty="0" err="1">
                <a:solidFill>
                  <a:srgbClr val="00B368"/>
                </a:solidFill>
                <a:effectLst/>
                <a:latin typeface="Consolas" panose="020B0609020204030204" pitchFamily="49" charset="0"/>
              </a:rPr>
              <a:t>env</a:t>
            </a:r>
            <a:r>
              <a:rPr lang="fr-FR" sz="2400" b="0" dirty="0">
                <a:solidFill>
                  <a:srgbClr val="FA8900"/>
                </a:solidFill>
                <a:effectLst/>
                <a:latin typeface="Consolas" panose="020B0609020204030204" pitchFamily="49" charset="0"/>
              </a:rPr>
              <a:t> </a:t>
            </a:r>
            <a:r>
              <a:rPr lang="fr-FR" sz="2400" b="0" dirty="0">
                <a:solidFill>
                  <a:srgbClr val="00B368"/>
                </a:solidFill>
                <a:effectLst/>
                <a:latin typeface="Consolas" panose="020B0609020204030204" pitchFamily="49" charset="0"/>
              </a:rPr>
              <a:t>export</a:t>
            </a:r>
            <a:r>
              <a:rPr lang="fr-FR" sz="2400" b="0" dirty="0">
                <a:solidFill>
                  <a:srgbClr val="FA8900"/>
                </a:solidFill>
                <a:effectLst/>
                <a:latin typeface="Consolas" panose="020B0609020204030204" pitchFamily="49" charset="0"/>
              </a:rPr>
              <a:t> </a:t>
            </a:r>
            <a:r>
              <a:rPr lang="fr-FR" sz="2400" b="1" dirty="0">
                <a:solidFill>
                  <a:srgbClr val="FF5792"/>
                </a:solidFill>
                <a:effectLst/>
                <a:latin typeface="Consolas" panose="020B0609020204030204" pitchFamily="49" charset="0"/>
              </a:rPr>
              <a:t>&gt;</a:t>
            </a:r>
            <a:r>
              <a:rPr lang="fr-FR" sz="2400" b="0" dirty="0">
                <a:solidFill>
                  <a:srgbClr val="FA8900"/>
                </a:solidFill>
                <a:effectLst/>
                <a:latin typeface="Consolas" panose="020B0609020204030204" pitchFamily="49" charset="0"/>
              </a:rPr>
              <a:t> </a:t>
            </a:r>
            <a:r>
              <a:rPr lang="fr-FR" sz="2400" b="0" dirty="0" err="1">
                <a:solidFill>
                  <a:srgbClr val="00B368"/>
                </a:solidFill>
                <a:effectLst/>
                <a:latin typeface="Consolas" panose="020B0609020204030204" pitchFamily="49" charset="0"/>
              </a:rPr>
              <a:t>adv_python.yml</a:t>
            </a:r>
            <a:endParaRPr lang="fr-FR" sz="2400" b="0" dirty="0">
              <a:solidFill>
                <a:srgbClr val="005661"/>
              </a:solidFill>
              <a:effectLst/>
              <a:latin typeface="Consolas" panose="020B0609020204030204" pitchFamily="49" charset="0"/>
            </a:endParaRPr>
          </a:p>
          <a:p>
            <a:br>
              <a:rPr lang="en-US" sz="2400" b="0" dirty="0">
                <a:solidFill>
                  <a:srgbClr val="005661"/>
                </a:solidFill>
                <a:effectLst/>
                <a:latin typeface="Consolas" panose="020B0609020204030204" pitchFamily="49" charset="0"/>
              </a:rPr>
            </a:br>
            <a:endParaRPr lang="en-US" sz="2400" b="0" dirty="0">
              <a:solidFill>
                <a:srgbClr val="005661"/>
              </a:solidFill>
              <a:effectLst/>
              <a:latin typeface="Consolas" panose="020B0609020204030204" pitchFamily="49" charset="0"/>
            </a:endParaRPr>
          </a:p>
          <a:p>
            <a:r>
              <a:rPr lang="en-US" sz="2400" dirty="0">
                <a:solidFill>
                  <a:srgbClr val="236356"/>
                </a:solidFill>
                <a:latin typeface="Georgia" panose="02040502050405020303" pitchFamily="18" charset="0"/>
              </a:rPr>
              <a:t>Create an environment based on the </a:t>
            </a:r>
            <a:r>
              <a:rPr lang="en-US" sz="2400" dirty="0" err="1">
                <a:solidFill>
                  <a:srgbClr val="236356"/>
                </a:solidFill>
                <a:latin typeface="Georgia" panose="02040502050405020303" pitchFamily="18" charset="0"/>
              </a:rPr>
              <a:t>yaml</a:t>
            </a:r>
            <a:r>
              <a:rPr lang="en-US" sz="2400" dirty="0">
                <a:solidFill>
                  <a:srgbClr val="236356"/>
                </a:solidFill>
                <a:latin typeface="Georgia" panose="02040502050405020303" pitchFamily="18" charset="0"/>
              </a:rPr>
              <a:t> file</a:t>
            </a:r>
          </a:p>
          <a:p>
            <a:r>
              <a:rPr lang="en-US" sz="2400" b="0" dirty="0" err="1">
                <a:solidFill>
                  <a:srgbClr val="00BDD6"/>
                </a:solidFill>
                <a:effectLst/>
                <a:latin typeface="Consolas" panose="020B0609020204030204" pitchFamily="49" charset="0"/>
              </a:rPr>
              <a:t>conda</a:t>
            </a:r>
            <a:r>
              <a:rPr lang="en-US" sz="2400" b="0" dirty="0">
                <a:solidFill>
                  <a:srgbClr val="FA8900"/>
                </a:solidFill>
                <a:effectLst/>
                <a:latin typeface="Consolas" panose="020B0609020204030204" pitchFamily="49" charset="0"/>
              </a:rPr>
              <a:t> </a:t>
            </a:r>
            <a:r>
              <a:rPr lang="en-US" sz="2400" b="0" dirty="0">
                <a:solidFill>
                  <a:srgbClr val="00B368"/>
                </a:solidFill>
                <a:effectLst/>
                <a:latin typeface="Consolas" panose="020B0609020204030204" pitchFamily="49" charset="0"/>
              </a:rPr>
              <a:t>env</a:t>
            </a:r>
            <a:r>
              <a:rPr lang="en-US" sz="2400" b="0" dirty="0">
                <a:solidFill>
                  <a:srgbClr val="FA8900"/>
                </a:solidFill>
                <a:effectLst/>
                <a:latin typeface="Consolas" panose="020B0609020204030204" pitchFamily="49" charset="0"/>
              </a:rPr>
              <a:t> </a:t>
            </a:r>
            <a:r>
              <a:rPr lang="en-US" sz="2400" b="0" dirty="0">
                <a:solidFill>
                  <a:srgbClr val="00B368"/>
                </a:solidFill>
                <a:effectLst/>
                <a:latin typeface="Consolas" panose="020B0609020204030204" pitchFamily="49" charset="0"/>
              </a:rPr>
              <a:t>create</a:t>
            </a:r>
            <a:r>
              <a:rPr lang="en-US" sz="2400" b="0" dirty="0">
                <a:solidFill>
                  <a:srgbClr val="FA8900"/>
                </a:solidFill>
                <a:effectLst/>
                <a:latin typeface="Consolas" panose="020B0609020204030204" pitchFamily="49" charset="0"/>
              </a:rPr>
              <a:t> </a:t>
            </a:r>
            <a:r>
              <a:rPr lang="en-US" sz="2400" b="0" dirty="0">
                <a:solidFill>
                  <a:srgbClr val="A88C00"/>
                </a:solidFill>
                <a:effectLst/>
                <a:latin typeface="Consolas" panose="020B0609020204030204" pitchFamily="49" charset="0"/>
              </a:rPr>
              <a:t>-f</a:t>
            </a:r>
            <a:r>
              <a:rPr lang="en-US" sz="2400" b="0" dirty="0">
                <a:solidFill>
                  <a:srgbClr val="FA8900"/>
                </a:solidFill>
                <a:effectLst/>
                <a:latin typeface="Consolas" panose="020B0609020204030204" pitchFamily="49" charset="0"/>
              </a:rPr>
              <a:t> </a:t>
            </a:r>
            <a:r>
              <a:rPr lang="en-US" sz="2400" b="0" dirty="0" err="1">
                <a:solidFill>
                  <a:srgbClr val="00B368"/>
                </a:solidFill>
                <a:effectLst/>
                <a:latin typeface="Consolas" panose="020B0609020204030204" pitchFamily="49" charset="0"/>
              </a:rPr>
              <a:t>adv_python.yml</a:t>
            </a:r>
            <a:endParaRPr lang="en-US" sz="2400" b="0" dirty="0">
              <a:solidFill>
                <a:srgbClr val="005661"/>
              </a:solidFill>
              <a:effectLst/>
              <a:latin typeface="Consolas" panose="020B0609020204030204" pitchFamily="49" charset="0"/>
            </a:endParaRPr>
          </a:p>
          <a:p>
            <a:endParaRPr lang="en-US" sz="2400" b="0" dirty="0">
              <a:solidFill>
                <a:srgbClr val="005661"/>
              </a:solidFill>
              <a:effectLst/>
              <a:latin typeface="Consolas" panose="020B0609020204030204" pitchFamily="49" charset="0"/>
            </a:endParaRPr>
          </a:p>
        </p:txBody>
      </p:sp>
      <p:sp>
        <p:nvSpPr>
          <p:cNvPr id="3" name="TextBox 2">
            <a:extLst>
              <a:ext uri="{FF2B5EF4-FFF2-40B4-BE49-F238E27FC236}">
                <a16:creationId xmlns:a16="http://schemas.microsoft.com/office/drawing/2014/main" id="{433C1AB2-FEAC-D2BB-27DD-02F57BDFE3B9}"/>
              </a:ext>
            </a:extLst>
          </p:cNvPr>
          <p:cNvSpPr txBox="1"/>
          <p:nvPr/>
        </p:nvSpPr>
        <p:spPr>
          <a:xfrm>
            <a:off x="5557962" y="5303521"/>
            <a:ext cx="2274073" cy="923330"/>
          </a:xfrm>
          <a:prstGeom prst="rect">
            <a:avLst/>
          </a:prstGeom>
          <a:noFill/>
        </p:spPr>
        <p:txBody>
          <a:bodyPr wrap="square" rtlCol="0">
            <a:spAutoFit/>
          </a:bodyPr>
          <a:lstStyle/>
          <a:p>
            <a:r>
              <a:rPr lang="en-US" dirty="0">
                <a:solidFill>
                  <a:srgbClr val="236356"/>
                </a:solidFill>
                <a:latin typeface="Georgia" panose="02040502050405020303" pitchFamily="18" charset="0"/>
              </a:rPr>
              <a:t>Notice that you can have </a:t>
            </a:r>
            <a:r>
              <a:rPr lang="en-US" i="1" dirty="0" err="1">
                <a:solidFill>
                  <a:srgbClr val="236356"/>
                </a:solidFill>
                <a:latin typeface="Georgia" panose="02040502050405020303" pitchFamily="18" charset="0"/>
              </a:rPr>
              <a:t>conda</a:t>
            </a:r>
            <a:r>
              <a:rPr lang="en-US" dirty="0">
                <a:solidFill>
                  <a:srgbClr val="236356"/>
                </a:solidFill>
                <a:latin typeface="Georgia" panose="02040502050405020303" pitchFamily="18" charset="0"/>
              </a:rPr>
              <a:t> manage pip dependencies</a:t>
            </a:r>
          </a:p>
        </p:txBody>
      </p:sp>
      <p:sp>
        <p:nvSpPr>
          <p:cNvPr id="4" name="Arrow: Right 3">
            <a:extLst>
              <a:ext uri="{FF2B5EF4-FFF2-40B4-BE49-F238E27FC236}">
                <a16:creationId xmlns:a16="http://schemas.microsoft.com/office/drawing/2014/main" id="{06D14B3F-DB1F-8DBE-0211-81BCA60FC7A2}"/>
              </a:ext>
            </a:extLst>
          </p:cNvPr>
          <p:cNvSpPr/>
          <p:nvPr/>
        </p:nvSpPr>
        <p:spPr>
          <a:xfrm rot="20386822">
            <a:off x="7869850" y="5167312"/>
            <a:ext cx="428523" cy="295234"/>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2047394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3A5BB-0C31-13EB-868C-375443A8D6CB}"/>
              </a:ext>
            </a:extLst>
          </p:cNvPr>
          <p:cNvSpPr>
            <a:spLocks noGrp="1"/>
          </p:cNvSpPr>
          <p:nvPr>
            <p:ph type="title"/>
          </p:nvPr>
        </p:nvSpPr>
        <p:spPr/>
        <p:txBody>
          <a:bodyPr>
            <a:normAutofit/>
          </a:bodyPr>
          <a:lstStyle/>
          <a:p>
            <a:r>
              <a:rPr lang="en-US" i="1" dirty="0" err="1"/>
              <a:t>conda</a:t>
            </a:r>
            <a:r>
              <a:rPr lang="en-US" i="1" dirty="0"/>
              <a:t> </a:t>
            </a:r>
            <a:r>
              <a:rPr lang="en-US" dirty="0"/>
              <a:t>is better at non-python dependency management</a:t>
            </a:r>
          </a:p>
        </p:txBody>
      </p:sp>
      <p:sp>
        <p:nvSpPr>
          <p:cNvPr id="4" name="TextBox 3">
            <a:extLst>
              <a:ext uri="{FF2B5EF4-FFF2-40B4-BE49-F238E27FC236}">
                <a16:creationId xmlns:a16="http://schemas.microsoft.com/office/drawing/2014/main" id="{79D090AE-E97F-A7B0-EB0A-A290504AB363}"/>
              </a:ext>
            </a:extLst>
          </p:cNvPr>
          <p:cNvSpPr txBox="1"/>
          <p:nvPr/>
        </p:nvSpPr>
        <p:spPr>
          <a:xfrm>
            <a:off x="838199" y="1883366"/>
            <a:ext cx="10315353" cy="646331"/>
          </a:xfrm>
          <a:prstGeom prst="rect">
            <a:avLst/>
          </a:prstGeom>
          <a:noFill/>
        </p:spPr>
        <p:txBody>
          <a:bodyPr wrap="square">
            <a:spAutoFit/>
          </a:bodyPr>
          <a:lstStyle/>
          <a:p>
            <a:br>
              <a:rPr lang="en-US" dirty="0">
                <a:solidFill>
                  <a:srgbClr val="94573F"/>
                </a:solidFill>
                <a:latin typeface="Georgia" panose="02040502050405020303" pitchFamily="18" charset="0"/>
              </a:rPr>
            </a:br>
            <a:r>
              <a:rPr lang="en-US" sz="1800" b="0" dirty="0" err="1">
                <a:solidFill>
                  <a:srgbClr val="00BDD6"/>
                </a:solidFill>
                <a:effectLst/>
                <a:latin typeface="Consolas" panose="020B0609020204030204" pitchFamily="49" charset="0"/>
              </a:rPr>
              <a:t>conda</a:t>
            </a:r>
            <a:r>
              <a:rPr lang="en-US" sz="1800" b="0" dirty="0">
                <a:solidFill>
                  <a:srgbClr val="00BDD6"/>
                </a:solidFill>
                <a:effectLst/>
                <a:latin typeface="Consolas" panose="020B0609020204030204" pitchFamily="49" charset="0"/>
              </a:rPr>
              <a:t>/</a:t>
            </a:r>
            <a:r>
              <a:rPr lang="en-US" dirty="0">
                <a:solidFill>
                  <a:srgbClr val="00BDD6"/>
                </a:solidFill>
                <a:latin typeface="Consolas" panose="020B0609020204030204" pitchFamily="49" charset="0"/>
              </a:rPr>
              <a:t>pip</a:t>
            </a:r>
            <a:r>
              <a:rPr lang="en-US" sz="1800" b="0" dirty="0">
                <a:solidFill>
                  <a:srgbClr val="FA8900"/>
                </a:solidFill>
                <a:effectLst/>
                <a:latin typeface="Consolas" panose="020B0609020204030204" pitchFamily="49" charset="0"/>
              </a:rPr>
              <a:t> </a:t>
            </a:r>
            <a:r>
              <a:rPr lang="en-US" sz="1800" b="0" dirty="0">
                <a:solidFill>
                  <a:srgbClr val="00B368"/>
                </a:solidFill>
                <a:effectLst/>
                <a:latin typeface="Consolas" panose="020B0609020204030204" pitchFamily="49" charset="0"/>
              </a:rPr>
              <a:t>install</a:t>
            </a:r>
            <a:r>
              <a:rPr lang="en-US" sz="1800" b="0" dirty="0">
                <a:solidFill>
                  <a:srgbClr val="FA8900"/>
                </a:solidFill>
                <a:effectLst/>
                <a:latin typeface="Consolas" panose="020B0609020204030204" pitchFamily="49" charset="0"/>
              </a:rPr>
              <a:t> </a:t>
            </a:r>
            <a:r>
              <a:rPr lang="en-US" sz="1800" b="0" dirty="0" err="1">
                <a:solidFill>
                  <a:srgbClr val="00B368"/>
                </a:solidFill>
                <a:effectLst/>
                <a:latin typeface="Consolas" panose="020B0609020204030204" pitchFamily="49" charset="0"/>
              </a:rPr>
              <a:t>numpy</a:t>
            </a:r>
            <a:r>
              <a:rPr lang="en-US" sz="1800" b="0" dirty="0">
                <a:solidFill>
                  <a:srgbClr val="00BDD6"/>
                </a:solidFill>
                <a:effectLst/>
                <a:latin typeface="Consolas" panose="020B0609020204030204" pitchFamily="49" charset="0"/>
              </a:rPr>
              <a:t> </a:t>
            </a:r>
            <a:r>
              <a:rPr lang="en-US" dirty="0">
                <a:solidFill>
                  <a:srgbClr val="94573F"/>
                </a:solidFill>
                <a:latin typeface="Georgia" panose="02040502050405020303" pitchFamily="18" charset="0"/>
              </a:rPr>
              <a:t>result in the following package installations</a:t>
            </a:r>
          </a:p>
        </p:txBody>
      </p:sp>
      <p:sp>
        <p:nvSpPr>
          <p:cNvPr id="6" name="TextBox 5">
            <a:extLst>
              <a:ext uri="{FF2B5EF4-FFF2-40B4-BE49-F238E27FC236}">
                <a16:creationId xmlns:a16="http://schemas.microsoft.com/office/drawing/2014/main" id="{3199A7A6-F8CE-9CA1-C9F3-CCCF961A3481}"/>
              </a:ext>
            </a:extLst>
          </p:cNvPr>
          <p:cNvSpPr txBox="1"/>
          <p:nvPr/>
        </p:nvSpPr>
        <p:spPr>
          <a:xfrm>
            <a:off x="838200" y="2999374"/>
            <a:ext cx="7869865" cy="2462213"/>
          </a:xfrm>
          <a:prstGeom prst="rect">
            <a:avLst/>
          </a:prstGeom>
          <a:noFill/>
        </p:spPr>
        <p:txBody>
          <a:bodyPr wrap="square">
            <a:spAutoFit/>
          </a:bodyPr>
          <a:lstStyle/>
          <a:p>
            <a:r>
              <a:rPr lang="en-US" sz="1400" dirty="0">
                <a:latin typeface="Consolas" panose="020B0609020204030204" pitchFamily="49" charset="0"/>
              </a:rPr>
              <a:t>The following NEW packages will be INSTALLED:</a:t>
            </a:r>
          </a:p>
          <a:p>
            <a:endParaRPr lang="en-US" sz="1400" dirty="0">
              <a:latin typeface="Consolas" panose="020B0609020204030204" pitchFamily="49" charset="0"/>
            </a:endParaRPr>
          </a:p>
          <a:p>
            <a:r>
              <a:rPr lang="en-US" sz="1400" dirty="0">
                <a:latin typeface="Consolas" panose="020B0609020204030204" pitchFamily="49" charset="0"/>
              </a:rPr>
              <a:t>  </a:t>
            </a:r>
            <a:r>
              <a:rPr lang="en-US" sz="1400" dirty="0" err="1">
                <a:latin typeface="Consolas" panose="020B0609020204030204" pitchFamily="49" charset="0"/>
              </a:rPr>
              <a:t>blas</a:t>
            </a:r>
            <a:r>
              <a:rPr lang="en-US" sz="1400" dirty="0">
                <a:latin typeface="Consolas" panose="020B0609020204030204" pitchFamily="49" charset="0"/>
              </a:rPr>
              <a:t>               pkgs/main/win-64::blas-1.0-mkl</a:t>
            </a:r>
          </a:p>
          <a:p>
            <a:r>
              <a:rPr lang="en-US" sz="1400" dirty="0">
                <a:latin typeface="Consolas" panose="020B0609020204030204" pitchFamily="49" charset="0"/>
              </a:rPr>
              <a:t>  intel-</a:t>
            </a:r>
            <a:r>
              <a:rPr lang="en-US" sz="1400" dirty="0" err="1">
                <a:latin typeface="Consolas" panose="020B0609020204030204" pitchFamily="49" charset="0"/>
              </a:rPr>
              <a:t>openmp</a:t>
            </a:r>
            <a:r>
              <a:rPr lang="en-US" sz="1400" dirty="0">
                <a:latin typeface="Consolas" panose="020B0609020204030204" pitchFamily="49" charset="0"/>
              </a:rPr>
              <a:t>       pkgs/main/win-64::intel-openmp-2023.1.0-h59b6b97_46320</a:t>
            </a:r>
          </a:p>
          <a:p>
            <a:r>
              <a:rPr lang="en-US" sz="1400" dirty="0">
                <a:latin typeface="Consolas" panose="020B0609020204030204" pitchFamily="49" charset="0"/>
              </a:rPr>
              <a:t>  </a:t>
            </a:r>
            <a:r>
              <a:rPr lang="en-US" sz="1400" dirty="0" err="1">
                <a:latin typeface="Consolas" panose="020B0609020204030204" pitchFamily="49" charset="0"/>
              </a:rPr>
              <a:t>mkl</a:t>
            </a:r>
            <a:r>
              <a:rPr lang="en-US" sz="1400" dirty="0">
                <a:latin typeface="Consolas" panose="020B0609020204030204" pitchFamily="49" charset="0"/>
              </a:rPr>
              <a:t>                pkgs/main/win-64::mkl-2023.1.0-h6b88ed4_46358</a:t>
            </a:r>
          </a:p>
          <a:p>
            <a:r>
              <a:rPr lang="en-US" sz="1400" dirty="0">
                <a:latin typeface="Consolas" panose="020B0609020204030204" pitchFamily="49" charset="0"/>
              </a:rPr>
              <a:t>  </a:t>
            </a:r>
            <a:r>
              <a:rPr lang="en-US" sz="1400" dirty="0" err="1">
                <a:latin typeface="Consolas" panose="020B0609020204030204" pitchFamily="49" charset="0"/>
              </a:rPr>
              <a:t>mkl</a:t>
            </a:r>
            <a:r>
              <a:rPr lang="en-US" sz="1400" dirty="0">
                <a:latin typeface="Consolas" panose="020B0609020204030204" pitchFamily="49" charset="0"/>
              </a:rPr>
              <a:t>-service        pkgs/main/win-64::mkl-service-2.4.0-py310h2bbff1b_1</a:t>
            </a:r>
          </a:p>
          <a:p>
            <a:r>
              <a:rPr lang="en-US" sz="1400" dirty="0">
                <a:latin typeface="Consolas" panose="020B0609020204030204" pitchFamily="49" charset="0"/>
              </a:rPr>
              <a:t>  </a:t>
            </a:r>
            <a:r>
              <a:rPr lang="en-US" sz="1400" dirty="0" err="1">
                <a:latin typeface="Consolas" panose="020B0609020204030204" pitchFamily="49" charset="0"/>
              </a:rPr>
              <a:t>mkl_fft</a:t>
            </a:r>
            <a:r>
              <a:rPr lang="en-US" sz="1400" dirty="0">
                <a:latin typeface="Consolas" panose="020B0609020204030204" pitchFamily="49" charset="0"/>
              </a:rPr>
              <a:t>            pkgs/main/win-64::mkl_fft-1.3.8-py310h2bbff1b_0</a:t>
            </a:r>
          </a:p>
          <a:p>
            <a:r>
              <a:rPr lang="en-US" sz="1400" dirty="0">
                <a:latin typeface="Consolas" panose="020B0609020204030204" pitchFamily="49" charset="0"/>
              </a:rPr>
              <a:t>  </a:t>
            </a:r>
            <a:r>
              <a:rPr lang="en-US" sz="1400" dirty="0" err="1">
                <a:latin typeface="Consolas" panose="020B0609020204030204" pitchFamily="49" charset="0"/>
              </a:rPr>
              <a:t>mkl_random</a:t>
            </a:r>
            <a:r>
              <a:rPr lang="en-US" sz="1400" dirty="0">
                <a:latin typeface="Consolas" panose="020B0609020204030204" pitchFamily="49" charset="0"/>
              </a:rPr>
              <a:t>         pkgs/main/win-64::mkl_random-1.2.4-py310h59b6b97_0</a:t>
            </a:r>
          </a:p>
          <a:p>
            <a:r>
              <a:rPr lang="en-US" sz="1400" dirty="0">
                <a:latin typeface="Consolas" panose="020B0609020204030204" pitchFamily="49" charset="0"/>
              </a:rPr>
              <a:t>  </a:t>
            </a:r>
            <a:r>
              <a:rPr lang="en-US" sz="1400" dirty="0" err="1">
                <a:latin typeface="Consolas" panose="020B0609020204030204" pitchFamily="49" charset="0"/>
              </a:rPr>
              <a:t>numpy</a:t>
            </a:r>
            <a:r>
              <a:rPr lang="en-US" sz="1400" dirty="0">
                <a:latin typeface="Consolas" panose="020B0609020204030204" pitchFamily="49" charset="0"/>
              </a:rPr>
              <a:t>              pkgs/main/win-64::numpy-1.26.3-py310h055cbcc_0</a:t>
            </a:r>
          </a:p>
          <a:p>
            <a:r>
              <a:rPr lang="en-US" sz="1400" dirty="0">
                <a:latin typeface="Consolas" panose="020B0609020204030204" pitchFamily="49" charset="0"/>
              </a:rPr>
              <a:t>  </a:t>
            </a:r>
            <a:r>
              <a:rPr lang="en-US" sz="1400" dirty="0" err="1">
                <a:latin typeface="Consolas" panose="020B0609020204030204" pitchFamily="49" charset="0"/>
              </a:rPr>
              <a:t>numpy</a:t>
            </a:r>
            <a:r>
              <a:rPr lang="en-US" sz="1400" dirty="0">
                <a:latin typeface="Consolas" panose="020B0609020204030204" pitchFamily="49" charset="0"/>
              </a:rPr>
              <a:t>-base         pkgs/main/win-64::numpy-base-1.26.3-py310h65a83cf_0</a:t>
            </a:r>
          </a:p>
          <a:p>
            <a:r>
              <a:rPr lang="en-US" sz="1400" dirty="0">
                <a:latin typeface="Consolas" panose="020B0609020204030204" pitchFamily="49" charset="0"/>
              </a:rPr>
              <a:t>  </a:t>
            </a:r>
            <a:r>
              <a:rPr lang="en-US" sz="1400" dirty="0" err="1">
                <a:latin typeface="Consolas" panose="020B0609020204030204" pitchFamily="49" charset="0"/>
              </a:rPr>
              <a:t>tbb</a:t>
            </a:r>
            <a:r>
              <a:rPr lang="en-US" sz="1400" dirty="0">
                <a:latin typeface="Consolas" panose="020B0609020204030204" pitchFamily="49" charset="0"/>
              </a:rPr>
              <a:t>                pkgs/main/win-64::tbb-2021.8.0-h59b6b97_0</a:t>
            </a:r>
          </a:p>
        </p:txBody>
      </p:sp>
      <p:sp>
        <p:nvSpPr>
          <p:cNvPr id="8" name="TextBox 7">
            <a:extLst>
              <a:ext uri="{FF2B5EF4-FFF2-40B4-BE49-F238E27FC236}">
                <a16:creationId xmlns:a16="http://schemas.microsoft.com/office/drawing/2014/main" id="{39A96037-BD85-8AF5-C348-F6AE02924DC6}"/>
              </a:ext>
            </a:extLst>
          </p:cNvPr>
          <p:cNvSpPr txBox="1"/>
          <p:nvPr/>
        </p:nvSpPr>
        <p:spPr>
          <a:xfrm>
            <a:off x="1040219" y="5544641"/>
            <a:ext cx="10974572" cy="1169551"/>
          </a:xfrm>
          <a:prstGeom prst="rect">
            <a:avLst/>
          </a:prstGeom>
          <a:noFill/>
        </p:spPr>
        <p:txBody>
          <a:bodyPr wrap="square">
            <a:spAutoFit/>
          </a:bodyPr>
          <a:lstStyle/>
          <a:p>
            <a:r>
              <a:rPr lang="en-US" sz="1400" dirty="0">
                <a:latin typeface="Consolas" panose="020B0609020204030204" pitchFamily="49" charset="0"/>
              </a:rPr>
              <a:t>Collecting </a:t>
            </a:r>
            <a:r>
              <a:rPr lang="en-US" sz="1400" dirty="0" err="1">
                <a:latin typeface="Consolas" panose="020B0609020204030204" pitchFamily="49" charset="0"/>
              </a:rPr>
              <a:t>numpy</a:t>
            </a:r>
            <a:endParaRPr lang="en-US" sz="1400" dirty="0">
              <a:latin typeface="Consolas" panose="020B0609020204030204" pitchFamily="49" charset="0"/>
            </a:endParaRPr>
          </a:p>
          <a:p>
            <a:r>
              <a:rPr lang="en-US" sz="1400" dirty="0">
                <a:latin typeface="Consolas" panose="020B0609020204030204" pitchFamily="49" charset="0"/>
              </a:rPr>
              <a:t>Downloading numpy-1.26.4-cp310-cp310-win_amd64.whl (15.8 MB)</a:t>
            </a:r>
          </a:p>
          <a:p>
            <a:r>
              <a:rPr lang="en-US" sz="1400" dirty="0">
                <a:latin typeface="Consolas" panose="020B0609020204030204" pitchFamily="49" charset="0"/>
              </a:rPr>
              <a:t>   ━━━━━━━━━━━━━━━━━━━━━━━━━━━━━━━━━━━━━━━━ 15.8/15.8 MB 7.8 MB/s eta 0:00:00</a:t>
            </a:r>
          </a:p>
          <a:p>
            <a:r>
              <a:rPr lang="en-US" sz="1400" dirty="0">
                <a:latin typeface="Consolas" panose="020B0609020204030204" pitchFamily="49" charset="0"/>
              </a:rPr>
              <a:t>Installing collected packages: </a:t>
            </a:r>
            <a:r>
              <a:rPr lang="en-US" sz="1400" dirty="0" err="1">
                <a:latin typeface="Consolas" panose="020B0609020204030204" pitchFamily="49" charset="0"/>
              </a:rPr>
              <a:t>numpy</a:t>
            </a:r>
            <a:endParaRPr lang="en-US" sz="1400" dirty="0">
              <a:latin typeface="Consolas" panose="020B0609020204030204" pitchFamily="49" charset="0"/>
            </a:endParaRPr>
          </a:p>
          <a:p>
            <a:r>
              <a:rPr lang="en-US" sz="1400" dirty="0">
                <a:latin typeface="Consolas" panose="020B0609020204030204" pitchFamily="49" charset="0"/>
              </a:rPr>
              <a:t>Successfully installed numpy-1.26.4</a:t>
            </a:r>
          </a:p>
        </p:txBody>
      </p:sp>
      <p:sp>
        <p:nvSpPr>
          <p:cNvPr id="9" name="Rectangle: Rounded Corners 8">
            <a:extLst>
              <a:ext uri="{FF2B5EF4-FFF2-40B4-BE49-F238E27FC236}">
                <a16:creationId xmlns:a16="http://schemas.microsoft.com/office/drawing/2014/main" id="{BEBEA06B-B91C-DA02-D3E5-BB9AC66AB2B8}"/>
              </a:ext>
            </a:extLst>
          </p:cNvPr>
          <p:cNvSpPr/>
          <p:nvPr/>
        </p:nvSpPr>
        <p:spPr>
          <a:xfrm rot="16200000">
            <a:off x="-450470" y="4080773"/>
            <a:ext cx="2370007" cy="207332"/>
          </a:xfrm>
          <a:prstGeom prst="roundRect">
            <a:avLst/>
          </a:prstGeom>
          <a:solidFill>
            <a:srgbClr val="236356"/>
          </a:solidFill>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100" dirty="0" err="1">
                <a:latin typeface="Georgia" panose="02040502050405020303" pitchFamily="18" charset="0"/>
              </a:rPr>
              <a:t>Conda</a:t>
            </a:r>
            <a:r>
              <a:rPr lang="en-US" sz="1100" dirty="0">
                <a:latin typeface="Georgia" panose="02040502050405020303" pitchFamily="18" charset="0"/>
              </a:rPr>
              <a:t> </a:t>
            </a:r>
          </a:p>
        </p:txBody>
      </p:sp>
      <p:sp>
        <p:nvSpPr>
          <p:cNvPr id="10" name="Rectangle: Rounded Corners 9">
            <a:extLst>
              <a:ext uri="{FF2B5EF4-FFF2-40B4-BE49-F238E27FC236}">
                <a16:creationId xmlns:a16="http://schemas.microsoft.com/office/drawing/2014/main" id="{45DFE3FB-75B7-A2CE-3A52-29CC24A7B3DC}"/>
              </a:ext>
            </a:extLst>
          </p:cNvPr>
          <p:cNvSpPr/>
          <p:nvPr/>
        </p:nvSpPr>
        <p:spPr>
          <a:xfrm rot="16200000">
            <a:off x="174758" y="6016518"/>
            <a:ext cx="1116007" cy="207333"/>
          </a:xfrm>
          <a:prstGeom prst="roundRect">
            <a:avLst/>
          </a:prstGeom>
          <a:solidFill>
            <a:srgbClr val="94573F"/>
          </a:solidFill>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100" dirty="0">
                <a:latin typeface="Georgia" panose="02040502050405020303" pitchFamily="18" charset="0"/>
              </a:rPr>
              <a:t>Pip </a:t>
            </a:r>
          </a:p>
        </p:txBody>
      </p:sp>
      <p:sp>
        <p:nvSpPr>
          <p:cNvPr id="11" name="TextBox 10">
            <a:extLst>
              <a:ext uri="{FF2B5EF4-FFF2-40B4-BE49-F238E27FC236}">
                <a16:creationId xmlns:a16="http://schemas.microsoft.com/office/drawing/2014/main" id="{A4E7FC4B-8EEF-F885-47C0-1E40F9727D8D}"/>
              </a:ext>
            </a:extLst>
          </p:cNvPr>
          <p:cNvSpPr txBox="1"/>
          <p:nvPr/>
        </p:nvSpPr>
        <p:spPr>
          <a:xfrm>
            <a:off x="9065064" y="4123963"/>
            <a:ext cx="2274073" cy="923330"/>
          </a:xfrm>
          <a:prstGeom prst="rect">
            <a:avLst/>
          </a:prstGeom>
          <a:noFill/>
        </p:spPr>
        <p:txBody>
          <a:bodyPr wrap="square" rtlCol="0">
            <a:spAutoFit/>
          </a:bodyPr>
          <a:lstStyle/>
          <a:p>
            <a:r>
              <a:rPr lang="en-US" dirty="0" err="1">
                <a:solidFill>
                  <a:srgbClr val="236356"/>
                </a:solidFill>
                <a:latin typeface="Georgia" panose="02040502050405020303" pitchFamily="18" charset="0"/>
              </a:rPr>
              <a:t>conda</a:t>
            </a:r>
            <a:r>
              <a:rPr lang="en-US" dirty="0">
                <a:solidFill>
                  <a:srgbClr val="236356"/>
                </a:solidFill>
                <a:latin typeface="Georgia" panose="02040502050405020303" pitchFamily="18" charset="0"/>
              </a:rPr>
              <a:t> downloads many more dependencies!</a:t>
            </a:r>
          </a:p>
        </p:txBody>
      </p:sp>
      <p:sp>
        <p:nvSpPr>
          <p:cNvPr id="12" name="Arrow: Right 11">
            <a:extLst>
              <a:ext uri="{FF2B5EF4-FFF2-40B4-BE49-F238E27FC236}">
                <a16:creationId xmlns:a16="http://schemas.microsoft.com/office/drawing/2014/main" id="{940C9D29-0D24-CCB3-02C4-993D5D5C9C21}"/>
              </a:ext>
            </a:extLst>
          </p:cNvPr>
          <p:cNvSpPr/>
          <p:nvPr/>
        </p:nvSpPr>
        <p:spPr>
          <a:xfrm rot="12190949">
            <a:off x="8595730" y="4036822"/>
            <a:ext cx="428523" cy="295234"/>
          </a:xfrm>
          <a:prstGeom prst="right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07258A72-FE94-96FC-352D-2ACC55664C0C}"/>
              </a:ext>
            </a:extLst>
          </p:cNvPr>
          <p:cNvSpPr txBox="1"/>
          <p:nvPr/>
        </p:nvSpPr>
        <p:spPr>
          <a:xfrm>
            <a:off x="8946483" y="6401189"/>
            <a:ext cx="2616422" cy="276999"/>
          </a:xfrm>
          <a:prstGeom prst="rect">
            <a:avLst/>
          </a:prstGeom>
          <a:noFill/>
        </p:spPr>
        <p:txBody>
          <a:bodyPr wrap="none" rtlCol="0">
            <a:spAutoFit/>
          </a:bodyPr>
          <a:lstStyle/>
          <a:p>
            <a:r>
              <a:rPr lang="en-US" sz="1200" dirty="0">
                <a:solidFill>
                  <a:srgbClr val="236356"/>
                </a:solidFill>
                <a:latin typeface="Georgia" panose="02040502050405020303" pitchFamily="18" charset="0"/>
              </a:rPr>
              <a:t>*Not all claims are true (any longer)</a:t>
            </a:r>
            <a:endParaRPr lang="en-US" sz="1200" dirty="0">
              <a:solidFill>
                <a:srgbClr val="236356"/>
              </a:solidFill>
              <a:latin typeface="Consolas" panose="020B0609020204030204" pitchFamily="49" charset="0"/>
            </a:endParaRPr>
          </a:p>
        </p:txBody>
      </p:sp>
    </p:spTree>
    <p:extLst>
      <p:ext uri="{BB962C8B-B14F-4D97-AF65-F5344CB8AC3E}">
        <p14:creationId xmlns:p14="http://schemas.microsoft.com/office/powerpoint/2010/main" val="303228158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3A5BB-0C31-13EB-868C-375443A8D6CB}"/>
              </a:ext>
            </a:extLst>
          </p:cNvPr>
          <p:cNvSpPr>
            <a:spLocks noGrp="1"/>
          </p:cNvSpPr>
          <p:nvPr>
            <p:ph type="title"/>
          </p:nvPr>
        </p:nvSpPr>
        <p:spPr/>
        <p:txBody>
          <a:bodyPr>
            <a:normAutofit/>
          </a:bodyPr>
          <a:lstStyle/>
          <a:p>
            <a:r>
              <a:rPr lang="en-US" i="1" dirty="0" err="1"/>
              <a:t>conda</a:t>
            </a:r>
            <a:r>
              <a:rPr lang="en-US" i="1" dirty="0"/>
              <a:t> </a:t>
            </a:r>
            <a:r>
              <a:rPr lang="en-US" dirty="0"/>
              <a:t>is better at non-python dependency management</a:t>
            </a:r>
          </a:p>
        </p:txBody>
      </p:sp>
      <p:sp>
        <p:nvSpPr>
          <p:cNvPr id="4" name="TextBox 3">
            <a:extLst>
              <a:ext uri="{FF2B5EF4-FFF2-40B4-BE49-F238E27FC236}">
                <a16:creationId xmlns:a16="http://schemas.microsoft.com/office/drawing/2014/main" id="{79D090AE-E97F-A7B0-EB0A-A290504AB363}"/>
              </a:ext>
            </a:extLst>
          </p:cNvPr>
          <p:cNvSpPr txBox="1"/>
          <p:nvPr/>
        </p:nvSpPr>
        <p:spPr>
          <a:xfrm>
            <a:off x="838199" y="1883366"/>
            <a:ext cx="11176592" cy="954107"/>
          </a:xfrm>
          <a:prstGeom prst="rect">
            <a:avLst/>
          </a:prstGeom>
          <a:noFill/>
        </p:spPr>
        <p:txBody>
          <a:bodyPr wrap="square">
            <a:spAutoFit/>
          </a:bodyPr>
          <a:lstStyle/>
          <a:p>
            <a:r>
              <a:rPr lang="en-US" sz="2800" dirty="0">
                <a:solidFill>
                  <a:srgbClr val="94573F"/>
                </a:solidFill>
                <a:latin typeface="Georgia" panose="02040502050405020303" pitchFamily="18" charset="0"/>
              </a:rPr>
              <a:t>Some packages are much better optimized (because of non-python dependencies) </a:t>
            </a:r>
            <a:endParaRPr lang="en-US" dirty="0">
              <a:solidFill>
                <a:srgbClr val="94573F"/>
              </a:solidFill>
              <a:latin typeface="Georgia" panose="02040502050405020303" pitchFamily="18" charset="0"/>
            </a:endParaRPr>
          </a:p>
        </p:txBody>
      </p:sp>
      <p:sp>
        <p:nvSpPr>
          <p:cNvPr id="13" name="TextBox 12">
            <a:extLst>
              <a:ext uri="{FF2B5EF4-FFF2-40B4-BE49-F238E27FC236}">
                <a16:creationId xmlns:a16="http://schemas.microsoft.com/office/drawing/2014/main" id="{07258A72-FE94-96FC-352D-2ACC55664C0C}"/>
              </a:ext>
            </a:extLst>
          </p:cNvPr>
          <p:cNvSpPr txBox="1"/>
          <p:nvPr/>
        </p:nvSpPr>
        <p:spPr>
          <a:xfrm>
            <a:off x="8946483" y="6401189"/>
            <a:ext cx="2616422" cy="276999"/>
          </a:xfrm>
          <a:prstGeom prst="rect">
            <a:avLst/>
          </a:prstGeom>
          <a:noFill/>
        </p:spPr>
        <p:txBody>
          <a:bodyPr wrap="none" rtlCol="0">
            <a:spAutoFit/>
          </a:bodyPr>
          <a:lstStyle/>
          <a:p>
            <a:r>
              <a:rPr lang="en-US" sz="1200" dirty="0">
                <a:solidFill>
                  <a:srgbClr val="236356"/>
                </a:solidFill>
                <a:latin typeface="Georgia" panose="02040502050405020303" pitchFamily="18" charset="0"/>
              </a:rPr>
              <a:t>*Not all claims are true (any longer)</a:t>
            </a:r>
            <a:endParaRPr lang="en-US" sz="1200" dirty="0">
              <a:solidFill>
                <a:srgbClr val="236356"/>
              </a:solidFill>
              <a:latin typeface="Consolas" panose="020B0609020204030204" pitchFamily="49" charset="0"/>
            </a:endParaRPr>
          </a:p>
        </p:txBody>
      </p:sp>
      <p:graphicFrame>
        <p:nvGraphicFramePr>
          <p:cNvPr id="3" name="Table 2">
            <a:extLst>
              <a:ext uri="{FF2B5EF4-FFF2-40B4-BE49-F238E27FC236}">
                <a16:creationId xmlns:a16="http://schemas.microsoft.com/office/drawing/2014/main" id="{312BBF75-964B-7C2C-427B-2AF2948D1541}"/>
              </a:ext>
            </a:extLst>
          </p:cNvPr>
          <p:cNvGraphicFramePr>
            <a:graphicFrameLocks noGrp="1"/>
          </p:cNvGraphicFramePr>
          <p:nvPr>
            <p:extLst>
              <p:ext uri="{D42A27DB-BD31-4B8C-83A1-F6EECF244321}">
                <p14:modId xmlns:p14="http://schemas.microsoft.com/office/powerpoint/2010/main" val="987022662"/>
              </p:ext>
            </p:extLst>
          </p:nvPr>
        </p:nvGraphicFramePr>
        <p:xfrm>
          <a:off x="987055" y="3339492"/>
          <a:ext cx="10217889" cy="2225040"/>
        </p:xfrm>
        <a:graphic>
          <a:graphicData uri="http://schemas.openxmlformats.org/drawingml/2006/table">
            <a:tbl>
              <a:tblPr firstRow="1" bandRow="1">
                <a:tableStyleId>{C083E6E3-FA7D-4D7B-A595-EF9225AFEA82}</a:tableStyleId>
              </a:tblPr>
              <a:tblGrid>
                <a:gridCol w="4945912">
                  <a:extLst>
                    <a:ext uri="{9D8B030D-6E8A-4147-A177-3AD203B41FA5}">
                      <a16:colId xmlns:a16="http://schemas.microsoft.com/office/drawing/2014/main" val="14812216"/>
                    </a:ext>
                  </a:extLst>
                </a:gridCol>
                <a:gridCol w="2828261">
                  <a:extLst>
                    <a:ext uri="{9D8B030D-6E8A-4147-A177-3AD203B41FA5}">
                      <a16:colId xmlns:a16="http://schemas.microsoft.com/office/drawing/2014/main" val="303998843"/>
                    </a:ext>
                  </a:extLst>
                </a:gridCol>
                <a:gridCol w="2443716">
                  <a:extLst>
                    <a:ext uri="{9D8B030D-6E8A-4147-A177-3AD203B41FA5}">
                      <a16:colId xmlns:a16="http://schemas.microsoft.com/office/drawing/2014/main" val="3303432306"/>
                    </a:ext>
                  </a:extLst>
                </a:gridCol>
              </a:tblGrid>
              <a:tr h="370840">
                <a:tc>
                  <a:txBody>
                    <a:bodyPr/>
                    <a:lstStyle/>
                    <a:p>
                      <a:r>
                        <a:rPr lang="en-US" dirty="0">
                          <a:solidFill>
                            <a:srgbClr val="236356"/>
                          </a:solidFill>
                        </a:rPr>
                        <a:t>Benchmark</a:t>
                      </a:r>
                    </a:p>
                  </a:txBody>
                  <a:tcPr/>
                </a:tc>
                <a:tc>
                  <a:txBody>
                    <a:bodyPr/>
                    <a:lstStyle/>
                    <a:p>
                      <a:r>
                        <a:rPr lang="en-US" dirty="0" err="1">
                          <a:solidFill>
                            <a:srgbClr val="236356"/>
                          </a:solidFill>
                        </a:rPr>
                        <a:t>conda</a:t>
                      </a:r>
                      <a:endParaRPr lang="en-US" dirty="0">
                        <a:solidFill>
                          <a:srgbClr val="236356"/>
                        </a:solidFill>
                      </a:endParaRPr>
                    </a:p>
                  </a:txBody>
                  <a:tcPr/>
                </a:tc>
                <a:tc>
                  <a:txBody>
                    <a:bodyPr/>
                    <a:lstStyle/>
                    <a:p>
                      <a:r>
                        <a:rPr lang="en-US" dirty="0">
                          <a:solidFill>
                            <a:srgbClr val="236356"/>
                          </a:solidFill>
                        </a:rPr>
                        <a:t>pip</a:t>
                      </a:r>
                    </a:p>
                  </a:txBody>
                  <a:tcPr/>
                </a:tc>
                <a:extLst>
                  <a:ext uri="{0D108BD9-81ED-4DB2-BD59-A6C34878D82A}">
                    <a16:rowId xmlns:a16="http://schemas.microsoft.com/office/drawing/2014/main" val="378322377"/>
                  </a:ext>
                </a:extLst>
              </a:tr>
              <a:tr h="370840">
                <a:tc>
                  <a:txBody>
                    <a:bodyPr/>
                    <a:lstStyle/>
                    <a:p>
                      <a:r>
                        <a:rPr lang="en-US" dirty="0">
                          <a:solidFill>
                            <a:srgbClr val="236356"/>
                          </a:solidFill>
                        </a:rPr>
                        <a:t>Dotted 2 1024x1024 matrices</a:t>
                      </a:r>
                    </a:p>
                  </a:txBody>
                  <a:tcPr/>
                </a:tc>
                <a:tc>
                  <a:txBody>
                    <a:bodyPr/>
                    <a:lstStyle/>
                    <a:p>
                      <a:r>
                        <a:rPr lang="en-US" dirty="0">
                          <a:solidFill>
                            <a:srgbClr val="236356"/>
                          </a:solidFill>
                        </a:rPr>
                        <a:t>0.01 s</a:t>
                      </a:r>
                    </a:p>
                  </a:txBody>
                  <a:tcPr/>
                </a:tc>
                <a:tc>
                  <a:txBody>
                    <a:bodyPr/>
                    <a:lstStyle/>
                    <a:p>
                      <a:r>
                        <a:rPr lang="en-US" dirty="0">
                          <a:solidFill>
                            <a:srgbClr val="236356"/>
                          </a:solidFill>
                        </a:rPr>
                        <a:t>0.01 s</a:t>
                      </a:r>
                    </a:p>
                  </a:txBody>
                  <a:tcPr/>
                </a:tc>
                <a:extLst>
                  <a:ext uri="{0D108BD9-81ED-4DB2-BD59-A6C34878D82A}">
                    <a16:rowId xmlns:a16="http://schemas.microsoft.com/office/drawing/2014/main" val="2470773688"/>
                  </a:ext>
                </a:extLst>
              </a:tr>
              <a:tr h="370840">
                <a:tc>
                  <a:txBody>
                    <a:bodyPr/>
                    <a:lstStyle/>
                    <a:p>
                      <a:r>
                        <a:rPr lang="en-US" dirty="0">
                          <a:solidFill>
                            <a:srgbClr val="236356"/>
                          </a:solidFill>
                        </a:rPr>
                        <a:t>Dotted two 131,072 vectors</a:t>
                      </a:r>
                    </a:p>
                  </a:txBody>
                  <a:tcPr/>
                </a:tc>
                <a:tc>
                  <a:txBody>
                    <a:bodyPr/>
                    <a:lstStyle/>
                    <a:p>
                      <a:r>
                        <a:rPr lang="en-US" dirty="0">
                          <a:solidFill>
                            <a:srgbClr val="236356"/>
                          </a:solidFill>
                        </a:rPr>
                        <a:t>0.05 </a:t>
                      </a:r>
                      <a:r>
                        <a:rPr lang="en-US" dirty="0" err="1">
                          <a:solidFill>
                            <a:srgbClr val="236356"/>
                          </a:solidFill>
                        </a:rPr>
                        <a:t>ms</a:t>
                      </a:r>
                      <a:endParaRPr lang="en-US" dirty="0">
                        <a:solidFill>
                          <a:srgbClr val="236356"/>
                        </a:solidFill>
                      </a:endParaRPr>
                    </a:p>
                  </a:txBody>
                  <a:tcPr/>
                </a:tc>
                <a:tc>
                  <a:txBody>
                    <a:bodyPr/>
                    <a:lstStyle/>
                    <a:p>
                      <a:r>
                        <a:rPr lang="en-US" b="1" dirty="0">
                          <a:solidFill>
                            <a:srgbClr val="236356"/>
                          </a:solidFill>
                        </a:rPr>
                        <a:t>0.16 </a:t>
                      </a:r>
                      <a:r>
                        <a:rPr lang="en-US" b="1" dirty="0" err="1">
                          <a:solidFill>
                            <a:srgbClr val="236356"/>
                          </a:solidFill>
                        </a:rPr>
                        <a:t>ms</a:t>
                      </a:r>
                      <a:endParaRPr lang="en-US" b="1" dirty="0">
                        <a:solidFill>
                          <a:srgbClr val="236356"/>
                        </a:solidFill>
                      </a:endParaRPr>
                    </a:p>
                  </a:txBody>
                  <a:tcPr/>
                </a:tc>
                <a:extLst>
                  <a:ext uri="{0D108BD9-81ED-4DB2-BD59-A6C34878D82A}">
                    <a16:rowId xmlns:a16="http://schemas.microsoft.com/office/drawing/2014/main" val="3425487192"/>
                  </a:ext>
                </a:extLst>
              </a:tr>
              <a:tr h="370840">
                <a:tc>
                  <a:txBody>
                    <a:bodyPr/>
                    <a:lstStyle/>
                    <a:p>
                      <a:r>
                        <a:rPr lang="en-US" dirty="0">
                          <a:solidFill>
                            <a:srgbClr val="236356"/>
                          </a:solidFill>
                        </a:rPr>
                        <a:t>SVD of a 512x256 matrix</a:t>
                      </a:r>
                    </a:p>
                  </a:txBody>
                  <a:tcPr/>
                </a:tc>
                <a:tc>
                  <a:txBody>
                    <a:bodyPr/>
                    <a:lstStyle/>
                    <a:p>
                      <a:r>
                        <a:rPr lang="en-US" dirty="0">
                          <a:solidFill>
                            <a:srgbClr val="236356"/>
                          </a:solidFill>
                        </a:rPr>
                        <a:t>0.03 s</a:t>
                      </a:r>
                    </a:p>
                  </a:txBody>
                  <a:tcPr/>
                </a:tc>
                <a:tc>
                  <a:txBody>
                    <a:bodyPr/>
                    <a:lstStyle/>
                    <a:p>
                      <a:r>
                        <a:rPr lang="en-US" b="1" dirty="0">
                          <a:solidFill>
                            <a:srgbClr val="236356"/>
                          </a:solidFill>
                        </a:rPr>
                        <a:t>0.25 s</a:t>
                      </a:r>
                    </a:p>
                  </a:txBody>
                  <a:tcPr/>
                </a:tc>
                <a:extLst>
                  <a:ext uri="{0D108BD9-81ED-4DB2-BD59-A6C34878D82A}">
                    <a16:rowId xmlns:a16="http://schemas.microsoft.com/office/drawing/2014/main" val="3258029283"/>
                  </a:ext>
                </a:extLst>
              </a:tr>
              <a:tr h="370840">
                <a:tc>
                  <a:txBody>
                    <a:bodyPr/>
                    <a:lstStyle/>
                    <a:p>
                      <a:r>
                        <a:rPr lang="en-US" dirty="0">
                          <a:solidFill>
                            <a:srgbClr val="236356"/>
                          </a:solidFill>
                        </a:rPr>
                        <a:t>Cholesky decomposition of 512x512 matrix</a:t>
                      </a:r>
                    </a:p>
                  </a:txBody>
                  <a:tcPr/>
                </a:tc>
                <a:tc>
                  <a:txBody>
                    <a:bodyPr/>
                    <a:lstStyle/>
                    <a:p>
                      <a:r>
                        <a:rPr lang="en-US" dirty="0">
                          <a:solidFill>
                            <a:srgbClr val="236356"/>
                          </a:solidFill>
                        </a:rPr>
                        <a:t>0.01 s</a:t>
                      </a:r>
                    </a:p>
                  </a:txBody>
                  <a:tcPr/>
                </a:tc>
                <a:tc>
                  <a:txBody>
                    <a:bodyPr/>
                    <a:lstStyle/>
                    <a:p>
                      <a:r>
                        <a:rPr lang="en-US" dirty="0">
                          <a:solidFill>
                            <a:srgbClr val="236356"/>
                          </a:solidFill>
                        </a:rPr>
                        <a:t>0.01 s</a:t>
                      </a:r>
                    </a:p>
                  </a:txBody>
                  <a:tcPr/>
                </a:tc>
                <a:extLst>
                  <a:ext uri="{0D108BD9-81ED-4DB2-BD59-A6C34878D82A}">
                    <a16:rowId xmlns:a16="http://schemas.microsoft.com/office/drawing/2014/main" val="143132244"/>
                  </a:ext>
                </a:extLst>
              </a:tr>
              <a:tr h="370840">
                <a:tc>
                  <a:txBody>
                    <a:bodyPr/>
                    <a:lstStyle/>
                    <a:p>
                      <a:r>
                        <a:rPr lang="en-US" dirty="0">
                          <a:solidFill>
                            <a:srgbClr val="236356"/>
                          </a:solidFill>
                        </a:rPr>
                        <a:t>Eigen decomposition of a 512x512 matrix</a:t>
                      </a:r>
                    </a:p>
                  </a:txBody>
                  <a:tcPr/>
                </a:tc>
                <a:tc>
                  <a:txBody>
                    <a:bodyPr/>
                    <a:lstStyle/>
                    <a:p>
                      <a:r>
                        <a:rPr lang="en-US" dirty="0">
                          <a:solidFill>
                            <a:srgbClr val="236356"/>
                          </a:solidFill>
                        </a:rPr>
                        <a:t>0.47 s</a:t>
                      </a:r>
                    </a:p>
                  </a:txBody>
                  <a:tcPr/>
                </a:tc>
                <a:tc>
                  <a:txBody>
                    <a:bodyPr/>
                    <a:lstStyle/>
                    <a:p>
                      <a:r>
                        <a:rPr lang="en-US" b="1" dirty="0">
                          <a:solidFill>
                            <a:srgbClr val="236356"/>
                          </a:solidFill>
                        </a:rPr>
                        <a:t>0.71 s</a:t>
                      </a:r>
                    </a:p>
                  </a:txBody>
                  <a:tcPr/>
                </a:tc>
                <a:extLst>
                  <a:ext uri="{0D108BD9-81ED-4DB2-BD59-A6C34878D82A}">
                    <a16:rowId xmlns:a16="http://schemas.microsoft.com/office/drawing/2014/main" val="3963011369"/>
                  </a:ext>
                </a:extLst>
              </a:tr>
            </a:tbl>
          </a:graphicData>
        </a:graphic>
      </p:graphicFrame>
      <p:sp>
        <p:nvSpPr>
          <p:cNvPr id="5" name="TextBox 4">
            <a:extLst>
              <a:ext uri="{FF2B5EF4-FFF2-40B4-BE49-F238E27FC236}">
                <a16:creationId xmlns:a16="http://schemas.microsoft.com/office/drawing/2014/main" id="{A4010B28-7868-B35C-F30A-0CC7B627C6E7}"/>
              </a:ext>
            </a:extLst>
          </p:cNvPr>
          <p:cNvSpPr txBox="1"/>
          <p:nvPr/>
        </p:nvSpPr>
        <p:spPr>
          <a:xfrm>
            <a:off x="838199" y="5759141"/>
            <a:ext cx="11176592" cy="338554"/>
          </a:xfrm>
          <a:prstGeom prst="rect">
            <a:avLst/>
          </a:prstGeom>
          <a:noFill/>
        </p:spPr>
        <p:txBody>
          <a:bodyPr wrap="square">
            <a:spAutoFit/>
          </a:bodyPr>
          <a:lstStyle/>
          <a:p>
            <a:r>
              <a:rPr lang="en-US" sz="1600" dirty="0">
                <a:solidFill>
                  <a:srgbClr val="94573F"/>
                </a:solidFill>
                <a:latin typeface="Georgia" panose="02040502050405020303" pitchFamily="18" charset="0"/>
              </a:rPr>
              <a:t>See appendix for test code</a:t>
            </a:r>
          </a:p>
        </p:txBody>
      </p:sp>
    </p:spTree>
    <p:extLst>
      <p:ext uri="{BB962C8B-B14F-4D97-AF65-F5344CB8AC3E}">
        <p14:creationId xmlns:p14="http://schemas.microsoft.com/office/powerpoint/2010/main" val="418282665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3A5BB-0C31-13EB-868C-375443A8D6CB}"/>
              </a:ext>
            </a:extLst>
          </p:cNvPr>
          <p:cNvSpPr>
            <a:spLocks noGrp="1"/>
          </p:cNvSpPr>
          <p:nvPr>
            <p:ph type="title"/>
          </p:nvPr>
        </p:nvSpPr>
        <p:spPr/>
        <p:txBody>
          <a:bodyPr>
            <a:normAutofit/>
          </a:bodyPr>
          <a:lstStyle/>
          <a:p>
            <a:r>
              <a:rPr lang="en-US" i="1" dirty="0" err="1"/>
              <a:t>conda</a:t>
            </a:r>
            <a:r>
              <a:rPr lang="en-US" i="1" dirty="0"/>
              <a:t> </a:t>
            </a:r>
            <a:r>
              <a:rPr lang="en-US" dirty="0"/>
              <a:t>is better at non-python dependency management</a:t>
            </a:r>
          </a:p>
        </p:txBody>
      </p:sp>
      <p:sp>
        <p:nvSpPr>
          <p:cNvPr id="4" name="TextBox 3">
            <a:extLst>
              <a:ext uri="{FF2B5EF4-FFF2-40B4-BE49-F238E27FC236}">
                <a16:creationId xmlns:a16="http://schemas.microsoft.com/office/drawing/2014/main" id="{79D090AE-E97F-A7B0-EB0A-A290504AB363}"/>
              </a:ext>
            </a:extLst>
          </p:cNvPr>
          <p:cNvSpPr txBox="1"/>
          <p:nvPr/>
        </p:nvSpPr>
        <p:spPr>
          <a:xfrm>
            <a:off x="838199" y="1883366"/>
            <a:ext cx="11176592" cy="954107"/>
          </a:xfrm>
          <a:prstGeom prst="rect">
            <a:avLst/>
          </a:prstGeom>
          <a:noFill/>
        </p:spPr>
        <p:txBody>
          <a:bodyPr wrap="square">
            <a:spAutoFit/>
          </a:bodyPr>
          <a:lstStyle/>
          <a:p>
            <a:r>
              <a:rPr lang="en-US" sz="2800" dirty="0" err="1">
                <a:solidFill>
                  <a:srgbClr val="94573F"/>
                </a:solidFill>
                <a:latin typeface="Georgia" panose="02040502050405020303" pitchFamily="18" charset="0"/>
              </a:rPr>
              <a:t>conda</a:t>
            </a:r>
            <a:r>
              <a:rPr lang="en-US" sz="2800" dirty="0">
                <a:solidFill>
                  <a:srgbClr val="94573F"/>
                </a:solidFill>
                <a:latin typeface="Georgia" panose="02040502050405020303" pitchFamily="18" charset="0"/>
              </a:rPr>
              <a:t> is NOT just about Python. You can create an empty environment with NO python!</a:t>
            </a:r>
            <a:endParaRPr lang="en-US" dirty="0">
              <a:solidFill>
                <a:srgbClr val="94573F"/>
              </a:solidFill>
              <a:latin typeface="Georgia" panose="02040502050405020303" pitchFamily="18" charset="0"/>
            </a:endParaRPr>
          </a:p>
        </p:txBody>
      </p:sp>
      <p:sp>
        <p:nvSpPr>
          <p:cNvPr id="3" name="Title 1">
            <a:extLst>
              <a:ext uri="{FF2B5EF4-FFF2-40B4-BE49-F238E27FC236}">
                <a16:creationId xmlns:a16="http://schemas.microsoft.com/office/drawing/2014/main" id="{6B15EBD5-0A7C-3E9F-C4E8-7697AD99D248}"/>
              </a:ext>
            </a:extLst>
          </p:cNvPr>
          <p:cNvSpPr txBox="1">
            <a:spLocks/>
          </p:cNvSpPr>
          <p:nvPr/>
        </p:nvSpPr>
        <p:spPr>
          <a:xfrm>
            <a:off x="5736083" y="2360419"/>
            <a:ext cx="6278708" cy="47705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rgbClr val="236356"/>
                </a:solidFill>
                <a:latin typeface="Georgia" panose="02040502050405020303" pitchFamily="18" charset="0"/>
                <a:ea typeface="+mj-ea"/>
                <a:cs typeface="+mj-cs"/>
              </a:defRPr>
            </a:lvl1pPr>
          </a:lstStyle>
          <a:p>
            <a:r>
              <a:rPr lang="en-US" sz="2000" dirty="0" err="1">
                <a:solidFill>
                  <a:srgbClr val="00BDD6"/>
                </a:solidFill>
                <a:latin typeface="Consolas" panose="020B0609020204030204" pitchFamily="49" charset="0"/>
              </a:rPr>
              <a:t>conda</a:t>
            </a:r>
            <a:r>
              <a:rPr lang="en-US" sz="2000" dirty="0">
                <a:solidFill>
                  <a:srgbClr val="FA8900"/>
                </a:solidFill>
                <a:latin typeface="Consolas" panose="020B0609020204030204" pitchFamily="49" charset="0"/>
              </a:rPr>
              <a:t> </a:t>
            </a:r>
            <a:r>
              <a:rPr lang="en-US" sz="2000" dirty="0">
                <a:solidFill>
                  <a:srgbClr val="00B368"/>
                </a:solidFill>
                <a:latin typeface="Consolas" panose="020B0609020204030204" pitchFamily="49" charset="0"/>
              </a:rPr>
              <a:t>install </a:t>
            </a:r>
            <a:r>
              <a:rPr lang="en-US" sz="2000" dirty="0">
                <a:solidFill>
                  <a:srgbClr val="FF0000"/>
                </a:solidFill>
                <a:latin typeface="Consolas" panose="020B0609020204030204" pitchFamily="49" charset="0"/>
              </a:rPr>
              <a:t>r-essentials r-base</a:t>
            </a:r>
          </a:p>
        </p:txBody>
      </p:sp>
      <p:sp>
        <p:nvSpPr>
          <p:cNvPr id="6" name="TextBox 5">
            <a:extLst>
              <a:ext uri="{FF2B5EF4-FFF2-40B4-BE49-F238E27FC236}">
                <a16:creationId xmlns:a16="http://schemas.microsoft.com/office/drawing/2014/main" id="{35516C2D-67D3-14CA-5A80-3DC3C00C6869}"/>
              </a:ext>
            </a:extLst>
          </p:cNvPr>
          <p:cNvSpPr txBox="1"/>
          <p:nvPr/>
        </p:nvSpPr>
        <p:spPr>
          <a:xfrm>
            <a:off x="838199" y="2892536"/>
            <a:ext cx="10829926" cy="3785652"/>
          </a:xfrm>
          <a:prstGeom prst="rect">
            <a:avLst/>
          </a:prstGeom>
          <a:noFill/>
        </p:spPr>
        <p:txBody>
          <a:bodyPr wrap="square" numCol="7">
            <a:spAutoFit/>
          </a:bodyPr>
          <a:lstStyle/>
          <a:p>
            <a:r>
              <a:rPr lang="en-US" sz="1000" b="0" dirty="0">
                <a:solidFill>
                  <a:srgbClr val="00BDD6"/>
                </a:solidFill>
                <a:effectLst/>
                <a:latin typeface="Consolas" panose="020B0609020204030204" pitchFamily="49" charset="0"/>
              </a:rPr>
              <a:t>_r-mutex</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ipykernel</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ipython</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jedi</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jinja2</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json5</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jsonschema</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jsonschema-specif</a:t>
            </a:r>
            <a:r>
              <a:rPr lang="en-US" sz="1000" b="0" dirty="0">
                <a:solidFill>
                  <a:srgbClr val="00BDD6"/>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jupyter-lsp</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jupyter_client</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jupyter_core</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jupyter_events</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jupyter_server</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jupyter_server_te</a:t>
            </a:r>
            <a:r>
              <a:rPr lang="en-US" sz="1000" b="0" dirty="0">
                <a:solidFill>
                  <a:srgbClr val="00BDD6"/>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jupyterlab</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jupyterlab_pygmen</a:t>
            </a:r>
            <a:r>
              <a:rPr lang="en-US" sz="1000" b="0" dirty="0">
                <a:solidFill>
                  <a:srgbClr val="00BDD6"/>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jupyterlab_server</a:t>
            </a:r>
            <a:endParaRPr lang="en-US" sz="1000" b="0" dirty="0">
              <a:solidFill>
                <a:srgbClr val="005661"/>
              </a:solidFill>
              <a:effectLst/>
              <a:latin typeface="Consolas" panose="020B0609020204030204" pitchFamily="49" charset="0"/>
            </a:endParaRPr>
          </a:p>
          <a:p>
            <a:r>
              <a:rPr lang="en-US" sz="1000" b="0" dirty="0" err="1">
                <a:solidFill>
                  <a:srgbClr val="00BDD6"/>
                </a:solidFill>
                <a:effectLst/>
                <a:latin typeface="Consolas" panose="020B0609020204030204" pitchFamily="49" charset="0"/>
              </a:rPr>
              <a:t>libffi</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askpass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assertthat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r-backports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r-base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r-base64enc</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bh</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r-boot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r-broom</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callr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r-caret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cellranger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r-class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r-cli</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clipr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r-cluster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codetools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colorspace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r-crayon</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r-curl</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data.table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dbi</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dbplyr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r-dichromat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r-digest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dplyr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r-ellipsis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r-essentials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r-evaluate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fansi</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forcats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r-foreach</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r-foreign</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formatr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r-fs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r-generics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r-ggplot2</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glmnet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r-glue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gower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gtable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r-haven</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hexbin</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highr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hms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htmltools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htmlwidgets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httpuv</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httr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ipred</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irdisplay</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irkernel</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r-iterators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jsonlite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kernsmooth</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knitr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r-labeling</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r-later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r-lattice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r-lava</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lazyeval</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lubridate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magrittr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r-maps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r-markdown</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r-mass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r-matrix</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mgcv</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r-mime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modelmetrics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modelr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munsell</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nlme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nnet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numderiv</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openssl</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pbdzmq</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r-pillar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pkgconfig</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plogr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plyr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prettyunits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processx</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prodlim</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r-progress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r-promises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ps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purrr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quantmod</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r-r6</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randomforest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rbokeh</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rcolorbrewer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rcpp</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rcpproll</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readr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readxl</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r-recipes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r-recommended</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r-rematch</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repr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reprex</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r-reshape2</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rlang</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rmarkdown</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rpart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rstudioapi</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rvest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r-scales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selectr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r-shiny</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sourcetools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r-spatial</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squarem</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stringi</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stringr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r-survival</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r-sys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tibble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tidyr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tidyselect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tidyverse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timedate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tinytex</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ttr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r-utf8</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uuid</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viridislite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r-whisker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withr</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xfun</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r-xml2</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xtable</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xts</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a:t>
            </a:r>
            <a:r>
              <a:rPr lang="en-US" sz="1000" b="0" dirty="0" err="1">
                <a:solidFill>
                  <a:srgbClr val="00BDD6"/>
                </a:solidFill>
                <a:effectLst/>
                <a:latin typeface="Consolas" panose="020B0609020204030204" pitchFamily="49" charset="0"/>
              </a:rPr>
              <a:t>yaml</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r-zoo</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br>
              <a:rPr lang="en-US" sz="1000" b="0" dirty="0">
                <a:solidFill>
                  <a:srgbClr val="005661"/>
                </a:solidFill>
                <a:effectLst/>
                <a:latin typeface="Consolas" panose="020B0609020204030204" pitchFamily="49" charset="0"/>
              </a:rPr>
            </a:br>
            <a:endParaRPr lang="en-US" sz="1000" b="0" dirty="0">
              <a:solidFill>
                <a:srgbClr val="005661"/>
              </a:solidFill>
              <a:effectLst/>
              <a:latin typeface="Consolas" panose="020B0609020204030204" pitchFamily="49" charset="0"/>
            </a:endParaRPr>
          </a:p>
        </p:txBody>
      </p:sp>
    </p:spTree>
    <p:extLst>
      <p:ext uri="{BB962C8B-B14F-4D97-AF65-F5344CB8AC3E}">
        <p14:creationId xmlns:p14="http://schemas.microsoft.com/office/powerpoint/2010/main" val="37020475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3A5BB-0C31-13EB-868C-375443A8D6CB}"/>
              </a:ext>
            </a:extLst>
          </p:cNvPr>
          <p:cNvSpPr>
            <a:spLocks noGrp="1"/>
          </p:cNvSpPr>
          <p:nvPr>
            <p:ph type="title"/>
          </p:nvPr>
        </p:nvSpPr>
        <p:spPr>
          <a:xfrm>
            <a:off x="838200" y="365125"/>
            <a:ext cx="11058236" cy="1325563"/>
          </a:xfrm>
        </p:spPr>
        <p:txBody>
          <a:bodyPr>
            <a:normAutofit/>
          </a:bodyPr>
          <a:lstStyle/>
          <a:p>
            <a:r>
              <a:rPr lang="en-US" i="1" dirty="0" err="1"/>
              <a:t>conda</a:t>
            </a:r>
            <a:r>
              <a:rPr lang="en-US" i="1" dirty="0"/>
              <a:t> </a:t>
            </a:r>
            <a:r>
              <a:rPr lang="en-US" dirty="0"/>
              <a:t>is better at dependency management</a:t>
            </a:r>
          </a:p>
        </p:txBody>
      </p:sp>
      <p:sp>
        <p:nvSpPr>
          <p:cNvPr id="4" name="TextBox 3">
            <a:extLst>
              <a:ext uri="{FF2B5EF4-FFF2-40B4-BE49-F238E27FC236}">
                <a16:creationId xmlns:a16="http://schemas.microsoft.com/office/drawing/2014/main" id="{79D090AE-E97F-A7B0-EB0A-A290504AB363}"/>
              </a:ext>
            </a:extLst>
          </p:cNvPr>
          <p:cNvSpPr txBox="1"/>
          <p:nvPr/>
        </p:nvSpPr>
        <p:spPr>
          <a:xfrm>
            <a:off x="720436" y="4698758"/>
            <a:ext cx="2022764" cy="1631216"/>
          </a:xfrm>
          <a:prstGeom prst="rect">
            <a:avLst/>
          </a:prstGeom>
          <a:noFill/>
        </p:spPr>
        <p:txBody>
          <a:bodyPr wrap="square">
            <a:spAutoFit/>
          </a:bodyPr>
          <a:lstStyle/>
          <a:p>
            <a:r>
              <a:rPr lang="en-US" sz="2000" dirty="0" err="1">
                <a:solidFill>
                  <a:srgbClr val="94573F"/>
                </a:solidFill>
                <a:latin typeface="Georgia" panose="02040502050405020303" pitchFamily="18" charset="0"/>
              </a:rPr>
              <a:t>conda’s</a:t>
            </a:r>
            <a:r>
              <a:rPr lang="en-US" sz="2000" dirty="0">
                <a:solidFill>
                  <a:srgbClr val="94573F"/>
                </a:solidFill>
                <a:latin typeface="Georgia" panose="02040502050405020303" pitchFamily="18" charset="0"/>
              </a:rPr>
              <a:t> constraint solver takes </a:t>
            </a:r>
            <a:r>
              <a:rPr lang="en-US" sz="2000" i="1" dirty="0">
                <a:solidFill>
                  <a:srgbClr val="94573F"/>
                </a:solidFill>
                <a:latin typeface="Georgia" panose="02040502050405020303" pitchFamily="18" charset="0"/>
              </a:rPr>
              <a:t>all</a:t>
            </a:r>
            <a:r>
              <a:rPr lang="en-US" sz="2000" dirty="0">
                <a:solidFill>
                  <a:srgbClr val="94573F"/>
                </a:solidFill>
                <a:latin typeface="Georgia" panose="02040502050405020303" pitchFamily="18" charset="0"/>
              </a:rPr>
              <a:t> dependencies into account</a:t>
            </a:r>
          </a:p>
        </p:txBody>
      </p:sp>
      <p:pic>
        <p:nvPicPr>
          <p:cNvPr id="11" name="Picture 10">
            <a:extLst>
              <a:ext uri="{FF2B5EF4-FFF2-40B4-BE49-F238E27FC236}">
                <a16:creationId xmlns:a16="http://schemas.microsoft.com/office/drawing/2014/main" id="{50C732EA-E6BD-4B6B-1780-E24EDFFA9F9D}"/>
              </a:ext>
            </a:extLst>
          </p:cNvPr>
          <p:cNvPicPr>
            <a:picLocks noChangeAspect="1"/>
          </p:cNvPicPr>
          <p:nvPr/>
        </p:nvPicPr>
        <p:blipFill rotWithShape="1">
          <a:blip r:embed="rId2"/>
          <a:srcRect b="71431"/>
          <a:stretch/>
        </p:blipFill>
        <p:spPr>
          <a:xfrm>
            <a:off x="2835538" y="1503273"/>
            <a:ext cx="8497486" cy="1750002"/>
          </a:xfrm>
          <a:prstGeom prst="rect">
            <a:avLst/>
          </a:prstGeom>
          <a:effectLst>
            <a:outerShdw blurRad="50800" dist="38100" dir="2700000" algn="tl" rotWithShape="0">
              <a:prstClr val="black">
                <a:alpha val="40000"/>
              </a:prstClr>
            </a:outerShdw>
          </a:effectLst>
        </p:spPr>
      </p:pic>
      <p:pic>
        <p:nvPicPr>
          <p:cNvPr id="12" name="Picture 11">
            <a:extLst>
              <a:ext uri="{FF2B5EF4-FFF2-40B4-BE49-F238E27FC236}">
                <a16:creationId xmlns:a16="http://schemas.microsoft.com/office/drawing/2014/main" id="{0EBD9900-B390-3127-0FDC-D85342939527}"/>
              </a:ext>
            </a:extLst>
          </p:cNvPr>
          <p:cNvPicPr>
            <a:picLocks noChangeAspect="1"/>
          </p:cNvPicPr>
          <p:nvPr/>
        </p:nvPicPr>
        <p:blipFill rotWithShape="1">
          <a:blip r:embed="rId2"/>
          <a:srcRect t="83213"/>
          <a:stretch/>
        </p:blipFill>
        <p:spPr>
          <a:xfrm>
            <a:off x="2835538" y="3312386"/>
            <a:ext cx="8497486" cy="1028289"/>
          </a:xfrm>
          <a:prstGeom prst="rect">
            <a:avLst/>
          </a:prstGeom>
          <a:effectLst>
            <a:outerShdw blurRad="50800" dist="38100" dir="2700000" algn="tl" rotWithShape="0">
              <a:prstClr val="black">
                <a:alpha val="40000"/>
              </a:prstClr>
            </a:outerShdw>
          </a:effectLst>
        </p:spPr>
      </p:pic>
      <p:pic>
        <p:nvPicPr>
          <p:cNvPr id="16" name="Picture 15">
            <a:extLst>
              <a:ext uri="{FF2B5EF4-FFF2-40B4-BE49-F238E27FC236}">
                <a16:creationId xmlns:a16="http://schemas.microsoft.com/office/drawing/2014/main" id="{3FF3031D-4A84-5FB4-BCA3-DBB30043D1F4}"/>
              </a:ext>
            </a:extLst>
          </p:cNvPr>
          <p:cNvPicPr>
            <a:picLocks noChangeAspect="1"/>
          </p:cNvPicPr>
          <p:nvPr/>
        </p:nvPicPr>
        <p:blipFill>
          <a:blip r:embed="rId3"/>
          <a:stretch>
            <a:fillRect/>
          </a:stretch>
        </p:blipFill>
        <p:spPr>
          <a:xfrm>
            <a:off x="2606906" y="4399786"/>
            <a:ext cx="8726118" cy="2229161"/>
          </a:xfrm>
          <a:prstGeom prst="rect">
            <a:avLst/>
          </a:prstGeom>
        </p:spPr>
      </p:pic>
      <p:sp>
        <p:nvSpPr>
          <p:cNvPr id="17" name="Rectangle: Rounded Corners 16">
            <a:extLst>
              <a:ext uri="{FF2B5EF4-FFF2-40B4-BE49-F238E27FC236}">
                <a16:creationId xmlns:a16="http://schemas.microsoft.com/office/drawing/2014/main" id="{66231E54-A305-2948-CD55-B52716CFC21E}"/>
              </a:ext>
            </a:extLst>
          </p:cNvPr>
          <p:cNvSpPr/>
          <p:nvPr/>
        </p:nvSpPr>
        <p:spPr>
          <a:xfrm rot="16200000">
            <a:off x="10164702" y="2848748"/>
            <a:ext cx="2896513" cy="205562"/>
          </a:xfrm>
          <a:prstGeom prst="roundRect">
            <a:avLst/>
          </a:prstGeom>
          <a:solidFill>
            <a:srgbClr val="236356"/>
          </a:solidFill>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100" dirty="0">
                <a:latin typeface="Georgia" panose="02040502050405020303" pitchFamily="18" charset="0"/>
              </a:rPr>
              <a:t>pip </a:t>
            </a:r>
          </a:p>
        </p:txBody>
      </p:sp>
      <p:sp>
        <p:nvSpPr>
          <p:cNvPr id="18" name="Rectangle: Rounded Corners 17">
            <a:extLst>
              <a:ext uri="{FF2B5EF4-FFF2-40B4-BE49-F238E27FC236}">
                <a16:creationId xmlns:a16="http://schemas.microsoft.com/office/drawing/2014/main" id="{742F7382-03BE-B6DD-8C34-CF4D46EDAA80}"/>
              </a:ext>
            </a:extLst>
          </p:cNvPr>
          <p:cNvSpPr/>
          <p:nvPr/>
        </p:nvSpPr>
        <p:spPr>
          <a:xfrm rot="16200000">
            <a:off x="10496607" y="5411582"/>
            <a:ext cx="2229159" cy="205563"/>
          </a:xfrm>
          <a:prstGeom prst="roundRect">
            <a:avLst/>
          </a:prstGeom>
          <a:solidFill>
            <a:srgbClr val="94573F"/>
          </a:solidFill>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100" dirty="0" err="1">
                <a:latin typeface="Georgia" panose="02040502050405020303" pitchFamily="18" charset="0"/>
              </a:rPr>
              <a:t>conda</a:t>
            </a:r>
            <a:r>
              <a:rPr lang="en-US" sz="1100" dirty="0">
                <a:latin typeface="Georgia" panose="02040502050405020303" pitchFamily="18" charset="0"/>
              </a:rPr>
              <a:t> </a:t>
            </a:r>
          </a:p>
        </p:txBody>
      </p:sp>
    </p:spTree>
    <p:extLst>
      <p:ext uri="{BB962C8B-B14F-4D97-AF65-F5344CB8AC3E}">
        <p14:creationId xmlns:p14="http://schemas.microsoft.com/office/powerpoint/2010/main" val="6483343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3A5BB-0C31-13EB-868C-375443A8D6CB}"/>
              </a:ext>
            </a:extLst>
          </p:cNvPr>
          <p:cNvSpPr>
            <a:spLocks noGrp="1"/>
          </p:cNvSpPr>
          <p:nvPr>
            <p:ph type="title"/>
          </p:nvPr>
        </p:nvSpPr>
        <p:spPr/>
        <p:txBody>
          <a:bodyPr>
            <a:normAutofit/>
          </a:bodyPr>
          <a:lstStyle/>
          <a:p>
            <a:r>
              <a:rPr lang="en-US" i="1" dirty="0" err="1"/>
              <a:t>conda</a:t>
            </a:r>
            <a:r>
              <a:rPr lang="en-US" dirty="0" err="1"/>
              <a:t>’s</a:t>
            </a:r>
            <a:r>
              <a:rPr lang="en-US" dirty="0"/>
              <a:t> dependency manager can be a </a:t>
            </a:r>
            <a:r>
              <a:rPr lang="en-US" dirty="0">
                <a:solidFill>
                  <a:srgbClr val="94573F"/>
                </a:solidFill>
              </a:rPr>
              <a:t>horrible</a:t>
            </a:r>
            <a:r>
              <a:rPr lang="en-US" dirty="0"/>
              <a:t> user experience</a:t>
            </a:r>
            <a:endParaRPr lang="en-US" dirty="0">
              <a:solidFill>
                <a:srgbClr val="94573F"/>
              </a:solidFill>
            </a:endParaRPr>
          </a:p>
        </p:txBody>
      </p:sp>
      <p:pic>
        <p:nvPicPr>
          <p:cNvPr id="5" name="Picture 4">
            <a:extLst>
              <a:ext uri="{FF2B5EF4-FFF2-40B4-BE49-F238E27FC236}">
                <a16:creationId xmlns:a16="http://schemas.microsoft.com/office/drawing/2014/main" id="{7A63CC3C-004E-94DF-7239-B8EB3446CDCB}"/>
              </a:ext>
            </a:extLst>
          </p:cNvPr>
          <p:cNvPicPr>
            <a:picLocks noChangeAspect="1"/>
          </p:cNvPicPr>
          <p:nvPr/>
        </p:nvPicPr>
        <p:blipFill>
          <a:blip r:embed="rId2"/>
          <a:stretch>
            <a:fillRect/>
          </a:stretch>
        </p:blipFill>
        <p:spPr>
          <a:xfrm>
            <a:off x="1613862" y="2590930"/>
            <a:ext cx="8964276" cy="2267266"/>
          </a:xfrm>
          <a:prstGeom prst="rect">
            <a:avLst/>
          </a:prstGeom>
        </p:spPr>
      </p:pic>
    </p:spTree>
    <p:extLst>
      <p:ext uri="{BB962C8B-B14F-4D97-AF65-F5344CB8AC3E}">
        <p14:creationId xmlns:p14="http://schemas.microsoft.com/office/powerpoint/2010/main" val="21705643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3A5BB-0C31-13EB-868C-375443A8D6CB}"/>
              </a:ext>
            </a:extLst>
          </p:cNvPr>
          <p:cNvSpPr>
            <a:spLocks noGrp="1"/>
          </p:cNvSpPr>
          <p:nvPr>
            <p:ph type="title"/>
          </p:nvPr>
        </p:nvSpPr>
        <p:spPr/>
        <p:txBody>
          <a:bodyPr>
            <a:normAutofit/>
          </a:bodyPr>
          <a:lstStyle/>
          <a:p>
            <a:r>
              <a:rPr lang="en-US" i="1" dirty="0" err="1"/>
              <a:t>conda</a:t>
            </a:r>
            <a:r>
              <a:rPr lang="en-US" dirty="0" err="1"/>
              <a:t>’s</a:t>
            </a:r>
            <a:r>
              <a:rPr lang="en-US" dirty="0"/>
              <a:t> dependency manager can be a horrible user experience</a:t>
            </a:r>
            <a:endParaRPr lang="en-US" dirty="0">
              <a:solidFill>
                <a:srgbClr val="94573F"/>
              </a:solidFill>
            </a:endParaRPr>
          </a:p>
        </p:txBody>
      </p:sp>
      <p:sp>
        <p:nvSpPr>
          <p:cNvPr id="3" name="TextBox 2">
            <a:extLst>
              <a:ext uri="{FF2B5EF4-FFF2-40B4-BE49-F238E27FC236}">
                <a16:creationId xmlns:a16="http://schemas.microsoft.com/office/drawing/2014/main" id="{00461346-1976-C395-6B50-1A6494D01854}"/>
              </a:ext>
            </a:extLst>
          </p:cNvPr>
          <p:cNvSpPr txBox="1"/>
          <p:nvPr/>
        </p:nvSpPr>
        <p:spPr>
          <a:xfrm>
            <a:off x="838199" y="1883366"/>
            <a:ext cx="11176592" cy="2677656"/>
          </a:xfrm>
          <a:prstGeom prst="rect">
            <a:avLst/>
          </a:prstGeom>
          <a:noFill/>
        </p:spPr>
        <p:txBody>
          <a:bodyPr wrap="square">
            <a:spAutoFit/>
          </a:bodyPr>
          <a:lstStyle/>
          <a:p>
            <a:r>
              <a:rPr lang="en-US" sz="2800" dirty="0">
                <a:solidFill>
                  <a:srgbClr val="94573F"/>
                </a:solidFill>
                <a:latin typeface="Georgia" panose="02040502050405020303" pitchFamily="18" charset="0"/>
              </a:rPr>
              <a:t>Pro-tips:</a:t>
            </a:r>
          </a:p>
          <a:p>
            <a:endParaRPr lang="en-US" sz="2800" dirty="0">
              <a:solidFill>
                <a:srgbClr val="94573F"/>
              </a:solidFill>
              <a:latin typeface="Georgia" panose="02040502050405020303" pitchFamily="18" charset="0"/>
            </a:endParaRPr>
          </a:p>
          <a:p>
            <a:pPr marL="514350" indent="-514350">
              <a:buAutoNum type="arabicPeriod"/>
            </a:pPr>
            <a:r>
              <a:rPr lang="en-US" sz="2800" dirty="0">
                <a:solidFill>
                  <a:srgbClr val="94573F"/>
                </a:solidFill>
                <a:latin typeface="Georgia" panose="02040502050405020303" pitchFamily="18" charset="0"/>
              </a:rPr>
              <a:t>Use specific version numbers to reduce load on the dependency resolver</a:t>
            </a:r>
          </a:p>
          <a:p>
            <a:endParaRPr lang="en-US" sz="2800" dirty="0">
              <a:solidFill>
                <a:srgbClr val="94573F"/>
              </a:solidFill>
              <a:latin typeface="Georgia" panose="02040502050405020303" pitchFamily="18" charset="0"/>
            </a:endParaRPr>
          </a:p>
          <a:p>
            <a:pPr marL="342900" indent="-342900">
              <a:buAutoNum type="arabicPeriod"/>
            </a:pPr>
            <a:r>
              <a:rPr lang="en-US" sz="1600" strike="sngStrike" dirty="0">
                <a:solidFill>
                  <a:srgbClr val="94573F"/>
                </a:solidFill>
                <a:latin typeface="Georgia" panose="02040502050405020303" pitchFamily="18" charset="0"/>
              </a:rPr>
              <a:t>Use </a:t>
            </a:r>
            <a:r>
              <a:rPr lang="en-US" sz="1600" i="1" strike="sngStrike" dirty="0">
                <a:solidFill>
                  <a:srgbClr val="94573F"/>
                </a:solidFill>
                <a:latin typeface="Georgia" panose="02040502050405020303" pitchFamily="18" charset="0"/>
              </a:rPr>
              <a:t>mamba</a:t>
            </a:r>
            <a:r>
              <a:rPr lang="en-US" sz="1600" strike="sngStrike" dirty="0">
                <a:solidFill>
                  <a:srgbClr val="94573F"/>
                </a:solidFill>
                <a:latin typeface="Georgia" panose="02040502050405020303" pitchFamily="18" charset="0"/>
              </a:rPr>
              <a:t> solver: 50%-80% faster</a:t>
            </a:r>
            <a:r>
              <a:rPr lang="en-US" sz="1600" dirty="0">
                <a:solidFill>
                  <a:srgbClr val="94573F"/>
                </a:solidFill>
                <a:latin typeface="Georgia" panose="02040502050405020303" pitchFamily="18" charset="0"/>
              </a:rPr>
              <a:t>*</a:t>
            </a:r>
            <a:r>
              <a:rPr lang="en-US" sz="2800" dirty="0" err="1">
                <a:solidFill>
                  <a:srgbClr val="94573F"/>
                </a:solidFill>
                <a:latin typeface="Georgia" panose="02040502050405020303" pitchFamily="18" charset="0"/>
              </a:rPr>
              <a:t>libmamba</a:t>
            </a:r>
            <a:r>
              <a:rPr lang="en-US" sz="2800" dirty="0">
                <a:solidFill>
                  <a:srgbClr val="94573F"/>
                </a:solidFill>
                <a:latin typeface="Georgia" panose="02040502050405020303" pitchFamily="18" charset="0"/>
              </a:rPr>
              <a:t> is now the default solver</a:t>
            </a:r>
          </a:p>
        </p:txBody>
      </p:sp>
      <p:sp>
        <p:nvSpPr>
          <p:cNvPr id="4" name="Title 1">
            <a:extLst>
              <a:ext uri="{FF2B5EF4-FFF2-40B4-BE49-F238E27FC236}">
                <a16:creationId xmlns:a16="http://schemas.microsoft.com/office/drawing/2014/main" id="{149DEAC4-FAC3-8D5A-7625-3CF20690CFED}"/>
              </a:ext>
            </a:extLst>
          </p:cNvPr>
          <p:cNvSpPr txBox="1">
            <a:spLocks/>
          </p:cNvSpPr>
          <p:nvPr/>
        </p:nvSpPr>
        <p:spPr>
          <a:xfrm>
            <a:off x="2810165" y="3295563"/>
            <a:ext cx="7765473" cy="404825"/>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kern="1200">
                <a:solidFill>
                  <a:srgbClr val="236356"/>
                </a:solidFill>
                <a:latin typeface="Georgia" panose="02040502050405020303" pitchFamily="18" charset="0"/>
                <a:ea typeface="+mj-ea"/>
                <a:cs typeface="+mj-cs"/>
              </a:defRPr>
            </a:lvl1pPr>
          </a:lstStyle>
          <a:p>
            <a:r>
              <a:rPr lang="en-US" sz="2400" dirty="0" err="1">
                <a:solidFill>
                  <a:srgbClr val="00BDD6"/>
                </a:solidFill>
                <a:latin typeface="Consolas" panose="020B0609020204030204" pitchFamily="49" charset="0"/>
              </a:rPr>
              <a:t>conda</a:t>
            </a:r>
            <a:r>
              <a:rPr lang="en-US" sz="2400" dirty="0">
                <a:solidFill>
                  <a:srgbClr val="FA8900"/>
                </a:solidFill>
                <a:latin typeface="Consolas" panose="020B0609020204030204" pitchFamily="49" charset="0"/>
              </a:rPr>
              <a:t> </a:t>
            </a:r>
            <a:r>
              <a:rPr lang="en-US" sz="2400" dirty="0">
                <a:solidFill>
                  <a:srgbClr val="00B368"/>
                </a:solidFill>
                <a:latin typeface="Consolas" panose="020B0609020204030204" pitchFamily="49" charset="0"/>
              </a:rPr>
              <a:t>install </a:t>
            </a:r>
            <a:r>
              <a:rPr lang="en-US" sz="2400" dirty="0">
                <a:solidFill>
                  <a:srgbClr val="94573F"/>
                </a:solidFill>
                <a:latin typeface="Consolas" panose="020B0609020204030204" pitchFamily="49" charset="0"/>
              </a:rPr>
              <a:t>flask=3.0.2 pandas=2.2.0 </a:t>
            </a:r>
            <a:r>
              <a:rPr lang="en-US" sz="2400" dirty="0" err="1">
                <a:solidFill>
                  <a:srgbClr val="94573F"/>
                </a:solidFill>
                <a:latin typeface="Consolas" panose="020B0609020204030204" pitchFamily="49" charset="0"/>
              </a:rPr>
              <a:t>numpy</a:t>
            </a:r>
            <a:endParaRPr lang="en-US" sz="2400" dirty="0">
              <a:solidFill>
                <a:srgbClr val="94573F"/>
              </a:solidFill>
              <a:latin typeface="Consolas" panose="020B0609020204030204" pitchFamily="49" charset="0"/>
            </a:endParaRPr>
          </a:p>
        </p:txBody>
      </p:sp>
      <p:sp>
        <p:nvSpPr>
          <p:cNvPr id="7" name="TextBox 6">
            <a:extLst>
              <a:ext uri="{FF2B5EF4-FFF2-40B4-BE49-F238E27FC236}">
                <a16:creationId xmlns:a16="http://schemas.microsoft.com/office/drawing/2014/main" id="{379F4A1C-A9C9-BB04-6EC4-CE12CB30DC49}"/>
              </a:ext>
            </a:extLst>
          </p:cNvPr>
          <p:cNvSpPr txBox="1"/>
          <p:nvPr/>
        </p:nvSpPr>
        <p:spPr>
          <a:xfrm>
            <a:off x="7058891" y="6208401"/>
            <a:ext cx="4735945" cy="400110"/>
          </a:xfrm>
          <a:prstGeom prst="rect">
            <a:avLst/>
          </a:prstGeom>
          <a:noFill/>
        </p:spPr>
        <p:txBody>
          <a:bodyPr wrap="square">
            <a:spAutoFit/>
          </a:bodyPr>
          <a:lstStyle/>
          <a:p>
            <a:r>
              <a:rPr lang="en-US" sz="1000" dirty="0">
                <a:solidFill>
                  <a:srgbClr val="94573F"/>
                </a:solidFill>
                <a:latin typeface="Georgia" panose="02040502050405020303" pitchFamily="18" charset="0"/>
                <a:hlinkClick r:id="rId2"/>
              </a:rPr>
              <a:t>  *https://www.anaconda.com/blog/a-faster-conda-for-a-growing-community</a:t>
            </a:r>
            <a:endParaRPr lang="en-US" sz="1000" dirty="0">
              <a:solidFill>
                <a:srgbClr val="94573F"/>
              </a:solidFill>
              <a:latin typeface="Georgia" panose="02040502050405020303" pitchFamily="18" charset="0"/>
            </a:endParaRPr>
          </a:p>
          <a:p>
            <a:r>
              <a:rPr lang="en-US" sz="1000" dirty="0">
                <a:solidFill>
                  <a:srgbClr val="94573F"/>
                </a:solidFill>
                <a:latin typeface="Georgia" panose="02040502050405020303" pitchFamily="18" charset="0"/>
              </a:rPr>
              <a:t>** </a:t>
            </a:r>
            <a:r>
              <a:rPr lang="en-US" sz="1000" dirty="0">
                <a:solidFill>
                  <a:srgbClr val="94573F"/>
                </a:solidFill>
                <a:latin typeface="Georgia" panose="02040502050405020303" pitchFamily="18" charset="0"/>
                <a:hlinkClick r:id="rId3"/>
              </a:rPr>
              <a:t>https://mamba.readthedocs.io/</a:t>
            </a:r>
            <a:endParaRPr lang="en-US" sz="1000" dirty="0">
              <a:solidFill>
                <a:srgbClr val="94573F"/>
              </a:solidFill>
              <a:latin typeface="Georgia" panose="02040502050405020303" pitchFamily="18" charset="0"/>
            </a:endParaRPr>
          </a:p>
        </p:txBody>
      </p:sp>
      <p:sp>
        <p:nvSpPr>
          <p:cNvPr id="8" name="TextBox 7">
            <a:extLst>
              <a:ext uri="{FF2B5EF4-FFF2-40B4-BE49-F238E27FC236}">
                <a16:creationId xmlns:a16="http://schemas.microsoft.com/office/drawing/2014/main" id="{D83CDBE7-BE18-5FFD-4521-5724DE402F25}"/>
              </a:ext>
            </a:extLst>
          </p:cNvPr>
          <p:cNvSpPr txBox="1"/>
          <p:nvPr/>
        </p:nvSpPr>
        <p:spPr>
          <a:xfrm>
            <a:off x="1597890" y="4561022"/>
            <a:ext cx="9319491" cy="923330"/>
          </a:xfrm>
          <a:prstGeom prst="rect">
            <a:avLst/>
          </a:prstGeom>
          <a:noFill/>
        </p:spPr>
        <p:txBody>
          <a:bodyPr wrap="square" rtlCol="0">
            <a:spAutoFit/>
          </a:bodyPr>
          <a:lstStyle/>
          <a:p>
            <a:r>
              <a:rPr lang="en-US" dirty="0">
                <a:solidFill>
                  <a:srgbClr val="94573F"/>
                </a:solidFill>
                <a:latin typeface="Georgia" panose="02040502050405020303" pitchFamily="18" charset="0"/>
              </a:rPr>
              <a:t>The dependency solver for </a:t>
            </a:r>
            <a:r>
              <a:rPr lang="en-US" i="1" dirty="0" err="1">
                <a:solidFill>
                  <a:srgbClr val="94573F"/>
                </a:solidFill>
                <a:latin typeface="Georgia" panose="02040502050405020303" pitchFamily="18" charset="0"/>
              </a:rPr>
              <a:t>conda</a:t>
            </a:r>
            <a:r>
              <a:rPr lang="en-US" dirty="0">
                <a:solidFill>
                  <a:srgbClr val="94573F"/>
                </a:solidFill>
                <a:latin typeface="Georgia" panose="02040502050405020303" pitchFamily="18" charset="0"/>
              </a:rPr>
              <a:t> was getting so slow that prominent users were declaring it unusable. A drop-in replacement, called </a:t>
            </a:r>
            <a:r>
              <a:rPr lang="en-US" i="1" dirty="0">
                <a:solidFill>
                  <a:srgbClr val="94573F"/>
                </a:solidFill>
                <a:latin typeface="Georgia" panose="02040502050405020303" pitchFamily="18" charset="0"/>
              </a:rPr>
              <a:t>mamba**</a:t>
            </a:r>
            <a:r>
              <a:rPr lang="en-US" dirty="0">
                <a:solidFill>
                  <a:srgbClr val="94573F"/>
                </a:solidFill>
                <a:latin typeface="Georgia" panose="02040502050405020303" pitchFamily="18" charset="0"/>
              </a:rPr>
              <a:t>, was created. The resolver for </a:t>
            </a:r>
            <a:r>
              <a:rPr lang="en-US" i="1" dirty="0">
                <a:solidFill>
                  <a:srgbClr val="94573F"/>
                </a:solidFill>
                <a:latin typeface="Georgia" panose="02040502050405020303" pitchFamily="18" charset="0"/>
              </a:rPr>
              <a:t>mamba</a:t>
            </a:r>
            <a:r>
              <a:rPr lang="en-US" dirty="0">
                <a:solidFill>
                  <a:srgbClr val="94573F"/>
                </a:solidFill>
                <a:latin typeface="Georgia" panose="02040502050405020303" pitchFamily="18" charset="0"/>
              </a:rPr>
              <a:t> is now integrated into </a:t>
            </a:r>
            <a:r>
              <a:rPr lang="en-US" i="1" dirty="0" err="1">
                <a:solidFill>
                  <a:srgbClr val="94573F"/>
                </a:solidFill>
                <a:latin typeface="Georgia" panose="02040502050405020303" pitchFamily="18" charset="0"/>
              </a:rPr>
              <a:t>conda</a:t>
            </a:r>
            <a:r>
              <a:rPr lang="en-US" dirty="0">
                <a:solidFill>
                  <a:srgbClr val="94573F"/>
                </a:solidFill>
                <a:latin typeface="Georgia" panose="02040502050405020303" pitchFamily="18" charset="0"/>
              </a:rPr>
              <a:t>.</a:t>
            </a:r>
          </a:p>
        </p:txBody>
      </p:sp>
      <p:sp>
        <p:nvSpPr>
          <p:cNvPr id="10" name="TextBox 9">
            <a:extLst>
              <a:ext uri="{FF2B5EF4-FFF2-40B4-BE49-F238E27FC236}">
                <a16:creationId xmlns:a16="http://schemas.microsoft.com/office/drawing/2014/main" id="{1D2760AD-4F84-4AF7-FFA0-F1838E73C4E8}"/>
              </a:ext>
            </a:extLst>
          </p:cNvPr>
          <p:cNvSpPr txBox="1"/>
          <p:nvPr/>
        </p:nvSpPr>
        <p:spPr>
          <a:xfrm>
            <a:off x="1921164" y="5582707"/>
            <a:ext cx="6096000" cy="646331"/>
          </a:xfrm>
          <a:prstGeom prst="rect">
            <a:avLst/>
          </a:prstGeom>
          <a:noFill/>
        </p:spPr>
        <p:txBody>
          <a:bodyPr wrap="square">
            <a:spAutoFit/>
          </a:bodyPr>
          <a:lstStyle/>
          <a:p>
            <a:r>
              <a:rPr lang="en-US" b="0" dirty="0" err="1">
                <a:solidFill>
                  <a:srgbClr val="00BDD6"/>
                </a:solidFill>
                <a:effectLst/>
                <a:latin typeface="Consolas" panose="020B0609020204030204" pitchFamily="49" charset="0"/>
              </a:rPr>
              <a:t>conda</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config</a:t>
            </a:r>
            <a:r>
              <a:rPr lang="en-US" b="0" dirty="0">
                <a:solidFill>
                  <a:srgbClr val="FA8900"/>
                </a:solidFill>
                <a:effectLst/>
                <a:latin typeface="Consolas" panose="020B0609020204030204" pitchFamily="49" charset="0"/>
              </a:rPr>
              <a:t> </a:t>
            </a:r>
            <a:r>
              <a:rPr lang="en-US" b="0" dirty="0">
                <a:solidFill>
                  <a:srgbClr val="A88C00"/>
                </a:solidFill>
                <a:effectLst/>
                <a:latin typeface="Consolas" panose="020B0609020204030204" pitchFamily="49" charset="0"/>
              </a:rPr>
              <a:t>--show</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solver</a:t>
            </a:r>
            <a:endParaRPr lang="en-US" b="0" dirty="0">
              <a:solidFill>
                <a:srgbClr val="005661"/>
              </a:solidFill>
              <a:effectLst/>
              <a:latin typeface="Consolas" panose="020B0609020204030204" pitchFamily="49" charset="0"/>
            </a:endParaRPr>
          </a:p>
          <a:p>
            <a:r>
              <a:rPr lang="en-US" b="0" dirty="0" err="1">
                <a:solidFill>
                  <a:srgbClr val="00BDD6"/>
                </a:solidFill>
                <a:effectLst/>
                <a:latin typeface="Consolas" panose="020B0609020204030204" pitchFamily="49" charset="0"/>
              </a:rPr>
              <a:t>conda</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config</a:t>
            </a:r>
            <a:r>
              <a:rPr lang="en-US" b="0" dirty="0">
                <a:solidFill>
                  <a:srgbClr val="FA8900"/>
                </a:solidFill>
                <a:effectLst/>
                <a:latin typeface="Consolas" panose="020B0609020204030204" pitchFamily="49" charset="0"/>
              </a:rPr>
              <a:t> </a:t>
            </a:r>
            <a:r>
              <a:rPr lang="en-US" b="0" dirty="0">
                <a:solidFill>
                  <a:srgbClr val="A88C00"/>
                </a:solidFill>
                <a:effectLst/>
                <a:latin typeface="Consolas" panose="020B0609020204030204" pitchFamily="49" charset="0"/>
              </a:rPr>
              <a:t>--set</a:t>
            </a:r>
            <a:r>
              <a:rPr lang="en-US" b="0" dirty="0">
                <a:solidFill>
                  <a:srgbClr val="FA8900"/>
                </a:solidFill>
                <a:effectLst/>
                <a:latin typeface="Consolas" panose="020B0609020204030204" pitchFamily="49" charset="0"/>
              </a:rPr>
              <a:t> </a:t>
            </a:r>
            <a:r>
              <a:rPr lang="en-US" b="0" dirty="0">
                <a:solidFill>
                  <a:srgbClr val="00B368"/>
                </a:solidFill>
                <a:effectLst/>
                <a:latin typeface="Consolas" panose="020B0609020204030204" pitchFamily="49" charset="0"/>
              </a:rPr>
              <a:t>solver</a:t>
            </a:r>
            <a:r>
              <a:rPr lang="en-US" b="0" dirty="0">
                <a:solidFill>
                  <a:srgbClr val="FA8900"/>
                </a:solidFill>
                <a:effectLst/>
                <a:latin typeface="Consolas" panose="020B0609020204030204" pitchFamily="49" charset="0"/>
              </a:rPr>
              <a:t> </a:t>
            </a:r>
            <a:r>
              <a:rPr lang="en-US" b="0" dirty="0" err="1">
                <a:solidFill>
                  <a:srgbClr val="00B368"/>
                </a:solidFill>
                <a:effectLst/>
                <a:latin typeface="Consolas" panose="020B0609020204030204" pitchFamily="49" charset="0"/>
              </a:rPr>
              <a:t>libmamba</a:t>
            </a:r>
            <a:endParaRPr lang="en-US" b="0" dirty="0">
              <a:solidFill>
                <a:srgbClr val="005661"/>
              </a:solidFill>
              <a:effectLst/>
              <a:latin typeface="Consolas" panose="020B0609020204030204" pitchFamily="49" charset="0"/>
            </a:endParaRPr>
          </a:p>
        </p:txBody>
      </p:sp>
    </p:spTree>
    <p:extLst>
      <p:ext uri="{BB962C8B-B14F-4D97-AF65-F5344CB8AC3E}">
        <p14:creationId xmlns:p14="http://schemas.microsoft.com/office/powerpoint/2010/main" val="36940124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EBDA9-2AE8-407D-53DA-563F747F4A91}"/>
              </a:ext>
            </a:extLst>
          </p:cNvPr>
          <p:cNvSpPr>
            <a:spLocks noGrp="1"/>
          </p:cNvSpPr>
          <p:nvPr>
            <p:ph type="title"/>
          </p:nvPr>
        </p:nvSpPr>
        <p:spPr/>
        <p:txBody>
          <a:bodyPr>
            <a:normAutofit/>
          </a:bodyPr>
          <a:lstStyle/>
          <a:p>
            <a:r>
              <a:rPr lang="en-US" dirty="0"/>
              <a:t>Common package </a:t>
            </a:r>
            <a:r>
              <a:rPr lang="en-US" dirty="0" err="1"/>
              <a:t>mgmt</a:t>
            </a:r>
            <a:r>
              <a:rPr lang="en-US" dirty="0"/>
              <a:t> commands</a:t>
            </a:r>
          </a:p>
        </p:txBody>
      </p:sp>
      <p:graphicFrame>
        <p:nvGraphicFramePr>
          <p:cNvPr id="3" name="Table 2">
            <a:extLst>
              <a:ext uri="{FF2B5EF4-FFF2-40B4-BE49-F238E27FC236}">
                <a16:creationId xmlns:a16="http://schemas.microsoft.com/office/drawing/2014/main" id="{F1A99BE6-2B8A-F1C2-C549-5B9B9A51FD65}"/>
              </a:ext>
            </a:extLst>
          </p:cNvPr>
          <p:cNvGraphicFramePr>
            <a:graphicFrameLocks noGrp="1"/>
          </p:cNvGraphicFramePr>
          <p:nvPr>
            <p:extLst>
              <p:ext uri="{D42A27DB-BD31-4B8C-83A1-F6EECF244321}">
                <p14:modId xmlns:p14="http://schemas.microsoft.com/office/powerpoint/2010/main" val="2275692620"/>
              </p:ext>
            </p:extLst>
          </p:nvPr>
        </p:nvGraphicFramePr>
        <p:xfrm>
          <a:off x="480390" y="1845157"/>
          <a:ext cx="11223929" cy="2987040"/>
        </p:xfrm>
        <a:graphic>
          <a:graphicData uri="http://schemas.openxmlformats.org/drawingml/2006/table">
            <a:tbl>
              <a:tblPr firstRow="1" bandRow="1">
                <a:tableStyleId>{2D5ABB26-0587-4C30-8999-92F81FD0307C}</a:tableStyleId>
              </a:tblPr>
              <a:tblGrid>
                <a:gridCol w="2016320">
                  <a:extLst>
                    <a:ext uri="{9D8B030D-6E8A-4147-A177-3AD203B41FA5}">
                      <a16:colId xmlns:a16="http://schemas.microsoft.com/office/drawing/2014/main" val="1870553568"/>
                    </a:ext>
                  </a:extLst>
                </a:gridCol>
                <a:gridCol w="9207609">
                  <a:extLst>
                    <a:ext uri="{9D8B030D-6E8A-4147-A177-3AD203B41FA5}">
                      <a16:colId xmlns:a16="http://schemas.microsoft.com/office/drawing/2014/main" val="2072847954"/>
                    </a:ext>
                  </a:extLst>
                </a:gridCol>
              </a:tblGrid>
              <a:tr h="370840">
                <a:tc>
                  <a:txBody>
                    <a:bodyPr/>
                    <a:lstStyle/>
                    <a:p>
                      <a:pPr algn="r"/>
                      <a:r>
                        <a:rPr lang="en-US" sz="1200" dirty="0">
                          <a:solidFill>
                            <a:srgbClr val="94573F"/>
                          </a:solidFill>
                          <a:latin typeface="Georgia" panose="02040502050405020303" pitchFamily="18" charset="0"/>
                        </a:rPr>
                        <a:t>Search for a package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err="1">
                          <a:solidFill>
                            <a:srgbClr val="5842FF"/>
                          </a:solidFill>
                          <a:effectLst/>
                          <a:latin typeface="Consolas" panose="020B0609020204030204" pitchFamily="49" charset="0"/>
                        </a:rPr>
                        <a:t>|</a:t>
                      </a:r>
                      <a:r>
                        <a:rPr lang="en-US" sz="2200" b="0" dirty="0" err="1">
                          <a:solidFill>
                            <a:srgbClr val="00BDD6"/>
                          </a:solidFill>
                          <a:effectLst/>
                          <a:latin typeface="Consolas" panose="020B0609020204030204" pitchFamily="49" charset="0"/>
                        </a:rPr>
                        <a:t>pip</a:t>
                      </a:r>
                      <a:r>
                        <a:rPr lang="en-US" sz="2200" b="0" dirty="0">
                          <a:solidFill>
                            <a:srgbClr val="FA8900"/>
                          </a:solidFill>
                          <a:effectLst/>
                          <a:latin typeface="Consolas" panose="020B0609020204030204" pitchFamily="49" charset="0"/>
                        </a:rPr>
                        <a:t> search </a:t>
                      </a:r>
                      <a:r>
                        <a:rPr lang="en-US" sz="2200" b="0" dirty="0">
                          <a:solidFill>
                            <a:srgbClr val="00B368"/>
                          </a:solidFill>
                          <a:effectLst/>
                          <a:latin typeface="Consolas" panose="020B0609020204030204" pitchFamily="49" charset="0"/>
                        </a:rPr>
                        <a:t>PACKAGE_NAME</a:t>
                      </a:r>
                      <a:endParaRPr lang="en-US" sz="2200" b="0" dirty="0">
                        <a:solidFill>
                          <a:srgbClr val="005661"/>
                        </a:solidFill>
                        <a:effectLst/>
                        <a:latin typeface="Consolas" panose="020B0609020204030204" pitchFamily="49" charset="0"/>
                      </a:endParaRPr>
                    </a:p>
                  </a:txBody>
                  <a:tcPr/>
                </a:tc>
                <a:extLst>
                  <a:ext uri="{0D108BD9-81ED-4DB2-BD59-A6C34878D82A}">
                    <a16:rowId xmlns:a16="http://schemas.microsoft.com/office/drawing/2014/main" val="4187164875"/>
                  </a:ext>
                </a:extLst>
              </a:tr>
              <a:tr h="370840">
                <a:tc>
                  <a:txBody>
                    <a:bodyPr/>
                    <a:lstStyle/>
                    <a:p>
                      <a:pPr algn="r"/>
                      <a:r>
                        <a:rPr lang="en-US" sz="1200" dirty="0">
                          <a:solidFill>
                            <a:srgbClr val="94573F"/>
                          </a:solidFill>
                          <a:latin typeface="Georgia" panose="02040502050405020303" pitchFamily="18" charset="0"/>
                        </a:rPr>
                        <a:t>List all installed packages</a:t>
                      </a:r>
                    </a:p>
                  </a:txBody>
                  <a:tcPr>
                    <a:solidFill>
                      <a:srgbClr val="E4F5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err="1">
                          <a:solidFill>
                            <a:srgbClr val="5842FF"/>
                          </a:solidFill>
                          <a:effectLst/>
                          <a:latin typeface="Consolas" panose="020B0609020204030204" pitchFamily="49" charset="0"/>
                        </a:rPr>
                        <a:t>|</a:t>
                      </a:r>
                      <a:r>
                        <a:rPr lang="en-US" sz="2200" b="0" dirty="0" err="1">
                          <a:solidFill>
                            <a:srgbClr val="00BDD6"/>
                          </a:solidFill>
                          <a:effectLst/>
                          <a:latin typeface="Consolas" panose="020B0609020204030204" pitchFamily="49" charset="0"/>
                        </a:rPr>
                        <a:t>pip</a:t>
                      </a:r>
                      <a:r>
                        <a:rPr lang="en-US" sz="2200" b="0" dirty="0">
                          <a:solidFill>
                            <a:srgbClr val="FA8900"/>
                          </a:solidFill>
                          <a:effectLst/>
                          <a:latin typeface="Consolas" panose="020B0609020204030204" pitchFamily="49" charset="0"/>
                        </a:rPr>
                        <a:t> list </a:t>
                      </a:r>
                      <a:r>
                        <a:rPr lang="en-US" sz="2200" b="0" dirty="0">
                          <a:solidFill>
                            <a:schemeClr val="bg1">
                              <a:lumMod val="75000"/>
                            </a:schemeClr>
                          </a:solidFill>
                          <a:effectLst/>
                          <a:latin typeface="Consolas" panose="020B0609020204030204" pitchFamily="49" charset="0"/>
                        </a:rPr>
                        <a:t>|grep PACKAGE_NAME</a:t>
                      </a:r>
                    </a:p>
                  </a:txBody>
                  <a:tcPr>
                    <a:solidFill>
                      <a:srgbClr val="E4F5FF"/>
                    </a:solidFill>
                  </a:tcPr>
                </a:tc>
                <a:extLst>
                  <a:ext uri="{0D108BD9-81ED-4DB2-BD59-A6C34878D82A}">
                    <a16:rowId xmlns:a16="http://schemas.microsoft.com/office/drawing/2014/main" val="1678643494"/>
                  </a:ext>
                </a:extLst>
              </a:tr>
              <a:tr h="370840">
                <a:tc>
                  <a:txBody>
                    <a:bodyPr/>
                    <a:lstStyle/>
                    <a:p>
                      <a:pPr algn="r"/>
                      <a:r>
                        <a:rPr lang="en-US" sz="1200" dirty="0">
                          <a:solidFill>
                            <a:srgbClr val="94573F"/>
                          </a:solidFill>
                          <a:latin typeface="Georgia" panose="02040502050405020303" pitchFamily="18" charset="0"/>
                        </a:rPr>
                        <a:t>Install packages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err="1">
                          <a:solidFill>
                            <a:srgbClr val="5842FF"/>
                          </a:solidFill>
                          <a:effectLst/>
                          <a:latin typeface="Consolas" panose="020B0609020204030204" pitchFamily="49" charset="0"/>
                        </a:rPr>
                        <a:t>|</a:t>
                      </a:r>
                      <a:r>
                        <a:rPr lang="en-US" sz="2200" b="0" dirty="0" err="1">
                          <a:solidFill>
                            <a:srgbClr val="00BDD6"/>
                          </a:solidFill>
                          <a:effectLst/>
                          <a:latin typeface="Consolas" panose="020B0609020204030204" pitchFamily="49" charset="0"/>
                        </a:rPr>
                        <a:t>pip</a:t>
                      </a:r>
                      <a:r>
                        <a:rPr lang="en-US" sz="2200" b="0" dirty="0">
                          <a:solidFill>
                            <a:srgbClr val="FA8900"/>
                          </a:solidFill>
                          <a:effectLst/>
                          <a:latin typeface="Consolas" panose="020B0609020204030204" pitchFamily="49" charset="0"/>
                        </a:rPr>
                        <a:t> install </a:t>
                      </a:r>
                      <a:r>
                        <a:rPr lang="en-US" sz="2200" b="0" dirty="0">
                          <a:solidFill>
                            <a:srgbClr val="00B368"/>
                          </a:solidFill>
                          <a:effectLst/>
                          <a:latin typeface="Consolas" panose="020B0609020204030204" pitchFamily="49" charset="0"/>
                        </a:rPr>
                        <a:t>pandas=2.0 </a:t>
                      </a:r>
                      <a:r>
                        <a:rPr lang="en-US" sz="2200" b="0" dirty="0" err="1">
                          <a:solidFill>
                            <a:srgbClr val="00B368"/>
                          </a:solidFill>
                          <a:effectLst/>
                          <a:latin typeface="Consolas" panose="020B0609020204030204" pitchFamily="49" charset="0"/>
                        </a:rPr>
                        <a:t>numpy</a:t>
                      </a:r>
                      <a:r>
                        <a:rPr lang="en-US" sz="2200" b="0" dirty="0">
                          <a:solidFill>
                            <a:srgbClr val="00B368"/>
                          </a:solidFill>
                          <a:effectLst/>
                          <a:latin typeface="Consolas" panose="020B0609020204030204" pitchFamily="49" charset="0"/>
                        </a:rPr>
                        <a:t>=1.2</a:t>
                      </a:r>
                      <a:endParaRPr lang="en-US" sz="2200" b="0" dirty="0">
                        <a:solidFill>
                          <a:srgbClr val="005661"/>
                        </a:solidFill>
                        <a:effectLst/>
                        <a:latin typeface="Consolas" panose="020B0609020204030204" pitchFamily="49" charset="0"/>
                      </a:endParaRPr>
                    </a:p>
                  </a:txBody>
                  <a:tcPr/>
                </a:tc>
                <a:extLst>
                  <a:ext uri="{0D108BD9-81ED-4DB2-BD59-A6C34878D82A}">
                    <a16:rowId xmlns:a16="http://schemas.microsoft.com/office/drawing/2014/main" val="311572444"/>
                  </a:ext>
                </a:extLst>
              </a:tr>
              <a:tr h="370840">
                <a:tc>
                  <a:txBody>
                    <a:bodyPr/>
                    <a:lstStyle/>
                    <a:p>
                      <a:pPr algn="r"/>
                      <a:r>
                        <a:rPr lang="en-US" sz="1200" dirty="0">
                          <a:solidFill>
                            <a:srgbClr val="94573F"/>
                          </a:solidFill>
                          <a:latin typeface="Georgia" panose="02040502050405020303" pitchFamily="18" charset="0"/>
                        </a:rPr>
                        <a:t>Upgrade packages</a:t>
                      </a:r>
                    </a:p>
                  </a:txBody>
                  <a:tcPr>
                    <a:solidFill>
                      <a:srgbClr val="E4F5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update </a:t>
                      </a:r>
                      <a:r>
                        <a:rPr lang="en-US" sz="2200" b="0" dirty="0">
                          <a:solidFill>
                            <a:srgbClr val="00B368"/>
                          </a:solidFill>
                          <a:effectLst/>
                          <a:latin typeface="Consolas" panose="020B0609020204030204" pitchFamily="49" charset="0"/>
                        </a:rPr>
                        <a:t>pandas </a:t>
                      </a:r>
                      <a:r>
                        <a:rPr lang="en-US" sz="2200" b="0" dirty="0" err="1">
                          <a:solidFill>
                            <a:srgbClr val="00B368"/>
                          </a:solidFill>
                          <a:effectLst/>
                          <a:latin typeface="Consolas" panose="020B0609020204030204" pitchFamily="49" charset="0"/>
                        </a:rPr>
                        <a:t>numpy</a:t>
                      </a:r>
                      <a:endParaRPr lang="en-US" sz="2200" b="0" dirty="0">
                        <a:solidFill>
                          <a:srgbClr val="005661"/>
                        </a:solidFill>
                        <a:effectLst/>
                        <a:latin typeface="Consolas" panose="020B0609020204030204" pitchFamily="49" charset="0"/>
                      </a:endParaRPr>
                    </a:p>
                  </a:txBody>
                  <a:tcPr>
                    <a:solidFill>
                      <a:srgbClr val="E4F5FF"/>
                    </a:solidFill>
                  </a:tcPr>
                </a:tc>
                <a:extLst>
                  <a:ext uri="{0D108BD9-81ED-4DB2-BD59-A6C34878D82A}">
                    <a16:rowId xmlns:a16="http://schemas.microsoft.com/office/drawing/2014/main" val="2046452707"/>
                  </a:ext>
                </a:extLst>
              </a:tr>
              <a:tr h="370840">
                <a:tc>
                  <a:txBody>
                    <a:bodyPr/>
                    <a:lstStyle/>
                    <a:p>
                      <a:pPr algn="r"/>
                      <a:endParaRPr lang="en-US" sz="1200" dirty="0">
                        <a:solidFill>
                          <a:srgbClr val="94573F"/>
                        </a:solidFill>
                        <a:latin typeface="Georgia" panose="02040502050405020303" pitchFamily="18" charset="0"/>
                      </a:endParaRPr>
                    </a:p>
                  </a:txBody>
                  <a:tcPr>
                    <a:solidFill>
                      <a:srgbClr val="E4F5FF"/>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a:solidFill>
                            <a:srgbClr val="00BDD6"/>
                          </a:solidFill>
                          <a:effectLst/>
                          <a:latin typeface="Consolas" panose="020B0609020204030204" pitchFamily="49" charset="0"/>
                        </a:rPr>
                        <a:t>pip</a:t>
                      </a:r>
                      <a:r>
                        <a:rPr lang="en-US" sz="2200" b="0" dirty="0">
                          <a:solidFill>
                            <a:srgbClr val="FA8900"/>
                          </a:solidFill>
                          <a:effectLst/>
                          <a:latin typeface="Consolas" panose="020B0609020204030204" pitchFamily="49" charset="0"/>
                        </a:rPr>
                        <a:t> install </a:t>
                      </a:r>
                      <a:r>
                        <a:rPr lang="en-US" sz="2200" b="0" dirty="0">
                          <a:solidFill>
                            <a:srgbClr val="5842FF"/>
                          </a:solidFill>
                          <a:effectLst/>
                          <a:latin typeface="Consolas" panose="020B0609020204030204" pitchFamily="49" charset="0"/>
                        </a:rPr>
                        <a:t>-U </a:t>
                      </a:r>
                      <a:r>
                        <a:rPr lang="en-US" sz="2200" b="0" dirty="0">
                          <a:solidFill>
                            <a:srgbClr val="00B368"/>
                          </a:solidFill>
                          <a:effectLst/>
                          <a:latin typeface="Consolas" panose="020B0609020204030204" pitchFamily="49" charset="0"/>
                        </a:rPr>
                        <a:t>pandas </a:t>
                      </a:r>
                      <a:r>
                        <a:rPr lang="en-US" sz="2200" b="0" dirty="0" err="1">
                          <a:solidFill>
                            <a:srgbClr val="00B368"/>
                          </a:solidFill>
                          <a:effectLst/>
                          <a:latin typeface="Consolas" panose="020B0609020204030204" pitchFamily="49" charset="0"/>
                        </a:rPr>
                        <a:t>numpy</a:t>
                      </a:r>
                      <a:endParaRPr lang="en-US" sz="2200" b="0" dirty="0">
                        <a:solidFill>
                          <a:srgbClr val="005661"/>
                        </a:solidFill>
                        <a:effectLst/>
                        <a:latin typeface="Consolas" panose="020B0609020204030204" pitchFamily="49" charset="0"/>
                      </a:endParaRPr>
                    </a:p>
                  </a:txBody>
                  <a:tcPr>
                    <a:solidFill>
                      <a:srgbClr val="E4F5FF"/>
                    </a:solidFill>
                  </a:tcPr>
                </a:tc>
                <a:extLst>
                  <a:ext uri="{0D108BD9-81ED-4DB2-BD59-A6C34878D82A}">
                    <a16:rowId xmlns:a16="http://schemas.microsoft.com/office/drawing/2014/main" val="703498155"/>
                  </a:ext>
                </a:extLst>
              </a:tr>
              <a:tr h="370840">
                <a:tc>
                  <a:txBody>
                    <a:bodyPr/>
                    <a:lstStyle/>
                    <a:p>
                      <a:pPr algn="r"/>
                      <a:r>
                        <a:rPr lang="en-US" sz="1200" dirty="0">
                          <a:solidFill>
                            <a:srgbClr val="94573F"/>
                          </a:solidFill>
                          <a:latin typeface="Georgia" panose="02040502050405020303" pitchFamily="18" charset="0"/>
                        </a:rPr>
                        <a:t>Remove packages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err="1">
                          <a:solidFill>
                            <a:srgbClr val="00BDD6"/>
                          </a:solidFill>
                          <a:effectLst/>
                          <a:latin typeface="Consolas" panose="020B0609020204030204" pitchFamily="49" charset="0"/>
                        </a:rPr>
                        <a:t>conda</a:t>
                      </a:r>
                      <a:r>
                        <a:rPr lang="en-US" sz="2200" b="0" dirty="0">
                          <a:solidFill>
                            <a:srgbClr val="FA8900"/>
                          </a:solidFill>
                          <a:effectLst/>
                          <a:latin typeface="Consolas" panose="020B0609020204030204" pitchFamily="49" charset="0"/>
                        </a:rPr>
                        <a:t> remove </a:t>
                      </a:r>
                      <a:r>
                        <a:rPr lang="en-US" sz="2200" b="0" dirty="0">
                          <a:solidFill>
                            <a:srgbClr val="00B368"/>
                          </a:solidFill>
                          <a:effectLst/>
                          <a:latin typeface="Consolas" panose="020B0609020204030204" pitchFamily="49" charset="0"/>
                        </a:rPr>
                        <a:t>pandas </a:t>
                      </a:r>
                      <a:r>
                        <a:rPr lang="en-US" sz="2200" b="0" dirty="0" err="1">
                          <a:solidFill>
                            <a:srgbClr val="00B368"/>
                          </a:solidFill>
                          <a:effectLst/>
                          <a:latin typeface="Consolas" panose="020B0609020204030204" pitchFamily="49" charset="0"/>
                        </a:rPr>
                        <a:t>numpy</a:t>
                      </a:r>
                      <a:endParaRPr lang="en-US" sz="2200" b="0" dirty="0">
                        <a:solidFill>
                          <a:srgbClr val="005661"/>
                        </a:solidFill>
                        <a:effectLst/>
                        <a:latin typeface="Consolas" panose="020B0609020204030204" pitchFamily="49" charset="0"/>
                      </a:endParaRPr>
                    </a:p>
                  </a:txBody>
                  <a:tcPr/>
                </a:tc>
                <a:extLst>
                  <a:ext uri="{0D108BD9-81ED-4DB2-BD59-A6C34878D82A}">
                    <a16:rowId xmlns:a16="http://schemas.microsoft.com/office/drawing/2014/main" val="318939222"/>
                  </a:ext>
                </a:extLst>
              </a:tr>
              <a:tr h="370840">
                <a:tc>
                  <a:txBody>
                    <a:bodyPr/>
                    <a:lstStyle/>
                    <a:p>
                      <a:pPr algn="r"/>
                      <a:endParaRPr lang="en-US" sz="1200" dirty="0">
                        <a:solidFill>
                          <a:srgbClr val="94573F"/>
                        </a:solidFill>
                        <a:latin typeface="Georgia" panose="02040502050405020303" pitchFamily="18"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200" b="0" dirty="0">
                          <a:solidFill>
                            <a:srgbClr val="00BDD6"/>
                          </a:solidFill>
                          <a:effectLst/>
                          <a:latin typeface="Consolas" panose="020B0609020204030204" pitchFamily="49" charset="0"/>
                        </a:rPr>
                        <a:t>pip</a:t>
                      </a:r>
                      <a:r>
                        <a:rPr lang="en-US" sz="2200" b="0" dirty="0">
                          <a:solidFill>
                            <a:srgbClr val="FA8900"/>
                          </a:solidFill>
                          <a:effectLst/>
                          <a:latin typeface="Consolas" panose="020B0609020204030204" pitchFamily="49" charset="0"/>
                        </a:rPr>
                        <a:t> uninstall </a:t>
                      </a:r>
                      <a:r>
                        <a:rPr lang="en-US" sz="2200" b="0" dirty="0">
                          <a:solidFill>
                            <a:srgbClr val="00B368"/>
                          </a:solidFill>
                          <a:effectLst/>
                          <a:latin typeface="Consolas" panose="020B0609020204030204" pitchFamily="49" charset="0"/>
                        </a:rPr>
                        <a:t>pandas </a:t>
                      </a:r>
                      <a:r>
                        <a:rPr lang="en-US" sz="2200" b="0" dirty="0" err="1">
                          <a:solidFill>
                            <a:srgbClr val="00B368"/>
                          </a:solidFill>
                          <a:effectLst/>
                          <a:latin typeface="Consolas" panose="020B0609020204030204" pitchFamily="49" charset="0"/>
                        </a:rPr>
                        <a:t>numpy</a:t>
                      </a:r>
                      <a:endParaRPr lang="en-US" sz="2200" b="0" dirty="0">
                        <a:solidFill>
                          <a:srgbClr val="005661"/>
                        </a:solidFill>
                        <a:effectLst/>
                        <a:latin typeface="Consolas" panose="020B0609020204030204" pitchFamily="49" charset="0"/>
                      </a:endParaRPr>
                    </a:p>
                  </a:txBody>
                  <a:tcPr/>
                </a:tc>
                <a:extLst>
                  <a:ext uri="{0D108BD9-81ED-4DB2-BD59-A6C34878D82A}">
                    <a16:rowId xmlns:a16="http://schemas.microsoft.com/office/drawing/2014/main" val="1101349836"/>
                  </a:ext>
                </a:extLst>
              </a:tr>
            </a:tbl>
          </a:graphicData>
        </a:graphic>
      </p:graphicFrame>
      <p:sp>
        <p:nvSpPr>
          <p:cNvPr id="5" name="TextBox 4">
            <a:extLst>
              <a:ext uri="{FF2B5EF4-FFF2-40B4-BE49-F238E27FC236}">
                <a16:creationId xmlns:a16="http://schemas.microsoft.com/office/drawing/2014/main" id="{4D4A8329-B38F-5F1B-AAD4-2A9E66DF0420}"/>
              </a:ext>
            </a:extLst>
          </p:cNvPr>
          <p:cNvSpPr txBox="1"/>
          <p:nvPr/>
        </p:nvSpPr>
        <p:spPr>
          <a:xfrm>
            <a:off x="4686630" y="6246654"/>
            <a:ext cx="7264180" cy="246221"/>
          </a:xfrm>
          <a:prstGeom prst="rect">
            <a:avLst/>
          </a:prstGeom>
          <a:noFill/>
        </p:spPr>
        <p:txBody>
          <a:bodyPr wrap="square">
            <a:spAutoFit/>
          </a:bodyPr>
          <a:lstStyle/>
          <a:p>
            <a:r>
              <a:rPr lang="en-US" sz="1000" dirty="0">
                <a:solidFill>
                  <a:srgbClr val="94573F"/>
                </a:solidFill>
                <a:latin typeface="Georgia" panose="02040502050405020303" pitchFamily="18" charset="0"/>
              </a:rPr>
              <a:t>https://docs.conda.io/projects/conda/en/4.6.0/_downloads/52a95608c49671267e40c689e0bc00ca/conda-cheatsheet.pdf</a:t>
            </a:r>
          </a:p>
        </p:txBody>
      </p:sp>
    </p:spTree>
    <p:extLst>
      <p:ext uri="{BB962C8B-B14F-4D97-AF65-F5344CB8AC3E}">
        <p14:creationId xmlns:p14="http://schemas.microsoft.com/office/powerpoint/2010/main" val="331745995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C75BF-32A6-8413-89A0-0D0DD2D75BB5}"/>
              </a:ext>
            </a:extLst>
          </p:cNvPr>
          <p:cNvSpPr>
            <a:spLocks noGrp="1"/>
          </p:cNvSpPr>
          <p:nvPr>
            <p:ph type="title"/>
          </p:nvPr>
        </p:nvSpPr>
        <p:spPr/>
        <p:txBody>
          <a:bodyPr/>
          <a:lstStyle/>
          <a:p>
            <a:r>
              <a:rPr lang="en-US" dirty="0">
                <a:solidFill>
                  <a:srgbClr val="94573F"/>
                </a:solidFill>
              </a:rPr>
              <a:t>Appendix</a:t>
            </a:r>
          </a:p>
        </p:txBody>
      </p:sp>
      <p:sp>
        <p:nvSpPr>
          <p:cNvPr id="3" name="Text Placeholder 2">
            <a:extLst>
              <a:ext uri="{FF2B5EF4-FFF2-40B4-BE49-F238E27FC236}">
                <a16:creationId xmlns:a16="http://schemas.microsoft.com/office/drawing/2014/main" id="{9E10B199-63B1-60A3-4871-82A69475BD87}"/>
              </a:ext>
            </a:extLst>
          </p:cNvPr>
          <p:cNvSpPr>
            <a:spLocks noGrp="1"/>
          </p:cNvSpPr>
          <p:nvPr>
            <p:ph type="body" idx="1"/>
          </p:nvPr>
        </p:nvSpPr>
        <p:spPr/>
        <p:txBody>
          <a:bodyPr/>
          <a:lstStyle/>
          <a:p>
            <a:r>
              <a:rPr lang="en-US" dirty="0"/>
              <a:t>Some icons from https://icons8.com/</a:t>
            </a:r>
          </a:p>
        </p:txBody>
      </p:sp>
    </p:spTree>
    <p:extLst>
      <p:ext uri="{BB962C8B-B14F-4D97-AF65-F5344CB8AC3E}">
        <p14:creationId xmlns:p14="http://schemas.microsoft.com/office/powerpoint/2010/main" val="67083390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7F3F2D4-DE7F-6D53-CE86-318647C250E6}"/>
              </a:ext>
            </a:extLst>
          </p:cNvPr>
          <p:cNvSpPr txBox="1"/>
          <p:nvPr/>
        </p:nvSpPr>
        <p:spPr>
          <a:xfrm>
            <a:off x="203298" y="1060181"/>
            <a:ext cx="11785403" cy="5632311"/>
          </a:xfrm>
          <a:prstGeom prst="rect">
            <a:avLst/>
          </a:prstGeom>
          <a:noFill/>
        </p:spPr>
        <p:txBody>
          <a:bodyPr wrap="square" numCol="2">
            <a:spAutoFit/>
          </a:bodyPr>
          <a:lstStyle/>
          <a:p>
            <a:r>
              <a:rPr lang="en-US" sz="1000" b="0" i="1" dirty="0">
                <a:solidFill>
                  <a:srgbClr val="8CA6A6"/>
                </a:solidFill>
                <a:effectLst/>
                <a:latin typeface="Consolas" panose="020B0609020204030204" pitchFamily="49" charset="0"/>
              </a:rPr>
              <a:t>#!/usr/bin/env python</a:t>
            </a:r>
            <a:endParaRPr lang="en-US" sz="1000" b="0" dirty="0">
              <a:solidFill>
                <a:srgbClr val="005661"/>
              </a:solidFill>
              <a:effectLst/>
              <a:latin typeface="Consolas" panose="020B0609020204030204" pitchFamily="49" charset="0"/>
            </a:endParaRPr>
          </a:p>
          <a:p>
            <a:r>
              <a:rPr lang="en-US" sz="1000" b="0" i="1" dirty="0">
                <a:solidFill>
                  <a:srgbClr val="8CA6A6"/>
                </a:solidFill>
                <a:effectLst/>
                <a:latin typeface="Consolas" panose="020B0609020204030204" pitchFamily="49" charset="0"/>
              </a:rPr>
              <a:t># -*- coding: UTF-8 -*-</a:t>
            </a:r>
            <a:endParaRPr lang="en-US" sz="1000" b="0" dirty="0">
              <a:solidFill>
                <a:srgbClr val="005661"/>
              </a:solidFill>
              <a:effectLst/>
              <a:latin typeface="Consolas" panose="020B0609020204030204" pitchFamily="49" charset="0"/>
            </a:endParaRPr>
          </a:p>
          <a:p>
            <a:r>
              <a:rPr lang="en-US" sz="1000" b="0" i="1" dirty="0">
                <a:solidFill>
                  <a:srgbClr val="8CA6A6"/>
                </a:solidFill>
                <a:effectLst/>
                <a:latin typeface="Consolas" panose="020B0609020204030204" pitchFamily="49" charset="0"/>
              </a:rPr>
              <a:t># Source: https://gist.githubusercontent.com/markus-beuckelmann/8bc25531b11158431a5b09a45abd6276/raw/660904cb770197c3c841ab9b7084657b1aea5f32/numpy-benchmark.py</a:t>
            </a:r>
            <a:endParaRPr lang="en-US" sz="1000" b="0" dirty="0">
              <a:solidFill>
                <a:srgbClr val="005661"/>
              </a:solidFill>
              <a:effectLst/>
              <a:latin typeface="Consolas" panose="020B0609020204030204" pitchFamily="49" charset="0"/>
            </a:endParaRPr>
          </a:p>
          <a:p>
            <a:r>
              <a:rPr lang="en-US" sz="1000" b="0" i="1" dirty="0">
                <a:solidFill>
                  <a:srgbClr val="8CA6A6"/>
                </a:solidFill>
                <a:effectLst/>
                <a:latin typeface="Consolas" panose="020B0609020204030204" pitchFamily="49" charset="0"/>
              </a:rPr>
              <a:t># Roughly based on: http://stackoverflow.com/questions/11443302/compiling-numpy-with-openblas-integration</a:t>
            </a:r>
            <a:endParaRPr lang="en-US" sz="1000" b="0" dirty="0">
              <a:solidFill>
                <a:srgbClr val="005661"/>
              </a:solidFill>
              <a:effectLst/>
              <a:latin typeface="Consolas" panose="020B0609020204030204" pitchFamily="49" charset="0"/>
            </a:endParaRPr>
          </a:p>
          <a:p>
            <a:br>
              <a:rPr lang="en-US" sz="1000" b="0" dirty="0">
                <a:solidFill>
                  <a:srgbClr val="005661"/>
                </a:solidFill>
                <a:effectLst/>
                <a:latin typeface="Consolas" panose="020B0609020204030204" pitchFamily="49" charset="0"/>
              </a:rPr>
            </a:br>
            <a:r>
              <a:rPr lang="en-US" sz="1000" b="1" dirty="0">
                <a:solidFill>
                  <a:srgbClr val="FF5792"/>
                </a:solidFill>
                <a:effectLst/>
                <a:latin typeface="Consolas" panose="020B0609020204030204" pitchFamily="49" charset="0"/>
              </a:rPr>
              <a:t>from</a:t>
            </a:r>
            <a:r>
              <a:rPr lang="en-US" sz="1000" b="0" dirty="0">
                <a:solidFill>
                  <a:srgbClr val="FA8900"/>
                </a:solidFill>
                <a:effectLst/>
                <a:latin typeface="Consolas" panose="020B0609020204030204" pitchFamily="49" charset="0"/>
              </a:rPr>
              <a:t> </a:t>
            </a:r>
            <a:r>
              <a:rPr lang="en-US" sz="1000" b="0" dirty="0">
                <a:solidFill>
                  <a:srgbClr val="A88C00"/>
                </a:solidFill>
                <a:effectLst/>
                <a:latin typeface="Consolas" panose="020B0609020204030204" pitchFamily="49" charset="0"/>
              </a:rPr>
              <a:t>__future__</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import</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print_function</a:t>
            </a:r>
            <a:endParaRPr lang="en-US" sz="1000" b="0" dirty="0">
              <a:solidFill>
                <a:srgbClr val="005661"/>
              </a:solidFill>
              <a:effectLst/>
              <a:latin typeface="Consolas" panose="020B0609020204030204" pitchFamily="49" charset="0"/>
            </a:endParaRPr>
          </a:p>
          <a:p>
            <a:br>
              <a:rPr lang="en-US" sz="1000" b="0" dirty="0">
                <a:solidFill>
                  <a:srgbClr val="005661"/>
                </a:solidFill>
                <a:effectLst/>
                <a:latin typeface="Consolas" panose="020B0609020204030204" pitchFamily="49" charset="0"/>
              </a:rPr>
            </a:br>
            <a:r>
              <a:rPr lang="en-US" sz="1000" b="1" dirty="0">
                <a:solidFill>
                  <a:srgbClr val="FF5792"/>
                </a:solidFill>
                <a:effectLst/>
                <a:latin typeface="Consolas" panose="020B0609020204030204" pitchFamily="49" charset="0"/>
              </a:rPr>
              <a:t>import</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numpy</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as</a:t>
            </a:r>
            <a:r>
              <a:rPr lang="en-US" sz="1000" b="0" dirty="0">
                <a:solidFill>
                  <a:srgbClr val="FA8900"/>
                </a:solidFill>
                <a:effectLst/>
                <a:latin typeface="Consolas" panose="020B0609020204030204" pitchFamily="49" charset="0"/>
              </a:rPr>
              <a:t> np</a:t>
            </a:r>
            <a:endParaRPr lang="en-US" sz="1000" b="0" dirty="0">
              <a:solidFill>
                <a:srgbClr val="005661"/>
              </a:solidFill>
              <a:effectLst/>
              <a:latin typeface="Consolas" panose="020B0609020204030204" pitchFamily="49" charset="0"/>
            </a:endParaRPr>
          </a:p>
          <a:p>
            <a:r>
              <a:rPr lang="en-US" sz="1000" b="1" dirty="0">
                <a:solidFill>
                  <a:srgbClr val="FF5792"/>
                </a:solidFill>
                <a:effectLst/>
                <a:latin typeface="Consolas" panose="020B0609020204030204" pitchFamily="49" charset="0"/>
              </a:rPr>
              <a:t>from</a:t>
            </a:r>
            <a:r>
              <a:rPr lang="en-US" sz="1000" b="0" dirty="0">
                <a:solidFill>
                  <a:srgbClr val="FA8900"/>
                </a:solidFill>
                <a:effectLst/>
                <a:latin typeface="Consolas" panose="020B0609020204030204" pitchFamily="49" charset="0"/>
              </a:rPr>
              <a:t> time </a:t>
            </a:r>
            <a:r>
              <a:rPr lang="en-US" sz="1000" b="1" dirty="0">
                <a:solidFill>
                  <a:srgbClr val="FF5792"/>
                </a:solidFill>
                <a:effectLst/>
                <a:latin typeface="Consolas" panose="020B0609020204030204" pitchFamily="49" charset="0"/>
              </a:rPr>
              <a:t>import</a:t>
            </a:r>
            <a:r>
              <a:rPr lang="en-US" sz="1000" b="0" dirty="0">
                <a:solidFill>
                  <a:srgbClr val="FA8900"/>
                </a:solidFill>
                <a:effectLst/>
                <a:latin typeface="Consolas" panose="020B0609020204030204" pitchFamily="49" charset="0"/>
              </a:rPr>
              <a:t> time</a:t>
            </a:r>
            <a:endParaRPr lang="en-US" sz="1000" b="0" dirty="0">
              <a:solidFill>
                <a:srgbClr val="005661"/>
              </a:solidFill>
              <a:effectLst/>
              <a:latin typeface="Consolas" panose="020B0609020204030204" pitchFamily="49" charset="0"/>
            </a:endParaRPr>
          </a:p>
          <a:p>
            <a:br>
              <a:rPr lang="en-US" sz="1000" b="0" dirty="0">
                <a:solidFill>
                  <a:srgbClr val="005661"/>
                </a:solidFill>
                <a:effectLst/>
                <a:latin typeface="Consolas" panose="020B0609020204030204" pitchFamily="49" charset="0"/>
              </a:rPr>
            </a:br>
            <a:r>
              <a:rPr lang="en-US" sz="1000" b="0" i="1" dirty="0">
                <a:solidFill>
                  <a:srgbClr val="8CA6A6"/>
                </a:solidFill>
                <a:effectLst/>
                <a:latin typeface="Consolas" panose="020B0609020204030204" pitchFamily="49" charset="0"/>
              </a:rPr>
              <a:t># Let's take the randomness out of random numbers (for reproducibility)</a:t>
            </a:r>
            <a:endParaRPr lang="en-US" sz="1000" b="0" dirty="0">
              <a:solidFill>
                <a:srgbClr val="005661"/>
              </a:solidFill>
              <a:effectLst/>
              <a:latin typeface="Consolas" panose="020B0609020204030204" pitchFamily="49" charset="0"/>
            </a:endParaRPr>
          </a:p>
          <a:p>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random</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seed</a:t>
            </a:r>
            <a:r>
              <a:rPr lang="en-US" sz="1000" b="0" dirty="0">
                <a:solidFill>
                  <a:srgbClr val="004D57"/>
                </a:solidFill>
                <a:effectLst/>
                <a:latin typeface="Consolas" panose="020B0609020204030204" pitchFamily="49" charset="0"/>
              </a:rPr>
              <a:t>(</a:t>
            </a:r>
            <a:r>
              <a:rPr lang="en-US" sz="1000" b="0" dirty="0">
                <a:solidFill>
                  <a:srgbClr val="5842FF"/>
                </a:solidFill>
                <a:effectLst/>
                <a:latin typeface="Consolas" panose="020B0609020204030204" pitchFamily="49" charset="0"/>
              </a:rPr>
              <a:t>0</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br>
              <a:rPr lang="en-US" sz="1000" b="0" dirty="0">
                <a:solidFill>
                  <a:srgbClr val="005661"/>
                </a:solidFill>
                <a:effectLst/>
                <a:latin typeface="Consolas" panose="020B0609020204030204" pitchFamily="49" charset="0"/>
              </a:rPr>
            </a:b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1024</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A</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B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random</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random</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size</a:t>
            </a:r>
            <a:r>
              <a:rPr lang="en-US" sz="1000" b="0" dirty="0">
                <a:solidFill>
                  <a:srgbClr val="004D57"/>
                </a:solidFill>
                <a:effectLst/>
                <a:latin typeface="Consolas" panose="020B0609020204030204" pitchFamily="49" charset="0"/>
              </a:rPr>
              <a:t>))</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random</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random</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size</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C</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D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random</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random</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128</a:t>
            </a:r>
            <a:r>
              <a:rPr lang="en-US" sz="1000" b="1" dirty="0">
                <a:solidFill>
                  <a:srgbClr val="004D57"/>
                </a:solidFill>
                <a:effectLst/>
                <a:latin typeface="Consolas" panose="020B0609020204030204" pitchFamily="49" charset="0"/>
              </a:rPr>
              <a:t>,</a:t>
            </a:r>
            <a:r>
              <a:rPr lang="en-US" sz="1000" b="0" dirty="0">
                <a:solidFill>
                  <a:srgbClr val="004D57"/>
                </a:solidFill>
                <a:effectLst/>
                <a:latin typeface="Consolas" panose="020B0609020204030204" pitchFamily="49" charset="0"/>
              </a:rPr>
              <a:t>))</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random</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random</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128</a:t>
            </a:r>
            <a:r>
              <a:rPr lang="en-US" sz="1000" b="1" dirty="0">
                <a:solidFill>
                  <a:srgbClr val="004D57"/>
                </a:solidFill>
                <a:effectLst/>
                <a:latin typeface="Consolas" panose="020B0609020204030204" pitchFamily="49" charset="0"/>
              </a:rPr>
              <a:t>,</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random</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random</a:t>
            </a:r>
            <a:r>
              <a:rPr lang="en-US" sz="1000" b="0" dirty="0">
                <a:solidFill>
                  <a:srgbClr val="004D57"/>
                </a:solidFill>
                <a:effectLst/>
                <a:latin typeface="Consolas" panose="020B0609020204030204" pitchFamily="49" charset="0"/>
              </a:rPr>
              <a:t>((</a:t>
            </a:r>
            <a:r>
              <a:rPr lang="en-US" sz="1000" b="0" dirty="0">
                <a:solidFill>
                  <a:srgbClr val="0094F0"/>
                </a:solidFill>
                <a:effectLst/>
                <a:latin typeface="Consolas" panose="020B0609020204030204" pitchFamily="49" charset="0"/>
              </a:rPr>
              <a:t>int</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2</a:t>
            </a:r>
            <a:r>
              <a:rPr lang="en-US" sz="1000" b="0" dirty="0">
                <a:solidFill>
                  <a:srgbClr val="004D57"/>
                </a:solidFill>
                <a:effectLst/>
                <a:latin typeface="Consolas" panose="020B0609020204030204" pitchFamily="49" charset="0"/>
              </a:rPr>
              <a:t>)</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4F0"/>
                </a:solidFill>
                <a:effectLst/>
                <a:latin typeface="Consolas" panose="020B0609020204030204" pitchFamily="49" charset="0"/>
              </a:rPr>
              <a:t>int</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4</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F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random</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random</a:t>
            </a:r>
            <a:r>
              <a:rPr lang="en-US" sz="1000" b="0" dirty="0">
                <a:solidFill>
                  <a:srgbClr val="004D57"/>
                </a:solidFill>
                <a:effectLst/>
                <a:latin typeface="Consolas" panose="020B0609020204030204" pitchFamily="49" charset="0"/>
              </a:rPr>
              <a:t>((</a:t>
            </a:r>
            <a:r>
              <a:rPr lang="en-US" sz="1000" b="0" dirty="0">
                <a:solidFill>
                  <a:srgbClr val="0094F0"/>
                </a:solidFill>
                <a:effectLst/>
                <a:latin typeface="Consolas" panose="020B0609020204030204" pitchFamily="49" charset="0"/>
              </a:rPr>
              <a:t>int</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2</a:t>
            </a:r>
            <a:r>
              <a:rPr lang="en-US" sz="1000" b="0" dirty="0">
                <a:solidFill>
                  <a:srgbClr val="004D57"/>
                </a:solidFill>
                <a:effectLst/>
                <a:latin typeface="Consolas" panose="020B0609020204030204" pitchFamily="49" charset="0"/>
              </a:rPr>
              <a:t>)</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4F0"/>
                </a:solidFill>
                <a:effectLst/>
                <a:latin typeface="Consolas" panose="020B0609020204030204" pitchFamily="49" charset="0"/>
              </a:rPr>
              <a:t>int</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2</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F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np</a:t>
            </a:r>
            <a:r>
              <a:rPr lang="en-US" sz="1000" b="1" dirty="0">
                <a:solidFill>
                  <a:srgbClr val="004D57"/>
                </a:solidFill>
                <a:effectLst/>
                <a:latin typeface="Consolas" panose="020B0609020204030204" pitchFamily="49" charset="0"/>
              </a:rPr>
              <a:t>.</a:t>
            </a:r>
            <a:r>
              <a:rPr lang="en-US" sz="1000" b="0" dirty="0">
                <a:solidFill>
                  <a:srgbClr val="0095A8"/>
                </a:solidFill>
                <a:effectLst/>
                <a:latin typeface="Consolas" panose="020B0609020204030204" pitchFamily="49" charset="0"/>
              </a:rPr>
              <a:t>dot</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F</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F</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T</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G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random</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random</a:t>
            </a:r>
            <a:r>
              <a:rPr lang="en-US" sz="1000" b="0" dirty="0">
                <a:solidFill>
                  <a:srgbClr val="004D57"/>
                </a:solidFill>
                <a:effectLst/>
                <a:latin typeface="Consolas" panose="020B0609020204030204" pitchFamily="49" charset="0"/>
              </a:rPr>
              <a:t>((</a:t>
            </a:r>
            <a:r>
              <a:rPr lang="en-US" sz="1000" b="0" dirty="0">
                <a:solidFill>
                  <a:srgbClr val="0094F0"/>
                </a:solidFill>
                <a:effectLst/>
                <a:latin typeface="Consolas" panose="020B0609020204030204" pitchFamily="49" charset="0"/>
              </a:rPr>
              <a:t>int</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2</a:t>
            </a:r>
            <a:r>
              <a:rPr lang="en-US" sz="1000" b="0" dirty="0">
                <a:solidFill>
                  <a:srgbClr val="004D57"/>
                </a:solidFill>
                <a:effectLst/>
                <a:latin typeface="Consolas" panose="020B0609020204030204" pitchFamily="49" charset="0"/>
              </a:rPr>
              <a:t>)</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4F0"/>
                </a:solidFill>
                <a:effectLst/>
                <a:latin typeface="Consolas" panose="020B0609020204030204" pitchFamily="49" charset="0"/>
              </a:rPr>
              <a:t>int</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2</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br>
              <a:rPr lang="en-US" sz="1000" b="0" dirty="0">
                <a:solidFill>
                  <a:srgbClr val="005661"/>
                </a:solidFill>
                <a:effectLst/>
                <a:latin typeface="Consolas" panose="020B0609020204030204" pitchFamily="49" charset="0"/>
              </a:rPr>
            </a:br>
            <a:r>
              <a:rPr lang="en-US" sz="1000" b="0" i="1" dirty="0">
                <a:solidFill>
                  <a:srgbClr val="8CA6A6"/>
                </a:solidFill>
                <a:effectLst/>
                <a:latin typeface="Consolas" panose="020B0609020204030204" pitchFamily="49" charset="0"/>
              </a:rPr>
              <a:t># Matrix multiplication</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N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20</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5A8"/>
                </a:solidFill>
                <a:effectLst/>
                <a:latin typeface="Consolas" panose="020B0609020204030204" pitchFamily="49" charset="0"/>
              </a:rPr>
              <a:t>time</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1" dirty="0">
                <a:solidFill>
                  <a:srgbClr val="FF5792"/>
                </a:solidFill>
                <a:effectLst/>
                <a:latin typeface="Consolas" panose="020B0609020204030204" pitchFamily="49" charset="0"/>
              </a:rPr>
              <a:t>for</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i</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in</a:t>
            </a:r>
            <a:r>
              <a:rPr lang="en-US" sz="1000" b="0" dirty="0">
                <a:solidFill>
                  <a:srgbClr val="FA8900"/>
                </a:solidFill>
                <a:effectLst/>
                <a:latin typeface="Consolas" panose="020B0609020204030204" pitchFamily="49" charset="0"/>
              </a:rPr>
              <a:t> </a:t>
            </a:r>
            <a:r>
              <a:rPr lang="en-US" sz="1000" b="0" dirty="0">
                <a:solidFill>
                  <a:srgbClr val="00BDD6"/>
                </a:solidFill>
                <a:effectLst/>
                <a:latin typeface="Consolas" panose="020B0609020204030204" pitchFamily="49" charset="0"/>
              </a:rPr>
              <a:t>range</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N</a:t>
            </a:r>
            <a:r>
              <a:rPr lang="en-US" sz="1000" b="0" dirty="0">
                <a:solidFill>
                  <a:srgbClr val="004D57"/>
                </a:solidFill>
                <a:effectLst/>
                <a:latin typeface="Consolas" panose="020B0609020204030204" pitchFamily="49" charset="0"/>
              </a:rPr>
              <a:t>)</a:t>
            </a:r>
            <a:r>
              <a:rPr lang="en-US" sz="1000" b="1"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    np</a:t>
            </a:r>
            <a:r>
              <a:rPr lang="en-US" sz="1000" b="1" dirty="0">
                <a:solidFill>
                  <a:srgbClr val="004D57"/>
                </a:solidFill>
                <a:effectLst/>
                <a:latin typeface="Consolas" panose="020B0609020204030204" pitchFamily="49" charset="0"/>
              </a:rPr>
              <a:t>.</a:t>
            </a:r>
            <a:r>
              <a:rPr lang="en-US" sz="1000" b="0" dirty="0">
                <a:solidFill>
                  <a:srgbClr val="0095A8"/>
                </a:solidFill>
                <a:effectLst/>
                <a:latin typeface="Consolas" panose="020B0609020204030204" pitchFamily="49" charset="0"/>
              </a:rPr>
              <a:t>dot</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A</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B</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delta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5A8"/>
                </a:solidFill>
                <a:effectLst/>
                <a:latin typeface="Consolas" panose="020B0609020204030204" pitchFamily="49" charset="0"/>
              </a:rPr>
              <a:t>time</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print</a:t>
            </a:r>
            <a:r>
              <a:rPr lang="en-US" sz="1000" b="0" dirty="0">
                <a:solidFill>
                  <a:srgbClr val="004D57"/>
                </a:solidFill>
                <a:effectLst/>
                <a:latin typeface="Consolas" panose="020B0609020204030204" pitchFamily="49" charset="0"/>
              </a:rPr>
              <a:t>(</a:t>
            </a:r>
            <a:r>
              <a:rPr lang="en-US" sz="1000" b="0" dirty="0">
                <a:solidFill>
                  <a:srgbClr val="00B368"/>
                </a:solidFill>
                <a:effectLst/>
                <a:latin typeface="Consolas" panose="020B0609020204030204" pitchFamily="49" charset="0"/>
              </a:rPr>
              <a:t>'Dotted two </a:t>
            </a:r>
            <a:r>
              <a:rPr lang="en-US" sz="1000" b="0" dirty="0">
                <a:solidFill>
                  <a:srgbClr val="A88C00"/>
                </a:solidFill>
                <a:effectLst/>
                <a:latin typeface="Consolas" panose="020B0609020204030204" pitchFamily="49" charset="0"/>
              </a:rPr>
              <a:t>%</a:t>
            </a:r>
            <a:r>
              <a:rPr lang="en-US" sz="1000" b="0" dirty="0" err="1">
                <a:solidFill>
                  <a:srgbClr val="A88C00"/>
                </a:solidFill>
                <a:effectLst/>
                <a:latin typeface="Consolas" panose="020B0609020204030204" pitchFamily="49" charset="0"/>
              </a:rPr>
              <a:t>d</a:t>
            </a:r>
            <a:r>
              <a:rPr lang="en-US" sz="1000" b="0" dirty="0" err="1">
                <a:solidFill>
                  <a:srgbClr val="00B368"/>
                </a:solidFill>
                <a:effectLst/>
                <a:latin typeface="Consolas" panose="020B0609020204030204" pitchFamily="49" charset="0"/>
              </a:rPr>
              <a:t>x</a:t>
            </a:r>
            <a:r>
              <a:rPr lang="en-US" sz="1000" b="0" dirty="0" err="1">
                <a:solidFill>
                  <a:srgbClr val="A88C00"/>
                </a:solidFill>
                <a:effectLst/>
                <a:latin typeface="Consolas" panose="020B0609020204030204" pitchFamily="49" charset="0"/>
              </a:rPr>
              <a:t>%d</a:t>
            </a:r>
            <a:r>
              <a:rPr lang="en-US" sz="1000" b="0" dirty="0">
                <a:solidFill>
                  <a:srgbClr val="00B368"/>
                </a:solidFill>
                <a:effectLst/>
                <a:latin typeface="Consolas" panose="020B0609020204030204" pitchFamily="49" charset="0"/>
              </a:rPr>
              <a:t> matrices in </a:t>
            </a:r>
            <a:r>
              <a:rPr lang="en-US" sz="1000" b="0" dirty="0">
                <a:solidFill>
                  <a:srgbClr val="A88C00"/>
                </a:solidFill>
                <a:effectLst/>
                <a:latin typeface="Consolas" panose="020B0609020204030204" pitchFamily="49" charset="0"/>
              </a:rPr>
              <a:t>%0.2f</a:t>
            </a:r>
            <a:r>
              <a:rPr lang="en-US" sz="1000" b="0" dirty="0">
                <a:solidFill>
                  <a:srgbClr val="00B368"/>
                </a:solidFill>
                <a:effectLst/>
                <a:latin typeface="Consolas" panose="020B0609020204030204" pitchFamily="49" charset="0"/>
              </a:rPr>
              <a:t> s.'</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size</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delta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N</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1" dirty="0">
                <a:solidFill>
                  <a:srgbClr val="FF5792"/>
                </a:solidFill>
                <a:effectLst/>
                <a:latin typeface="Consolas" panose="020B0609020204030204" pitchFamily="49" charset="0"/>
              </a:rPr>
              <a:t>del</a:t>
            </a:r>
            <a:r>
              <a:rPr lang="en-US" sz="1000" b="0" dirty="0">
                <a:solidFill>
                  <a:srgbClr val="FA8900"/>
                </a:solidFill>
                <a:effectLst/>
                <a:latin typeface="Consolas" panose="020B0609020204030204" pitchFamily="49" charset="0"/>
              </a:rPr>
              <a:t> A</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B</a:t>
            </a:r>
            <a:endParaRPr lang="en-US" sz="1000" b="0" dirty="0">
              <a:solidFill>
                <a:srgbClr val="005661"/>
              </a:solidFill>
              <a:effectLst/>
              <a:latin typeface="Consolas" panose="020B0609020204030204" pitchFamily="49" charset="0"/>
            </a:endParaRPr>
          </a:p>
          <a:p>
            <a:br>
              <a:rPr lang="en-US" sz="1000" b="0" dirty="0">
                <a:solidFill>
                  <a:srgbClr val="005661"/>
                </a:solidFill>
                <a:effectLst/>
                <a:latin typeface="Consolas" panose="020B0609020204030204" pitchFamily="49" charset="0"/>
              </a:rPr>
            </a:br>
            <a:r>
              <a:rPr lang="en-US" sz="1000" b="0" i="1" dirty="0">
                <a:solidFill>
                  <a:srgbClr val="8CA6A6"/>
                </a:solidFill>
                <a:effectLst/>
                <a:latin typeface="Consolas" panose="020B0609020204030204" pitchFamily="49" charset="0"/>
              </a:rPr>
              <a:t># Vector multiplication</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N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5000</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5A8"/>
                </a:solidFill>
                <a:effectLst/>
                <a:latin typeface="Consolas" panose="020B0609020204030204" pitchFamily="49" charset="0"/>
              </a:rPr>
              <a:t>time</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1" dirty="0">
                <a:solidFill>
                  <a:srgbClr val="FF5792"/>
                </a:solidFill>
                <a:effectLst/>
                <a:latin typeface="Consolas" panose="020B0609020204030204" pitchFamily="49" charset="0"/>
              </a:rPr>
              <a:t>for</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i</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in</a:t>
            </a:r>
            <a:r>
              <a:rPr lang="en-US" sz="1000" b="0" dirty="0">
                <a:solidFill>
                  <a:srgbClr val="FA8900"/>
                </a:solidFill>
                <a:effectLst/>
                <a:latin typeface="Consolas" panose="020B0609020204030204" pitchFamily="49" charset="0"/>
              </a:rPr>
              <a:t> </a:t>
            </a:r>
            <a:r>
              <a:rPr lang="en-US" sz="1000" b="0" dirty="0">
                <a:solidFill>
                  <a:srgbClr val="00BDD6"/>
                </a:solidFill>
                <a:effectLst/>
                <a:latin typeface="Consolas" panose="020B0609020204030204" pitchFamily="49" charset="0"/>
              </a:rPr>
              <a:t>range</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N</a:t>
            </a:r>
            <a:r>
              <a:rPr lang="en-US" sz="1000" b="0" dirty="0">
                <a:solidFill>
                  <a:srgbClr val="004D57"/>
                </a:solidFill>
                <a:effectLst/>
                <a:latin typeface="Consolas" panose="020B0609020204030204" pitchFamily="49" charset="0"/>
              </a:rPr>
              <a:t>)</a:t>
            </a:r>
            <a:r>
              <a:rPr lang="en-US" sz="1000" b="1"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    np</a:t>
            </a:r>
            <a:r>
              <a:rPr lang="en-US" sz="1000" b="1" dirty="0">
                <a:solidFill>
                  <a:srgbClr val="004D57"/>
                </a:solidFill>
                <a:effectLst/>
                <a:latin typeface="Consolas" panose="020B0609020204030204" pitchFamily="49" charset="0"/>
              </a:rPr>
              <a:t>.</a:t>
            </a:r>
            <a:r>
              <a:rPr lang="en-US" sz="1000" b="0" dirty="0">
                <a:solidFill>
                  <a:srgbClr val="0095A8"/>
                </a:solidFill>
                <a:effectLst/>
                <a:latin typeface="Consolas" panose="020B0609020204030204" pitchFamily="49" charset="0"/>
              </a:rPr>
              <a:t>dot</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C</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D</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delta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5A8"/>
                </a:solidFill>
                <a:effectLst/>
                <a:latin typeface="Consolas" panose="020B0609020204030204" pitchFamily="49" charset="0"/>
              </a:rPr>
              <a:t>time</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print</a:t>
            </a:r>
            <a:r>
              <a:rPr lang="en-US" sz="1000" b="0" dirty="0">
                <a:solidFill>
                  <a:srgbClr val="004D57"/>
                </a:solidFill>
                <a:effectLst/>
                <a:latin typeface="Consolas" panose="020B0609020204030204" pitchFamily="49" charset="0"/>
              </a:rPr>
              <a:t>(</a:t>
            </a:r>
            <a:r>
              <a:rPr lang="en-US" sz="1000" b="0" dirty="0">
                <a:solidFill>
                  <a:srgbClr val="00B368"/>
                </a:solidFill>
                <a:effectLst/>
                <a:latin typeface="Consolas" panose="020B0609020204030204" pitchFamily="49" charset="0"/>
              </a:rPr>
              <a:t>'Dotted two vectors of length </a:t>
            </a:r>
            <a:r>
              <a:rPr lang="en-US" sz="1000" b="0" dirty="0">
                <a:solidFill>
                  <a:srgbClr val="A88C00"/>
                </a:solidFill>
                <a:effectLst/>
                <a:latin typeface="Consolas" panose="020B0609020204030204" pitchFamily="49" charset="0"/>
              </a:rPr>
              <a:t>%d</a:t>
            </a:r>
            <a:r>
              <a:rPr lang="en-US" sz="1000" b="0" dirty="0">
                <a:solidFill>
                  <a:srgbClr val="00B368"/>
                </a:solidFill>
                <a:effectLst/>
                <a:latin typeface="Consolas" panose="020B0609020204030204" pitchFamily="49" charset="0"/>
              </a:rPr>
              <a:t> in </a:t>
            </a:r>
            <a:r>
              <a:rPr lang="en-US" sz="1000" b="0" dirty="0">
                <a:solidFill>
                  <a:srgbClr val="A88C00"/>
                </a:solidFill>
                <a:effectLst/>
                <a:latin typeface="Consolas" panose="020B0609020204030204" pitchFamily="49" charset="0"/>
              </a:rPr>
              <a:t>%0.2f</a:t>
            </a:r>
            <a:r>
              <a:rPr lang="en-US" sz="1000" b="0" dirty="0">
                <a:solidFill>
                  <a:srgbClr val="00B368"/>
                </a:solidFill>
                <a:effectLst/>
                <a:latin typeface="Consolas" panose="020B0609020204030204" pitchFamily="49" charset="0"/>
              </a:rPr>
              <a:t> </a:t>
            </a:r>
            <a:r>
              <a:rPr lang="en-US" sz="1000" b="0" dirty="0" err="1">
                <a:solidFill>
                  <a:srgbClr val="00B368"/>
                </a:solidFill>
                <a:effectLst/>
                <a:latin typeface="Consolas" panose="020B0609020204030204" pitchFamily="49" charset="0"/>
              </a:rPr>
              <a:t>ms.</a:t>
            </a:r>
            <a:r>
              <a:rPr lang="en-US" sz="1000" b="0" dirty="0">
                <a:solidFill>
                  <a:srgbClr val="00B368"/>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128</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1e3</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delta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N</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1" dirty="0">
                <a:solidFill>
                  <a:srgbClr val="FF5792"/>
                </a:solidFill>
                <a:effectLst/>
                <a:latin typeface="Consolas" panose="020B0609020204030204" pitchFamily="49" charset="0"/>
              </a:rPr>
              <a:t>del</a:t>
            </a:r>
            <a:r>
              <a:rPr lang="en-US" sz="1000" b="0" dirty="0">
                <a:solidFill>
                  <a:srgbClr val="FA8900"/>
                </a:solidFill>
                <a:effectLst/>
                <a:latin typeface="Consolas" panose="020B0609020204030204" pitchFamily="49" charset="0"/>
              </a:rPr>
              <a:t> C</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D</a:t>
            </a:r>
            <a:endParaRPr lang="en-US" sz="1000" b="0" dirty="0">
              <a:solidFill>
                <a:srgbClr val="005661"/>
              </a:solidFill>
              <a:effectLst/>
              <a:latin typeface="Consolas" panose="020B0609020204030204" pitchFamily="49" charset="0"/>
            </a:endParaRPr>
          </a:p>
          <a:p>
            <a:br>
              <a:rPr lang="en-US" sz="1000" b="0" dirty="0">
                <a:solidFill>
                  <a:srgbClr val="005661"/>
                </a:solidFill>
                <a:effectLst/>
                <a:latin typeface="Consolas" panose="020B0609020204030204" pitchFamily="49" charset="0"/>
              </a:rPr>
            </a:br>
            <a:r>
              <a:rPr lang="en-US" sz="1000" b="0" i="1" dirty="0">
                <a:solidFill>
                  <a:srgbClr val="8CA6A6"/>
                </a:solidFill>
                <a:effectLst/>
                <a:latin typeface="Consolas" panose="020B0609020204030204" pitchFamily="49" charset="0"/>
              </a:rPr>
              <a:t># Singular Value Decomposition (SVD)</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N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3</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5A8"/>
                </a:solidFill>
                <a:effectLst/>
                <a:latin typeface="Consolas" panose="020B0609020204030204" pitchFamily="49" charset="0"/>
              </a:rPr>
              <a:t>time</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1" dirty="0">
                <a:solidFill>
                  <a:srgbClr val="FF5792"/>
                </a:solidFill>
                <a:effectLst/>
                <a:latin typeface="Consolas" panose="020B0609020204030204" pitchFamily="49" charset="0"/>
              </a:rPr>
              <a:t>for</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i</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in</a:t>
            </a:r>
            <a:r>
              <a:rPr lang="en-US" sz="1000" b="0" dirty="0">
                <a:solidFill>
                  <a:srgbClr val="FA8900"/>
                </a:solidFill>
                <a:effectLst/>
                <a:latin typeface="Consolas" panose="020B0609020204030204" pitchFamily="49" charset="0"/>
              </a:rPr>
              <a:t> </a:t>
            </a:r>
            <a:r>
              <a:rPr lang="en-US" sz="1000" b="0" dirty="0">
                <a:solidFill>
                  <a:srgbClr val="00BDD6"/>
                </a:solidFill>
                <a:effectLst/>
                <a:latin typeface="Consolas" panose="020B0609020204030204" pitchFamily="49" charset="0"/>
              </a:rPr>
              <a:t>range</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N</a:t>
            </a:r>
            <a:r>
              <a:rPr lang="en-US" sz="1000" b="0" dirty="0">
                <a:solidFill>
                  <a:srgbClr val="004D57"/>
                </a:solidFill>
                <a:effectLst/>
                <a:latin typeface="Consolas" panose="020B0609020204030204" pitchFamily="49" charset="0"/>
              </a:rPr>
              <a:t>)</a:t>
            </a:r>
            <a:r>
              <a:rPr lang="en-US" sz="1000" b="1"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linalg</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svd</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E</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1" dirty="0" err="1">
                <a:solidFill>
                  <a:srgbClr val="FA8900"/>
                </a:solidFill>
                <a:effectLst/>
                <a:latin typeface="Consolas" panose="020B0609020204030204" pitchFamily="49" charset="0"/>
              </a:rPr>
              <a:t>full_matrices</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False</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delta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5A8"/>
                </a:solidFill>
                <a:effectLst/>
                <a:latin typeface="Consolas" panose="020B0609020204030204" pitchFamily="49" charset="0"/>
              </a:rPr>
              <a:t>time</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print</a:t>
            </a:r>
            <a:r>
              <a:rPr lang="en-US" sz="1000" b="0" dirty="0">
                <a:solidFill>
                  <a:srgbClr val="004D57"/>
                </a:solidFill>
                <a:effectLst/>
                <a:latin typeface="Consolas" panose="020B0609020204030204" pitchFamily="49" charset="0"/>
              </a:rPr>
              <a:t>(</a:t>
            </a:r>
            <a:r>
              <a:rPr lang="en-US" sz="1000" b="0" dirty="0">
                <a:solidFill>
                  <a:srgbClr val="00B368"/>
                </a:solidFill>
                <a:effectLst/>
                <a:latin typeface="Consolas" panose="020B0609020204030204" pitchFamily="49" charset="0"/>
              </a:rPr>
              <a:t>"SVD of a </a:t>
            </a:r>
            <a:r>
              <a:rPr lang="en-US" sz="1000" b="0" dirty="0">
                <a:solidFill>
                  <a:srgbClr val="A88C00"/>
                </a:solidFill>
                <a:effectLst/>
                <a:latin typeface="Consolas" panose="020B0609020204030204" pitchFamily="49" charset="0"/>
              </a:rPr>
              <a:t>%</a:t>
            </a:r>
            <a:r>
              <a:rPr lang="en-US" sz="1000" b="0" dirty="0" err="1">
                <a:solidFill>
                  <a:srgbClr val="A88C00"/>
                </a:solidFill>
                <a:effectLst/>
                <a:latin typeface="Consolas" panose="020B0609020204030204" pitchFamily="49" charset="0"/>
              </a:rPr>
              <a:t>d</a:t>
            </a:r>
            <a:r>
              <a:rPr lang="en-US" sz="1000" b="0" dirty="0" err="1">
                <a:solidFill>
                  <a:srgbClr val="00B368"/>
                </a:solidFill>
                <a:effectLst/>
                <a:latin typeface="Consolas" panose="020B0609020204030204" pitchFamily="49" charset="0"/>
              </a:rPr>
              <a:t>x</a:t>
            </a:r>
            <a:r>
              <a:rPr lang="en-US" sz="1000" b="0" dirty="0" err="1">
                <a:solidFill>
                  <a:srgbClr val="A88C00"/>
                </a:solidFill>
                <a:effectLst/>
                <a:latin typeface="Consolas" panose="020B0609020204030204" pitchFamily="49" charset="0"/>
              </a:rPr>
              <a:t>%d</a:t>
            </a:r>
            <a:r>
              <a:rPr lang="en-US" sz="1000" b="0" dirty="0">
                <a:solidFill>
                  <a:srgbClr val="00B368"/>
                </a:solidFill>
                <a:effectLst/>
                <a:latin typeface="Consolas" panose="020B0609020204030204" pitchFamily="49" charset="0"/>
              </a:rPr>
              <a:t> matrix in </a:t>
            </a:r>
            <a:r>
              <a:rPr lang="en-US" sz="1000" b="0" dirty="0">
                <a:solidFill>
                  <a:srgbClr val="A88C00"/>
                </a:solidFill>
                <a:effectLst/>
                <a:latin typeface="Consolas" panose="020B0609020204030204" pitchFamily="49" charset="0"/>
              </a:rPr>
              <a:t>%0.2f</a:t>
            </a:r>
            <a:r>
              <a:rPr lang="en-US" sz="1000" b="0" dirty="0">
                <a:solidFill>
                  <a:srgbClr val="00B368"/>
                </a:solidFill>
                <a:effectLst/>
                <a:latin typeface="Consolas" panose="020B0609020204030204" pitchFamily="49" charset="0"/>
              </a:rPr>
              <a:t> s."</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2</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4</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delta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N</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1" dirty="0">
                <a:solidFill>
                  <a:srgbClr val="FF5792"/>
                </a:solidFill>
                <a:effectLst/>
                <a:latin typeface="Consolas" panose="020B0609020204030204" pitchFamily="49" charset="0"/>
              </a:rPr>
              <a:t>del</a:t>
            </a:r>
            <a:r>
              <a:rPr lang="en-US" sz="1000" b="0" dirty="0">
                <a:solidFill>
                  <a:srgbClr val="FA8900"/>
                </a:solidFill>
                <a:effectLst/>
                <a:latin typeface="Consolas" panose="020B0609020204030204" pitchFamily="49" charset="0"/>
              </a:rPr>
              <a:t> E</a:t>
            </a:r>
            <a:endParaRPr lang="en-US" sz="1000" b="0" dirty="0">
              <a:solidFill>
                <a:srgbClr val="005661"/>
              </a:solidFill>
              <a:effectLst/>
              <a:latin typeface="Consolas" panose="020B0609020204030204" pitchFamily="49" charset="0"/>
            </a:endParaRPr>
          </a:p>
          <a:p>
            <a:br>
              <a:rPr lang="en-US" sz="1000" b="0" dirty="0">
                <a:solidFill>
                  <a:srgbClr val="005661"/>
                </a:solidFill>
                <a:effectLst/>
                <a:latin typeface="Consolas" panose="020B0609020204030204" pitchFamily="49" charset="0"/>
              </a:rPr>
            </a:br>
            <a:r>
              <a:rPr lang="en-US" sz="1000" b="0" i="1" dirty="0">
                <a:solidFill>
                  <a:srgbClr val="8CA6A6"/>
                </a:solidFill>
                <a:effectLst/>
                <a:latin typeface="Consolas" panose="020B0609020204030204" pitchFamily="49" charset="0"/>
              </a:rPr>
              <a:t># Cholesky Decomposition</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N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3</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5A8"/>
                </a:solidFill>
                <a:effectLst/>
                <a:latin typeface="Consolas" panose="020B0609020204030204" pitchFamily="49" charset="0"/>
              </a:rPr>
              <a:t>time</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1" dirty="0">
                <a:solidFill>
                  <a:srgbClr val="FF5792"/>
                </a:solidFill>
                <a:effectLst/>
                <a:latin typeface="Consolas" panose="020B0609020204030204" pitchFamily="49" charset="0"/>
              </a:rPr>
              <a:t>for</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i</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in</a:t>
            </a:r>
            <a:r>
              <a:rPr lang="en-US" sz="1000" b="0" dirty="0">
                <a:solidFill>
                  <a:srgbClr val="FA8900"/>
                </a:solidFill>
                <a:effectLst/>
                <a:latin typeface="Consolas" panose="020B0609020204030204" pitchFamily="49" charset="0"/>
              </a:rPr>
              <a:t> </a:t>
            </a:r>
            <a:r>
              <a:rPr lang="en-US" sz="1000" b="0" dirty="0">
                <a:solidFill>
                  <a:srgbClr val="00BDD6"/>
                </a:solidFill>
                <a:effectLst/>
                <a:latin typeface="Consolas" panose="020B0609020204030204" pitchFamily="49" charset="0"/>
              </a:rPr>
              <a:t>range</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N</a:t>
            </a:r>
            <a:r>
              <a:rPr lang="en-US" sz="1000" b="0" dirty="0">
                <a:solidFill>
                  <a:srgbClr val="004D57"/>
                </a:solidFill>
                <a:effectLst/>
                <a:latin typeface="Consolas" panose="020B0609020204030204" pitchFamily="49" charset="0"/>
              </a:rPr>
              <a:t>)</a:t>
            </a:r>
            <a:r>
              <a:rPr lang="en-US" sz="1000" b="1"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linalg</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cholesky</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F</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delta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5A8"/>
                </a:solidFill>
                <a:effectLst/>
                <a:latin typeface="Consolas" panose="020B0609020204030204" pitchFamily="49" charset="0"/>
              </a:rPr>
              <a:t>time</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print</a:t>
            </a:r>
            <a:r>
              <a:rPr lang="en-US" sz="1000" b="0" dirty="0">
                <a:solidFill>
                  <a:srgbClr val="004D57"/>
                </a:solidFill>
                <a:effectLst/>
                <a:latin typeface="Consolas" panose="020B0609020204030204" pitchFamily="49" charset="0"/>
              </a:rPr>
              <a:t>(</a:t>
            </a:r>
            <a:r>
              <a:rPr lang="en-US" sz="1000" b="0" dirty="0">
                <a:solidFill>
                  <a:srgbClr val="00B368"/>
                </a:solidFill>
                <a:effectLst/>
                <a:latin typeface="Consolas" panose="020B0609020204030204" pitchFamily="49" charset="0"/>
              </a:rPr>
              <a:t>"Cholesky decomposition of a </a:t>
            </a:r>
            <a:r>
              <a:rPr lang="en-US" sz="1000" b="0" dirty="0">
                <a:solidFill>
                  <a:srgbClr val="A88C00"/>
                </a:solidFill>
                <a:effectLst/>
                <a:latin typeface="Consolas" panose="020B0609020204030204" pitchFamily="49" charset="0"/>
              </a:rPr>
              <a:t>%</a:t>
            </a:r>
            <a:r>
              <a:rPr lang="en-US" sz="1000" b="0" dirty="0" err="1">
                <a:solidFill>
                  <a:srgbClr val="A88C00"/>
                </a:solidFill>
                <a:effectLst/>
                <a:latin typeface="Consolas" panose="020B0609020204030204" pitchFamily="49" charset="0"/>
              </a:rPr>
              <a:t>d</a:t>
            </a:r>
            <a:r>
              <a:rPr lang="en-US" sz="1000" b="0" dirty="0" err="1">
                <a:solidFill>
                  <a:srgbClr val="00B368"/>
                </a:solidFill>
                <a:effectLst/>
                <a:latin typeface="Consolas" panose="020B0609020204030204" pitchFamily="49" charset="0"/>
              </a:rPr>
              <a:t>x</a:t>
            </a:r>
            <a:r>
              <a:rPr lang="en-US" sz="1000" b="0" dirty="0" err="1">
                <a:solidFill>
                  <a:srgbClr val="A88C00"/>
                </a:solidFill>
                <a:effectLst/>
                <a:latin typeface="Consolas" panose="020B0609020204030204" pitchFamily="49" charset="0"/>
              </a:rPr>
              <a:t>%d</a:t>
            </a:r>
            <a:r>
              <a:rPr lang="en-US" sz="1000" b="0" dirty="0">
                <a:solidFill>
                  <a:srgbClr val="00B368"/>
                </a:solidFill>
                <a:effectLst/>
                <a:latin typeface="Consolas" panose="020B0609020204030204" pitchFamily="49" charset="0"/>
              </a:rPr>
              <a:t> matrix in </a:t>
            </a:r>
            <a:r>
              <a:rPr lang="en-US" sz="1000" b="0" dirty="0">
                <a:solidFill>
                  <a:srgbClr val="A88C00"/>
                </a:solidFill>
                <a:effectLst/>
                <a:latin typeface="Consolas" panose="020B0609020204030204" pitchFamily="49" charset="0"/>
              </a:rPr>
              <a:t>%0.2f</a:t>
            </a:r>
            <a:r>
              <a:rPr lang="en-US" sz="1000" b="0" dirty="0">
                <a:solidFill>
                  <a:srgbClr val="00B368"/>
                </a:solidFill>
                <a:effectLst/>
                <a:latin typeface="Consolas" panose="020B0609020204030204" pitchFamily="49" charset="0"/>
              </a:rPr>
              <a:t> s."</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2</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2</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delta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N</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br>
              <a:rPr lang="en-US" sz="1000" b="0" dirty="0">
                <a:solidFill>
                  <a:srgbClr val="005661"/>
                </a:solidFill>
                <a:effectLst/>
                <a:latin typeface="Consolas" panose="020B0609020204030204" pitchFamily="49" charset="0"/>
              </a:rPr>
            </a:br>
            <a:r>
              <a:rPr lang="en-US" sz="1000" b="0" i="1" dirty="0">
                <a:solidFill>
                  <a:srgbClr val="8CA6A6"/>
                </a:solidFill>
                <a:effectLst/>
                <a:latin typeface="Consolas" panose="020B0609020204030204" pitchFamily="49" charset="0"/>
              </a:rPr>
              <a:t># </a:t>
            </a:r>
            <a:r>
              <a:rPr lang="en-US" sz="1000" b="0" i="1" dirty="0" err="1">
                <a:solidFill>
                  <a:srgbClr val="8CA6A6"/>
                </a:solidFill>
                <a:effectLst/>
                <a:latin typeface="Consolas" panose="020B0609020204030204" pitchFamily="49" charset="0"/>
              </a:rPr>
              <a:t>Eigendecomposition</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5A8"/>
                </a:solidFill>
                <a:effectLst/>
                <a:latin typeface="Consolas" panose="020B0609020204030204" pitchFamily="49" charset="0"/>
              </a:rPr>
              <a:t>time</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1" dirty="0">
                <a:solidFill>
                  <a:srgbClr val="FF5792"/>
                </a:solidFill>
                <a:effectLst/>
                <a:latin typeface="Consolas" panose="020B0609020204030204" pitchFamily="49" charset="0"/>
              </a:rPr>
              <a:t>for</a:t>
            </a:r>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i</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in</a:t>
            </a:r>
            <a:r>
              <a:rPr lang="en-US" sz="1000" b="0" dirty="0">
                <a:solidFill>
                  <a:srgbClr val="FA8900"/>
                </a:solidFill>
                <a:effectLst/>
                <a:latin typeface="Consolas" panose="020B0609020204030204" pitchFamily="49" charset="0"/>
              </a:rPr>
              <a:t> </a:t>
            </a:r>
            <a:r>
              <a:rPr lang="en-US" sz="1000" b="0" dirty="0">
                <a:solidFill>
                  <a:srgbClr val="00BDD6"/>
                </a:solidFill>
                <a:effectLst/>
                <a:latin typeface="Consolas" panose="020B0609020204030204" pitchFamily="49" charset="0"/>
              </a:rPr>
              <a:t>range</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N</a:t>
            </a:r>
            <a:r>
              <a:rPr lang="en-US" sz="1000" b="0" dirty="0">
                <a:solidFill>
                  <a:srgbClr val="004D57"/>
                </a:solidFill>
                <a:effectLst/>
                <a:latin typeface="Consolas" panose="020B0609020204030204" pitchFamily="49" charset="0"/>
              </a:rPr>
              <a:t>)</a:t>
            </a:r>
            <a:r>
              <a:rPr lang="en-US" sz="1000" b="1"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    </a:t>
            </a:r>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linalg</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eig</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G</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FA8900"/>
                </a:solidFill>
                <a:effectLst/>
                <a:latin typeface="Consolas" panose="020B0609020204030204" pitchFamily="49" charset="0"/>
              </a:rPr>
              <a:t>delta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95A8"/>
                </a:solidFill>
                <a:effectLst/>
                <a:latin typeface="Consolas" panose="020B0609020204030204" pitchFamily="49" charset="0"/>
              </a:rPr>
              <a:t>time</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print</a:t>
            </a:r>
            <a:r>
              <a:rPr lang="en-US" sz="1000" b="0" dirty="0">
                <a:solidFill>
                  <a:srgbClr val="004D57"/>
                </a:solidFill>
                <a:effectLst/>
                <a:latin typeface="Consolas" panose="020B0609020204030204" pitchFamily="49" charset="0"/>
              </a:rPr>
              <a:t>(</a:t>
            </a:r>
            <a:r>
              <a:rPr lang="en-US" sz="1000" b="0" dirty="0">
                <a:solidFill>
                  <a:srgbClr val="00B368"/>
                </a:solidFill>
                <a:effectLst/>
                <a:latin typeface="Consolas" panose="020B0609020204030204" pitchFamily="49" charset="0"/>
              </a:rPr>
              <a:t>"</a:t>
            </a:r>
            <a:r>
              <a:rPr lang="en-US" sz="1000" b="0" dirty="0" err="1">
                <a:solidFill>
                  <a:srgbClr val="00B368"/>
                </a:solidFill>
                <a:effectLst/>
                <a:latin typeface="Consolas" panose="020B0609020204030204" pitchFamily="49" charset="0"/>
              </a:rPr>
              <a:t>Eigendecomposition</a:t>
            </a:r>
            <a:r>
              <a:rPr lang="en-US" sz="1000" b="0" dirty="0">
                <a:solidFill>
                  <a:srgbClr val="00B368"/>
                </a:solidFill>
                <a:effectLst/>
                <a:latin typeface="Consolas" panose="020B0609020204030204" pitchFamily="49" charset="0"/>
              </a:rPr>
              <a:t> of a </a:t>
            </a:r>
            <a:r>
              <a:rPr lang="en-US" sz="1000" b="0" dirty="0">
                <a:solidFill>
                  <a:srgbClr val="A88C00"/>
                </a:solidFill>
                <a:effectLst/>
                <a:latin typeface="Consolas" panose="020B0609020204030204" pitchFamily="49" charset="0"/>
              </a:rPr>
              <a:t>%</a:t>
            </a:r>
            <a:r>
              <a:rPr lang="en-US" sz="1000" b="0" dirty="0" err="1">
                <a:solidFill>
                  <a:srgbClr val="A88C00"/>
                </a:solidFill>
                <a:effectLst/>
                <a:latin typeface="Consolas" panose="020B0609020204030204" pitchFamily="49" charset="0"/>
              </a:rPr>
              <a:t>d</a:t>
            </a:r>
            <a:r>
              <a:rPr lang="en-US" sz="1000" b="0" dirty="0" err="1">
                <a:solidFill>
                  <a:srgbClr val="00B368"/>
                </a:solidFill>
                <a:effectLst/>
                <a:latin typeface="Consolas" panose="020B0609020204030204" pitchFamily="49" charset="0"/>
              </a:rPr>
              <a:t>x</a:t>
            </a:r>
            <a:r>
              <a:rPr lang="en-US" sz="1000" b="0" dirty="0" err="1">
                <a:solidFill>
                  <a:srgbClr val="A88C00"/>
                </a:solidFill>
                <a:effectLst/>
                <a:latin typeface="Consolas" panose="020B0609020204030204" pitchFamily="49" charset="0"/>
              </a:rPr>
              <a:t>%d</a:t>
            </a:r>
            <a:r>
              <a:rPr lang="en-US" sz="1000" b="0" dirty="0">
                <a:solidFill>
                  <a:srgbClr val="00B368"/>
                </a:solidFill>
                <a:effectLst/>
                <a:latin typeface="Consolas" panose="020B0609020204030204" pitchFamily="49" charset="0"/>
              </a:rPr>
              <a:t> matrix in </a:t>
            </a:r>
            <a:r>
              <a:rPr lang="en-US" sz="1000" b="0" dirty="0">
                <a:solidFill>
                  <a:srgbClr val="A88C00"/>
                </a:solidFill>
                <a:effectLst/>
                <a:latin typeface="Consolas" panose="020B0609020204030204" pitchFamily="49" charset="0"/>
              </a:rPr>
              <a:t>%0.2f</a:t>
            </a:r>
            <a:r>
              <a:rPr lang="en-US" sz="1000" b="0" dirty="0">
                <a:solidFill>
                  <a:srgbClr val="00B368"/>
                </a:solidFill>
                <a:effectLst/>
                <a:latin typeface="Consolas" panose="020B0609020204030204" pitchFamily="49" charset="0"/>
              </a:rPr>
              <a:t> s."</a:t>
            </a:r>
            <a:r>
              <a:rPr lang="en-US" sz="1000" b="0" dirty="0">
                <a:solidFill>
                  <a:srgbClr val="FA8900"/>
                </a:solidFill>
                <a:effectLst/>
                <a:latin typeface="Consolas" panose="020B0609020204030204" pitchFamily="49" charset="0"/>
              </a:rPr>
              <a:t>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2</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size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a:t>
            </a:r>
            <a:r>
              <a:rPr lang="en-US" sz="1000" b="0" dirty="0">
                <a:solidFill>
                  <a:srgbClr val="5842FF"/>
                </a:solidFill>
                <a:effectLst/>
                <a:latin typeface="Consolas" panose="020B0609020204030204" pitchFamily="49" charset="0"/>
              </a:rPr>
              <a:t>2</a:t>
            </a:r>
            <a:r>
              <a:rPr lang="en-US" sz="1000" b="1" dirty="0">
                <a:solidFill>
                  <a:srgbClr val="004D57"/>
                </a:solidFill>
                <a:effectLst/>
                <a:latin typeface="Consolas" panose="020B0609020204030204" pitchFamily="49" charset="0"/>
              </a:rPr>
              <a:t>,</a:t>
            </a:r>
            <a:r>
              <a:rPr lang="en-US" sz="1000" b="0" dirty="0">
                <a:solidFill>
                  <a:srgbClr val="FA8900"/>
                </a:solidFill>
                <a:effectLst/>
                <a:latin typeface="Consolas" panose="020B0609020204030204" pitchFamily="49" charset="0"/>
              </a:rPr>
              <a:t> delta </a:t>
            </a:r>
            <a:r>
              <a:rPr lang="en-US" sz="1000" b="1" dirty="0">
                <a:solidFill>
                  <a:srgbClr val="FF5792"/>
                </a:solidFill>
                <a:effectLst/>
                <a:latin typeface="Consolas" panose="020B0609020204030204" pitchFamily="49" charset="0"/>
              </a:rPr>
              <a:t>/</a:t>
            </a:r>
            <a:r>
              <a:rPr lang="en-US" sz="1000" b="0" dirty="0">
                <a:solidFill>
                  <a:srgbClr val="FA8900"/>
                </a:solidFill>
                <a:effectLst/>
                <a:latin typeface="Consolas" panose="020B0609020204030204" pitchFamily="49" charset="0"/>
              </a:rPr>
              <a:t> N</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br>
              <a:rPr lang="en-US" sz="1000" b="0" dirty="0">
                <a:solidFill>
                  <a:srgbClr val="005661"/>
                </a:solidFill>
                <a:effectLst/>
                <a:latin typeface="Consolas" panose="020B0609020204030204" pitchFamily="49" charset="0"/>
              </a:rPr>
            </a:br>
            <a:r>
              <a:rPr lang="en-US" sz="1000" b="0" dirty="0">
                <a:solidFill>
                  <a:srgbClr val="00BDD6"/>
                </a:solidFill>
                <a:effectLst/>
                <a:latin typeface="Consolas" panose="020B0609020204030204" pitchFamily="49" charset="0"/>
              </a:rPr>
              <a:t>print</a:t>
            </a:r>
            <a:r>
              <a:rPr lang="en-US" sz="1000" b="0" dirty="0">
                <a:solidFill>
                  <a:srgbClr val="004D57"/>
                </a:solidFill>
                <a:effectLst/>
                <a:latin typeface="Consolas" panose="020B0609020204030204" pitchFamily="49" charset="0"/>
              </a:rPr>
              <a:t>(</a:t>
            </a:r>
            <a:r>
              <a:rPr lang="en-US" sz="1000" b="0" dirty="0">
                <a:solidFill>
                  <a:srgbClr val="00B368"/>
                </a:solidFill>
                <a:effectLst/>
                <a:latin typeface="Consolas" panose="020B0609020204030204" pitchFamily="49" charset="0"/>
              </a:rPr>
              <a:t>''</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a:solidFill>
                  <a:srgbClr val="00BDD6"/>
                </a:solidFill>
                <a:effectLst/>
                <a:latin typeface="Consolas" panose="020B0609020204030204" pitchFamily="49" charset="0"/>
              </a:rPr>
              <a:t>print</a:t>
            </a:r>
            <a:r>
              <a:rPr lang="en-US" sz="1000" b="0" dirty="0">
                <a:solidFill>
                  <a:srgbClr val="004D57"/>
                </a:solidFill>
                <a:effectLst/>
                <a:latin typeface="Consolas" panose="020B0609020204030204" pitchFamily="49" charset="0"/>
              </a:rPr>
              <a:t>(</a:t>
            </a:r>
            <a:r>
              <a:rPr lang="en-US" sz="1000" b="0" dirty="0">
                <a:solidFill>
                  <a:srgbClr val="00B368"/>
                </a:solidFill>
                <a:effectLst/>
                <a:latin typeface="Consolas" panose="020B0609020204030204" pitchFamily="49" charset="0"/>
              </a:rPr>
              <a:t>'This was obtained using the following </a:t>
            </a:r>
            <a:r>
              <a:rPr lang="en-US" sz="1000" b="0" dirty="0" err="1">
                <a:solidFill>
                  <a:srgbClr val="00B368"/>
                </a:solidFill>
                <a:effectLst/>
                <a:latin typeface="Consolas" panose="020B0609020204030204" pitchFamily="49" charset="0"/>
              </a:rPr>
              <a:t>Numpy</a:t>
            </a:r>
            <a:r>
              <a:rPr lang="en-US" sz="1000" b="0" dirty="0">
                <a:solidFill>
                  <a:srgbClr val="00B368"/>
                </a:solidFill>
                <a:effectLst/>
                <a:latin typeface="Consolas" panose="020B0609020204030204" pitchFamily="49" charset="0"/>
              </a:rPr>
              <a:t> configuration:'</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a:p>
            <a:r>
              <a:rPr lang="en-US" sz="1000" b="0" dirty="0" err="1">
                <a:solidFill>
                  <a:srgbClr val="FA8900"/>
                </a:solidFill>
                <a:effectLst/>
                <a:latin typeface="Consolas" panose="020B0609020204030204" pitchFamily="49" charset="0"/>
              </a:rPr>
              <a:t>np</a:t>
            </a:r>
            <a:r>
              <a:rPr lang="en-US" sz="1000" b="1" dirty="0" err="1">
                <a:solidFill>
                  <a:srgbClr val="004D57"/>
                </a:solidFill>
                <a:effectLst/>
                <a:latin typeface="Consolas" panose="020B0609020204030204" pitchFamily="49" charset="0"/>
              </a:rPr>
              <a:t>.</a:t>
            </a:r>
            <a:r>
              <a:rPr lang="en-US" sz="1000" b="0" dirty="0" err="1">
                <a:solidFill>
                  <a:srgbClr val="FA8900"/>
                </a:solidFill>
                <a:effectLst/>
                <a:latin typeface="Consolas" panose="020B0609020204030204" pitchFamily="49" charset="0"/>
              </a:rPr>
              <a:t>__config__</a:t>
            </a:r>
            <a:r>
              <a:rPr lang="en-US" sz="1000" b="1" dirty="0" err="1">
                <a:solidFill>
                  <a:srgbClr val="004D57"/>
                </a:solidFill>
                <a:effectLst/>
                <a:latin typeface="Consolas" panose="020B0609020204030204" pitchFamily="49" charset="0"/>
              </a:rPr>
              <a:t>.</a:t>
            </a:r>
            <a:r>
              <a:rPr lang="en-US" sz="1000" b="0" dirty="0" err="1">
                <a:solidFill>
                  <a:srgbClr val="0095A8"/>
                </a:solidFill>
                <a:effectLst/>
                <a:latin typeface="Consolas" panose="020B0609020204030204" pitchFamily="49" charset="0"/>
              </a:rPr>
              <a:t>show</a:t>
            </a:r>
            <a:r>
              <a:rPr lang="en-US" sz="1000" b="0" dirty="0">
                <a:solidFill>
                  <a:srgbClr val="004D57"/>
                </a:solidFill>
                <a:effectLst/>
                <a:latin typeface="Consolas" panose="020B0609020204030204" pitchFamily="49" charset="0"/>
              </a:rPr>
              <a:t>()</a:t>
            </a:r>
            <a:endParaRPr lang="en-US" sz="1000" b="0" dirty="0">
              <a:solidFill>
                <a:srgbClr val="005661"/>
              </a:solidFill>
              <a:effectLst/>
              <a:latin typeface="Consolas" panose="020B0609020204030204" pitchFamily="49" charset="0"/>
            </a:endParaRPr>
          </a:p>
        </p:txBody>
      </p:sp>
      <p:sp>
        <p:nvSpPr>
          <p:cNvPr id="4" name="Title 1">
            <a:extLst>
              <a:ext uri="{FF2B5EF4-FFF2-40B4-BE49-F238E27FC236}">
                <a16:creationId xmlns:a16="http://schemas.microsoft.com/office/drawing/2014/main" id="{44020F98-4E82-FB8E-177A-9B9C3FBF35E6}"/>
              </a:ext>
            </a:extLst>
          </p:cNvPr>
          <p:cNvSpPr txBox="1">
            <a:spLocks/>
          </p:cNvSpPr>
          <p:nvPr/>
        </p:nvSpPr>
        <p:spPr>
          <a:xfrm>
            <a:off x="838199" y="365126"/>
            <a:ext cx="11015949" cy="695055"/>
          </a:xfrm>
          <a:prstGeom prst="rect">
            <a:avLst/>
          </a:prstGeom>
        </p:spPr>
        <p:txBody>
          <a:bodyPr>
            <a:normAutofit/>
          </a:bodyPr>
          <a:lstStyle>
            <a:lvl1pPr algn="l" defTabSz="914400" rtl="0" eaLnBrk="1" latinLnBrk="0" hangingPunct="1">
              <a:lnSpc>
                <a:spcPct val="90000"/>
              </a:lnSpc>
              <a:spcBef>
                <a:spcPct val="0"/>
              </a:spcBef>
              <a:buNone/>
              <a:defRPr sz="4400" kern="1200">
                <a:solidFill>
                  <a:srgbClr val="236356"/>
                </a:solidFill>
                <a:latin typeface="Georgia" panose="02040502050405020303" pitchFamily="18" charset="0"/>
                <a:ea typeface="+mj-ea"/>
                <a:cs typeface="+mj-cs"/>
              </a:defRPr>
            </a:lvl1pPr>
          </a:lstStyle>
          <a:p>
            <a:r>
              <a:rPr lang="en-US" dirty="0"/>
              <a:t>Benchmark code</a:t>
            </a:r>
          </a:p>
        </p:txBody>
      </p:sp>
    </p:spTree>
    <p:extLst>
      <p:ext uri="{BB962C8B-B14F-4D97-AF65-F5344CB8AC3E}">
        <p14:creationId xmlns:p14="http://schemas.microsoft.com/office/powerpoint/2010/main" val="37298470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0AB8A2C-3693-6821-3EA8-C78153322652}"/>
              </a:ext>
            </a:extLst>
          </p:cNvPr>
          <p:cNvSpPr txBox="1"/>
          <p:nvPr/>
        </p:nvSpPr>
        <p:spPr>
          <a:xfrm>
            <a:off x="1264257" y="1272209"/>
            <a:ext cx="3365280" cy="369332"/>
          </a:xfrm>
          <a:prstGeom prst="rect">
            <a:avLst/>
          </a:prstGeom>
          <a:noFill/>
        </p:spPr>
        <p:txBody>
          <a:bodyPr wrap="none" rtlCol="0">
            <a:spAutoFit/>
          </a:bodyPr>
          <a:lstStyle/>
          <a:p>
            <a:r>
              <a:rPr lang="en-US" dirty="0"/>
              <a:t>Uses </a:t>
            </a:r>
            <a:r>
              <a:rPr lang="en-US" dirty="0" err="1"/>
              <a:t>noctix</a:t>
            </a:r>
            <a:r>
              <a:rPr lang="en-US" dirty="0"/>
              <a:t> lux theme on VS Code</a:t>
            </a:r>
          </a:p>
        </p:txBody>
      </p:sp>
    </p:spTree>
    <p:extLst>
      <p:ext uri="{BB962C8B-B14F-4D97-AF65-F5344CB8AC3E}">
        <p14:creationId xmlns:p14="http://schemas.microsoft.com/office/powerpoint/2010/main" val="7901011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24901</TotalTime>
  <Words>6692</Words>
  <Application>Microsoft Macintosh PowerPoint</Application>
  <PresentationFormat>Widescreen</PresentationFormat>
  <Paragraphs>972</Paragraphs>
  <Slides>51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51</vt:i4>
      </vt:variant>
    </vt:vector>
  </HeadingPairs>
  <TitlesOfParts>
    <vt:vector size="56" baseType="lpstr">
      <vt:lpstr>Arial</vt:lpstr>
      <vt:lpstr>Calibri</vt:lpstr>
      <vt:lpstr>Consolas</vt:lpstr>
      <vt:lpstr>Georgia</vt:lpstr>
      <vt:lpstr>Office Theme</vt:lpstr>
      <vt:lpstr>Python environment and package management</vt:lpstr>
      <vt:lpstr>Environment management</vt:lpstr>
      <vt:lpstr>Virtual machines simulate isolated computers</vt:lpstr>
      <vt:lpstr>Containers, such as docker, simulate isolated processes</vt:lpstr>
      <vt:lpstr>Environment managers isolate configurations</vt:lpstr>
      <vt:lpstr>Environment managers isolate configurations</vt:lpstr>
      <vt:lpstr>Envs are … mostly, a change in PATH</vt:lpstr>
      <vt:lpstr>Envs are … mostly, a change in PATH</vt:lpstr>
      <vt:lpstr>Poor man’s version of conda</vt:lpstr>
      <vt:lpstr>Creation of a new env means</vt:lpstr>
      <vt:lpstr>Creation of a new env means</vt:lpstr>
      <vt:lpstr>Pro-tip Rant: Create one env per project</vt:lpstr>
      <vt:lpstr>Pro-tip Rant: Create one env per project</vt:lpstr>
      <vt:lpstr>Pro-tip Rant: Create one env per project</vt:lpstr>
      <vt:lpstr>Pro-tip: Jupyter doesn’t see new environments!</vt:lpstr>
      <vt:lpstr>Pro-tip: Leave the base env alone!</vt:lpstr>
      <vt:lpstr>Common env mgmt commands</vt:lpstr>
      <vt:lpstr>You should know about ~/.condarc</vt:lpstr>
      <vt:lpstr>Enter uv – emerging alternative to conda (some would say it has already supplanted conda)</vt:lpstr>
      <vt:lpstr>requirements.txt, pyproject.toml and environment.yaml</vt:lpstr>
      <vt:lpstr>Package management</vt:lpstr>
      <vt:lpstr>Package managers download and install packages, and their dependencies</vt:lpstr>
      <vt:lpstr>Before package managers Every software came with all dependencies (leading to duplication)</vt:lpstr>
      <vt:lpstr>Sometimes there were mismatches with libraries</vt:lpstr>
      <vt:lpstr>The world is full of package managers</vt:lpstr>
      <vt:lpstr>Python’s official package manager is pip pypi.org is the official repo with over half a million packages</vt:lpstr>
      <vt:lpstr>Let’s try pip First create an experimental environment (explained later)</vt:lpstr>
      <vt:lpstr>Try installing a package (btw: look at the location of site-packages)</vt:lpstr>
      <vt:lpstr>Packages are only downloaded once</vt:lpstr>
      <vt:lpstr>Why is colorama installed?</vt:lpstr>
      <vt:lpstr>pip downloads a wheel (.whl) file, which contains</vt:lpstr>
      <vt:lpstr>PowerPoint Presentation</vt:lpstr>
      <vt:lpstr>Conda (package manager) vs pip – deep dive</vt:lpstr>
      <vt:lpstr>Data scientists generally use conda as their package manager*, along with pip</vt:lpstr>
      <vt:lpstr>conda is (currently) the premier package (and environment) manager for data scientists</vt:lpstr>
      <vt:lpstr>conda downloads a  .conda file, which contains</vt:lpstr>
      <vt:lpstr>.conda vs pip’s .whl file</vt:lpstr>
      <vt:lpstr>Modern conda and pip work well together</vt:lpstr>
      <vt:lpstr>pip install flask vs conda install flask</vt:lpstr>
      <vt:lpstr>conda install flask vs pip install flask</vt:lpstr>
      <vt:lpstr>Modern conda and pip work well together</vt:lpstr>
      <vt:lpstr>conda is better at non-python dependency management</vt:lpstr>
      <vt:lpstr>conda is better at non-python dependency management</vt:lpstr>
      <vt:lpstr>conda is better at non-python dependency management</vt:lpstr>
      <vt:lpstr>conda is better at dependency management</vt:lpstr>
      <vt:lpstr>conda’s dependency manager can be a horrible user experience</vt:lpstr>
      <vt:lpstr>conda’s dependency manager can be a horrible user experience</vt:lpstr>
      <vt:lpstr>Common package mgmt commands</vt:lpstr>
      <vt:lpstr>Appendix</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environment and package management</dc:title>
  <dc:creator>Shahbaz Chaudhary</dc:creator>
  <cp:lastModifiedBy>Shahbaz Chaudhary</cp:lastModifiedBy>
  <cp:revision>11</cp:revision>
  <dcterms:created xsi:type="dcterms:W3CDTF">2024-01-19T21:19:15Z</dcterms:created>
  <dcterms:modified xsi:type="dcterms:W3CDTF">2026-07-01T00:57:17Z</dcterms:modified>
</cp:coreProperties>
</file>